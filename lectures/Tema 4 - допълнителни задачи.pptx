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31"/>
  </p:notesMasterIdLst>
  <p:sldIdLst>
    <p:sldId id="316" r:id="rId2"/>
    <p:sldId id="261" r:id="rId3"/>
    <p:sldId id="260" r:id="rId4"/>
    <p:sldId id="320" r:id="rId5"/>
    <p:sldId id="322" r:id="rId6"/>
    <p:sldId id="321" r:id="rId7"/>
    <p:sldId id="323" r:id="rId8"/>
    <p:sldId id="338" r:id="rId9"/>
    <p:sldId id="339" r:id="rId10"/>
    <p:sldId id="340" r:id="rId11"/>
    <p:sldId id="341" r:id="rId12"/>
    <p:sldId id="325" r:id="rId13"/>
    <p:sldId id="326" r:id="rId14"/>
    <p:sldId id="328" r:id="rId15"/>
    <p:sldId id="327" r:id="rId16"/>
    <p:sldId id="330" r:id="rId17"/>
    <p:sldId id="301" r:id="rId18"/>
    <p:sldId id="329" r:id="rId19"/>
    <p:sldId id="331" r:id="rId20"/>
    <p:sldId id="343" r:id="rId21"/>
    <p:sldId id="333" r:id="rId22"/>
    <p:sldId id="335" r:id="rId23"/>
    <p:sldId id="334" r:id="rId24"/>
    <p:sldId id="336" r:id="rId25"/>
    <p:sldId id="342" r:id="rId26"/>
    <p:sldId id="344" r:id="rId27"/>
    <p:sldId id="346" r:id="rId28"/>
    <p:sldId id="345" r:id="rId29"/>
    <p:sldId id="312" r:id="rId30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32"/>
    </p:embeddedFont>
    <p:embeddedFont>
      <p:font typeface="Shadows Into Light" panose="020B0604020202020204" charset="0"/>
      <p:regular r:id="rId33"/>
    </p:embeddedFont>
    <p:embeddedFont>
      <p:font typeface="Varela Round" panose="00000500000000000000" pitchFamily="2" charset="-79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3A68"/>
    <a:srgbClr val="F9AC08"/>
    <a:srgbClr val="AACF20"/>
    <a:srgbClr val="01AB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05D1AB-BAE4-4E3A-A547-ADA6829F2946}">
  <a:tblStyle styleId="{DE05D1AB-BAE4-4E3A-A547-ADA6829F2946}" styleName="Table_0">
    <a:wholeTb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65" autoAdjust="0"/>
    <p:restoredTop sz="94660"/>
  </p:normalViewPr>
  <p:slideViewPr>
    <p:cSldViewPr snapToGrid="0">
      <p:cViewPr varScale="1">
        <p:scale>
          <a:sx n="93" d="100"/>
          <a:sy n="93" d="100"/>
        </p:scale>
        <p:origin x="58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0956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Shape 3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gree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1630650" y="2655750"/>
            <a:ext cx="5882699" cy="15465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magenta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ctrTitle"/>
          </p:nvPr>
        </p:nvSpPr>
        <p:spPr>
          <a:xfrm>
            <a:off x="1630650" y="2655750"/>
            <a:ext cx="5882699" cy="15465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 txBox="1">
            <a:spLocks noGrp="1"/>
          </p:cNvSpPr>
          <p:nvPr>
            <p:ph type="ctrTitle"/>
          </p:nvPr>
        </p:nvSpPr>
        <p:spPr>
          <a:xfrm>
            <a:off x="1630650" y="2655750"/>
            <a:ext cx="5882699" cy="15465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8B9C2-8151-43BE-A473-CDBA20BB330F}" type="datetime1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доц. д-р Боряна Богданова, КМУ, Стопански факултет, СУ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FE99C-BFA3-4F18-B5C8-1CBCEFAE9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6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C5487-12D1-45C4-A58C-0EEB76848430}" type="datetime1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доц. д-р Боряна Богданова, КМУ, Стопански факултет, СУ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FE99C-BFA3-4F18-B5C8-1CBCEFAE9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6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8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824550" y="689775"/>
            <a:ext cx="7547699" cy="910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1pPr>
            <a:lvl2pPr lvl="1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2pPr>
            <a:lvl3pPr lvl="2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3pPr>
            <a:lvl4pPr lvl="3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4pPr>
            <a:lvl5pPr lvl="4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5pPr>
            <a:lvl6pPr lvl="5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6pPr>
            <a:lvl7pPr lvl="6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7pPr>
            <a:lvl8pPr lvl="7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8pPr>
            <a:lvl9pPr lvl="8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070325" y="1918650"/>
            <a:ext cx="7056299" cy="4082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505670"/>
              </a:buClr>
              <a:buSzPct val="100000"/>
              <a:buFont typeface="Varela Round"/>
              <a:buChar char="▧"/>
              <a:defRPr sz="24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spcBef>
                <a:spcPts val="480"/>
              </a:spcBef>
              <a:buClr>
                <a:srgbClr val="505670"/>
              </a:buClr>
              <a:buSzPct val="100000"/>
              <a:buFont typeface="Varela Round"/>
              <a:defRPr sz="20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lvl="2">
              <a:spcBef>
                <a:spcPts val="480"/>
              </a:spcBef>
              <a:buClr>
                <a:srgbClr val="505670"/>
              </a:buClr>
              <a:buSzPct val="100000"/>
              <a:buFont typeface="Varela Round"/>
              <a:defRPr sz="20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lvl="3">
              <a:spcBef>
                <a:spcPts val="360"/>
              </a:spcBef>
              <a:buClr>
                <a:srgbClr val="505670"/>
              </a:buClr>
              <a:buSzPct val="100000"/>
              <a:buFont typeface="Varela Round"/>
              <a:defRPr sz="16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lvl="4">
              <a:spcBef>
                <a:spcPts val="360"/>
              </a:spcBef>
              <a:buClr>
                <a:srgbClr val="505670"/>
              </a:buClr>
              <a:buSzPct val="100000"/>
              <a:buFont typeface="Varela Round"/>
              <a:defRPr sz="16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lvl="5">
              <a:spcBef>
                <a:spcPts val="360"/>
              </a:spcBef>
              <a:buClr>
                <a:srgbClr val="505670"/>
              </a:buClr>
              <a:buSzPct val="100000"/>
              <a:buFont typeface="Varela Round"/>
              <a:defRPr sz="16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lvl="6">
              <a:spcBef>
                <a:spcPts val="360"/>
              </a:spcBef>
              <a:buClr>
                <a:srgbClr val="505670"/>
              </a:buClr>
              <a:buSzPct val="100000"/>
              <a:buFont typeface="Varela Round"/>
              <a:defRPr sz="16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lvl="7">
              <a:spcBef>
                <a:spcPts val="360"/>
              </a:spcBef>
              <a:buClr>
                <a:srgbClr val="505670"/>
              </a:buClr>
              <a:buSzPct val="100000"/>
              <a:buFont typeface="Varela Round"/>
              <a:defRPr sz="16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lvl="8">
              <a:spcBef>
                <a:spcPts val="360"/>
              </a:spcBef>
              <a:buClr>
                <a:srgbClr val="505670"/>
              </a:buClr>
              <a:buSzPct val="100000"/>
              <a:buFont typeface="Varela Round"/>
              <a:defRPr sz="16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81" r:id="rId5"/>
    <p:sldLayoutId id="2147483682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gi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5.gif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gi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png"/><Relationship Id="rId3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5.xml"/><Relationship Id="rId11" Type="http://schemas.openxmlformats.org/officeDocument/2006/relationships/image" Target="../media/image33.png"/><Relationship Id="rId10" Type="http://schemas.openxmlformats.org/officeDocument/2006/relationships/image" Target="../media/image32.png"/><Relationship Id="rId4" Type="http://schemas.openxmlformats.org/officeDocument/2006/relationships/image" Target="../media/image30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310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0.png"/><Relationship Id="rId5" Type="http://schemas.openxmlformats.org/officeDocument/2006/relationships/image" Target="../media/image290.png"/><Relationship Id="rId4" Type="http://schemas.openxmlformats.org/officeDocument/2006/relationships/image" Target="../media/image2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360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3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0.png"/><Relationship Id="rId5" Type="http://schemas.openxmlformats.org/officeDocument/2006/relationships/image" Target="../media/image390.png"/><Relationship Id="rId4" Type="http://schemas.openxmlformats.org/officeDocument/2006/relationships/image" Target="../media/image38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7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430.png"/><Relationship Id="rId4" Type="http://schemas.openxmlformats.org/officeDocument/2006/relationships/image" Target="../media/image5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50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.png"/><Relationship Id="rId5" Type="http://schemas.openxmlformats.org/officeDocument/2006/relationships/image" Target="../media/image5.gif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620.png"/><Relationship Id="rId7" Type="http://schemas.openxmlformats.org/officeDocument/2006/relationships/image" Target="../media/image5.gif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40.png"/><Relationship Id="rId4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7.png"/><Relationship Id="rId5" Type="http://schemas.openxmlformats.org/officeDocument/2006/relationships/image" Target="../media/image5.gif"/><Relationship Id="rId4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/><Relationship Id="rId3" Type="http://schemas.openxmlformats.org/officeDocument/2006/relationships/image" Target="../media/image68.png"/><Relationship Id="rId7" Type="http://schemas.openxmlformats.org/officeDocument/2006/relationships/image" Target="../media/image71.png"/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png"/><Relationship Id="rId4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png"/><Relationship Id="rId5" Type="http://schemas.openxmlformats.org/officeDocument/2006/relationships/image" Target="../media/image5.gif"/><Relationship Id="rId4" Type="http://schemas.openxmlformats.org/officeDocument/2006/relationships/image" Target="../media/image7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8.png"/><Relationship Id="rId5" Type="http://schemas.openxmlformats.org/officeDocument/2006/relationships/image" Target="../media/image390.png"/><Relationship Id="rId4" Type="http://schemas.openxmlformats.org/officeDocument/2006/relationships/image" Target="../media/image7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50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/>
        </p:nvSpPr>
        <p:spPr>
          <a:xfrm rot="-4140551">
            <a:off x="2545344" y="1556492"/>
            <a:ext cx="402308" cy="1167266"/>
          </a:xfrm>
          <a:custGeom>
            <a:avLst/>
            <a:gdLst/>
            <a:ahLst/>
            <a:cxnLst/>
            <a:rect l="0" t="0" r="0" b="0"/>
            <a:pathLst>
              <a:path w="30959" h="89819" extrusionOk="0">
                <a:moveTo>
                  <a:pt x="0" y="0"/>
                </a:moveTo>
                <a:cubicBezTo>
                  <a:pt x="5134" y="6917"/>
                  <a:pt x="29561" y="26535"/>
                  <a:pt x="30804" y="41505"/>
                </a:cubicBezTo>
                <a:cubicBezTo>
                  <a:pt x="32047" y="56474"/>
                  <a:pt x="11349" y="81766"/>
                  <a:pt x="7458" y="89819"/>
                </a:cubicBezTo>
              </a:path>
            </a:pathLst>
          </a:custGeom>
          <a:noFill/>
          <a:ln w="9525" cap="flat" cmpd="sng">
            <a:solidFill>
              <a:srgbClr val="FFFFFF"/>
            </a:solidFill>
            <a:prstDash val="dash"/>
            <a:round/>
            <a:headEnd type="none" w="lg" len="lg"/>
            <a:tailEnd type="stealth" w="lg" len="lg"/>
          </a:ln>
        </p:spPr>
      </p:sp>
      <p:sp>
        <p:nvSpPr>
          <p:cNvPr id="107" name="Shape 107"/>
          <p:cNvSpPr/>
          <p:nvPr/>
        </p:nvSpPr>
        <p:spPr>
          <a:xfrm>
            <a:off x="2496775" y="4255850"/>
            <a:ext cx="3153375" cy="34500"/>
          </a:xfrm>
          <a:custGeom>
            <a:avLst/>
            <a:gdLst/>
            <a:ahLst/>
            <a:cxnLst/>
            <a:rect l="0" t="0" r="0" b="0"/>
            <a:pathLst>
              <a:path w="126135" h="1380" extrusionOk="0">
                <a:moveTo>
                  <a:pt x="0" y="973"/>
                </a:moveTo>
                <a:cubicBezTo>
                  <a:pt x="29074" y="973"/>
                  <a:pt x="58157" y="273"/>
                  <a:pt x="87224" y="973"/>
                </a:cubicBezTo>
                <a:cubicBezTo>
                  <a:pt x="100194" y="1285"/>
                  <a:pt x="113311" y="1974"/>
                  <a:pt x="126135" y="0"/>
                </a:cubicBez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108" name="Shape 108"/>
          <p:cNvSpPr/>
          <p:nvPr/>
        </p:nvSpPr>
        <p:spPr>
          <a:xfrm>
            <a:off x="2423800" y="4303603"/>
            <a:ext cx="3177700" cy="41425"/>
          </a:xfrm>
          <a:custGeom>
            <a:avLst/>
            <a:gdLst/>
            <a:ahLst/>
            <a:cxnLst/>
            <a:rect l="0" t="0" r="0" b="0"/>
            <a:pathLst>
              <a:path w="127108" h="1657" extrusionOk="0">
                <a:moveTo>
                  <a:pt x="0" y="1657"/>
                </a:moveTo>
                <a:cubicBezTo>
                  <a:pt x="42249" y="-1531"/>
                  <a:pt x="84738" y="1008"/>
                  <a:pt x="127108" y="1008"/>
                </a:cubicBez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lg" len="lg"/>
            <a:tailEnd type="none" w="lg" len="lg"/>
          </a:ln>
        </p:spPr>
      </p:sp>
      <p:cxnSp>
        <p:nvCxnSpPr>
          <p:cNvPr id="109" name="Shape 109"/>
          <p:cNvCxnSpPr/>
          <p:nvPr/>
        </p:nvCxnSpPr>
        <p:spPr>
          <a:xfrm rot="10800000" flipH="1">
            <a:off x="3927512" y="2011400"/>
            <a:ext cx="291900" cy="542999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ash"/>
            <a:round/>
            <a:headEnd type="stealth" w="lg" len="lg"/>
            <a:tailEnd type="none" w="lg" len="lg"/>
          </a:ln>
        </p:spPr>
      </p:cxnSp>
      <p:sp>
        <p:nvSpPr>
          <p:cNvPr id="110" name="Shape 110"/>
          <p:cNvSpPr/>
          <p:nvPr/>
        </p:nvSpPr>
        <p:spPr>
          <a:xfrm>
            <a:off x="5064442" y="2448191"/>
            <a:ext cx="1345200" cy="1025100"/>
          </a:xfrm>
          <a:custGeom>
            <a:avLst/>
            <a:gdLst/>
            <a:ahLst/>
            <a:cxnLst/>
            <a:rect l="0" t="0" r="0" b="0"/>
            <a:pathLst>
              <a:path w="53808" h="41004" extrusionOk="0">
                <a:moveTo>
                  <a:pt x="33350" y="2267"/>
                </a:moveTo>
                <a:cubicBezTo>
                  <a:pt x="29864" y="1270"/>
                  <a:pt x="26130" y="-694"/>
                  <a:pt x="22650" y="321"/>
                </a:cubicBezTo>
                <a:cubicBezTo>
                  <a:pt x="10876" y="3755"/>
                  <a:pt x="-4822" y="20012"/>
                  <a:pt x="1573" y="30477"/>
                </a:cubicBezTo>
                <a:cubicBezTo>
                  <a:pt x="7821" y="40700"/>
                  <a:pt x="25332" y="42677"/>
                  <a:pt x="36593" y="38583"/>
                </a:cubicBezTo>
                <a:cubicBezTo>
                  <a:pt x="46488" y="34984"/>
                  <a:pt x="56459" y="21658"/>
                  <a:pt x="53130" y="11670"/>
                </a:cubicBezTo>
                <a:cubicBezTo>
                  <a:pt x="49951" y="2136"/>
                  <a:pt x="34186" y="-1055"/>
                  <a:pt x="24595" y="1943"/>
                </a:cubicBezTo>
                <a:cubicBezTo>
                  <a:pt x="14086" y="5228"/>
                  <a:pt x="2158" y="13741"/>
                  <a:pt x="600" y="24641"/>
                </a:cubicBezTo>
                <a:cubicBezTo>
                  <a:pt x="-77" y="29379"/>
                  <a:pt x="2605" y="35236"/>
                  <a:pt x="6761" y="37611"/>
                </a:cubicBezTo>
                <a:cubicBezTo>
                  <a:pt x="15326" y="42504"/>
                  <a:pt x="29292" y="42316"/>
                  <a:pt x="36268" y="35341"/>
                </a:cubicBez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F453B4-0655-437B-87DE-7062F8F8A1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0650" y="3485311"/>
            <a:ext cx="5882699" cy="1546500"/>
          </a:xfrm>
        </p:spPr>
        <p:txBody>
          <a:bodyPr/>
          <a:lstStyle/>
          <a:p>
            <a:r>
              <a:rPr lang="bg-BG" dirty="0"/>
              <a:t>Тема 4</a:t>
            </a:r>
            <a:r>
              <a:rPr lang="en-US" dirty="0">
                <a:latin typeface="Shadows Into Light" panose="02000000000000000000" charset="0"/>
              </a:rPr>
              <a:t>:</a:t>
            </a:r>
            <a:br>
              <a:rPr lang="bg-BG" dirty="0">
                <a:latin typeface="Shadows Into Light" panose="02000000000000000000" charset="0"/>
              </a:rPr>
            </a:br>
            <a:r>
              <a:rPr lang="en-US" dirty="0">
                <a:latin typeface="Shadows Into Light" panose="02000000000000000000" charset="0"/>
              </a:rPr>
              <a:t> </a:t>
            </a:r>
            <a:r>
              <a:rPr lang="bg-BG" sz="5400" dirty="0">
                <a:latin typeface="Shadows Into Light" panose="02000000000000000000" charset="0"/>
              </a:rPr>
              <a:t>Симетрична и канонична задача.</a:t>
            </a:r>
            <a:r>
              <a:rPr lang="en-US" sz="5400" dirty="0">
                <a:latin typeface="Shadows Into Light" panose="02000000000000000000" charset="0"/>
              </a:rPr>
              <a:t> </a:t>
            </a:r>
            <a:r>
              <a:rPr lang="bg-BG" sz="5400" dirty="0">
                <a:latin typeface="Shadows Into Light" panose="02000000000000000000" charset="0"/>
              </a:rPr>
              <a:t>Свойства</a:t>
            </a:r>
            <a:endParaRPr lang="en-US" dirty="0">
              <a:latin typeface="Shadows Into Light" panose="02000000000000000000" charset="0"/>
            </a:endParaRPr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30007B45-68E3-47AB-9509-0BFB9E93174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926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>
              <a:xfrm>
                <a:off x="1099185" y="1143000"/>
                <a:ext cx="3870960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(</m:t>
                      </m:r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𝑥</m:t>
                      </m:r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)=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−2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min</m:t>
                      </m:r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185" y="1143000"/>
                <a:ext cx="3870960" cy="428625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/>
              <p:cNvSpPr txBox="1"/>
              <p:nvPr/>
            </p:nvSpPr>
            <p:spPr>
              <a:xfrm>
                <a:off x="980440" y="1982788"/>
                <a:ext cx="3197225" cy="20574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&amp;3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−4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=8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−2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≤2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&amp;3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≥3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40" y="1982788"/>
                <a:ext cx="3197225" cy="2057400"/>
              </a:xfrm>
              <a:prstGeom prst="rect">
                <a:avLst/>
              </a:prstGeom>
              <a:blipFill>
                <a:blip r:embed="rId3"/>
                <a:stretch>
                  <a:fillRect r="-382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AF5E3450-13CB-49C6-A5A4-2169A83A7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0" y="-430213"/>
            <a:ext cx="5455920" cy="1162050"/>
          </a:xfrm>
        </p:spPr>
        <p:txBody>
          <a:bodyPr/>
          <a:lstStyle/>
          <a:p>
            <a:r>
              <a:rPr lang="bg-BG" dirty="0"/>
              <a:t>ПРИВЕДЕТЕ В КАНОНИЧЕН ВИД, зад. 3</a:t>
            </a:r>
            <a:endParaRPr lang="en-US" dirty="0"/>
          </a:p>
        </p:txBody>
      </p:sp>
      <p:pic>
        <p:nvPicPr>
          <p:cNvPr id="14" name="Picture 13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01C01383-309D-42FD-9F33-A8254FF557F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184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FB70C9E-22F7-4BF4-8CA2-B2C7C40D9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0" y="-430213"/>
            <a:ext cx="5455920" cy="1162050"/>
          </a:xfrm>
        </p:spPr>
        <p:txBody>
          <a:bodyPr/>
          <a:lstStyle/>
          <a:p>
            <a:r>
              <a:rPr lang="bg-BG" dirty="0"/>
              <a:t>ПРИВЕДЕТЕ В КАНОНИЧЕН ВИД, зад. 3</a:t>
            </a:r>
            <a:endParaRPr lang="en-US" dirty="0"/>
          </a:p>
        </p:txBody>
      </p:sp>
      <p:pic>
        <p:nvPicPr>
          <p:cNvPr id="19" name="Picture 18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C90EDAE1-F84D-4CB2-810C-C668846A724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3D5024-F645-4C8B-AEE5-8869BCB0290F}"/>
                  </a:ext>
                </a:extLst>
              </p:cNvPr>
              <p:cNvSpPr txBox="1"/>
              <p:nvPr/>
            </p:nvSpPr>
            <p:spPr>
              <a:xfrm>
                <a:off x="5655178" y="2616186"/>
                <a:ext cx="23854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bg-BG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𝟏</m:t>
                          </m:r>
                        </m:sub>
                      </m:sSub>
                      <m:r>
                        <a:rPr lang="bg-BG" sz="24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sym typeface="Varela Round"/>
                        </a:rPr>
                        <m:t>= </m:t>
                      </m:r>
                      <m:sSubSup>
                        <m:sSubSupPr>
                          <m:ctrlP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bg-BG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</m:t>
                          </m:r>
                        </m:sup>
                      </m:sSubSup>
                      <m:r>
                        <a:rPr lang="en-US" sz="2400" b="1" i="1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sym typeface="Varela Round"/>
                        </a:rPr>
                        <m:t>−</m:t>
                      </m:r>
                      <m:sSubSup>
                        <m:sSubSupPr>
                          <m:ctrlP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bg-BG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′′</m:t>
                          </m:r>
                        </m:sup>
                      </m:sSubSup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3D5024-F645-4C8B-AEE5-8869BCB02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178" y="2616186"/>
                <a:ext cx="2385456" cy="461665"/>
              </a:xfrm>
              <a:prstGeom prst="rect">
                <a:avLst/>
              </a:prstGeom>
              <a:blipFill>
                <a:blip r:embed="rId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row: Down 2">
            <a:extLst>
              <a:ext uri="{FF2B5EF4-FFF2-40B4-BE49-F238E27FC236}">
                <a16:creationId xmlns:a16="http://schemas.microsoft.com/office/drawing/2014/main" id="{92A30CA2-AE3C-4F66-82E0-4A2C82F578AA}"/>
              </a:ext>
            </a:extLst>
          </p:cNvPr>
          <p:cNvSpPr/>
          <p:nvPr/>
        </p:nvSpPr>
        <p:spPr>
          <a:xfrm rot="16200000">
            <a:off x="4647819" y="2176398"/>
            <a:ext cx="236318" cy="1327729"/>
          </a:xfrm>
          <a:prstGeom prst="downArrow">
            <a:avLst/>
          </a:prstGeom>
          <a:solidFill>
            <a:srgbClr val="AACF20"/>
          </a:solidFill>
          <a:ln>
            <a:solidFill>
              <a:srgbClr val="AAC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AACF2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5">
                <a:extLst>
                  <a:ext uri="{FF2B5EF4-FFF2-40B4-BE49-F238E27FC236}">
                    <a16:creationId xmlns:a16="http://schemas.microsoft.com/office/drawing/2014/main" id="{019A21D7-F165-44AE-A46B-3EB9571B0399}"/>
                  </a:ext>
                </a:extLst>
              </p:cNvPr>
              <p:cNvSpPr txBox="1"/>
              <p:nvPr/>
            </p:nvSpPr>
            <p:spPr>
              <a:xfrm>
                <a:off x="1070435" y="822489"/>
                <a:ext cx="3870960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(</m:t>
                      </m:r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𝑥</m:t>
                      </m:r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)=</m:t>
                      </m:r>
                      <m:sSub>
                        <m:sSub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−2</m:t>
                      </m:r>
                      <m:sSub>
                        <m:sSub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min</m:t>
                      </m:r>
                    </m:oMath>
                  </m:oMathPara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0" name="Object 5">
                <a:extLst>
                  <a:ext uri="{FF2B5EF4-FFF2-40B4-BE49-F238E27FC236}">
                    <a16:creationId xmlns:a16="http://schemas.microsoft.com/office/drawing/2014/main" id="{019A21D7-F165-44AE-A46B-3EB9571B0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435" y="822489"/>
                <a:ext cx="3870960" cy="428625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6">
                <a:extLst>
                  <a:ext uri="{FF2B5EF4-FFF2-40B4-BE49-F238E27FC236}">
                    <a16:creationId xmlns:a16="http://schemas.microsoft.com/office/drawing/2014/main" id="{3BE61579-D118-4DE8-9EAA-6188FDD66943}"/>
                  </a:ext>
                </a:extLst>
              </p:cNvPr>
              <p:cNvSpPr txBox="1"/>
              <p:nvPr/>
            </p:nvSpPr>
            <p:spPr>
              <a:xfrm>
                <a:off x="951690" y="1662277"/>
                <a:ext cx="3197225" cy="20574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&amp;3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−4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=8</m:t>
                              </m:r>
                            </m:e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−2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≤2</m:t>
                              </m:r>
                            </m:e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&amp;3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≥3</m:t>
                              </m:r>
                            </m:e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1" name="Object 6">
                <a:extLst>
                  <a:ext uri="{FF2B5EF4-FFF2-40B4-BE49-F238E27FC236}">
                    <a16:creationId xmlns:a16="http://schemas.microsoft.com/office/drawing/2014/main" id="{3BE61579-D118-4DE8-9EAA-6188FDD66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690" y="1662277"/>
                <a:ext cx="3197225" cy="2057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0199E7-D4A6-4B3E-9C6D-FB3430DD7483}"/>
                  </a:ext>
                </a:extLst>
              </p:cNvPr>
              <p:cNvSpPr txBox="1"/>
              <p:nvPr/>
            </p:nvSpPr>
            <p:spPr>
              <a:xfrm>
                <a:off x="1491791" y="3338152"/>
                <a:ext cx="55288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d>
                        <m:dPr>
                          <m:ctrlPr>
                            <a:rPr lang="bg-BG" sz="24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r>
                            <a:rPr lang="bg-BG" sz="24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</m:d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sSubSup>
                        <m:sSubSupPr>
                          <m:ctrlP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bg-BG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−</m:t>
                          </m:r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bg-BG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</m:t>
                          </m:r>
                        </m:sup>
                      </m:sSubSup>
                      <m:r>
                        <a:rPr lang="bg-BG" sz="24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sym typeface="Varela Round"/>
                        </a:rPr>
                        <m:t>+</m:t>
                      </m:r>
                      <m:sSubSup>
                        <m:sSubSupPr>
                          <m:ctrlP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bg-BG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′′</m:t>
                          </m:r>
                        </m:sup>
                      </m:sSubSup>
                      <m:r>
                        <a:rPr lang="bg-BG" sz="2400" b="0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sym typeface="Varela Round"/>
                        </a:rPr>
                        <m:t>+</m:t>
                      </m:r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2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a:rPr lang="en-US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𝑚𝑎𝑥</m:t>
                      </m:r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0199E7-D4A6-4B3E-9C6D-FB3430DD7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791" y="3338152"/>
                <a:ext cx="5528820" cy="461665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6">
                <a:extLst>
                  <a:ext uri="{FF2B5EF4-FFF2-40B4-BE49-F238E27FC236}">
                    <a16:creationId xmlns:a16="http://schemas.microsoft.com/office/drawing/2014/main" id="{7F64AB1B-4589-4A0C-9CAF-AF1EB79CA634}"/>
                  </a:ext>
                </a:extLst>
              </p:cNvPr>
              <p:cNvSpPr txBox="1"/>
              <p:nvPr/>
            </p:nvSpPr>
            <p:spPr>
              <a:xfrm>
                <a:off x="1035236" y="4060118"/>
                <a:ext cx="4988492" cy="212386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4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4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4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r>
                                <a:rPr lang="bg-BG" sz="240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𝟑</m:t>
                              </m:r>
                              <m:sSubSup>
                                <m:sSubSupPr>
                                  <m:ctrlP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40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sym typeface="Varela Round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1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𝟑</m:t>
                                  </m:r>
                                  <m: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′′</m:t>
                                  </m:r>
                                </m:sup>
                              </m:sSubSup>
                              <m:r>
                                <a:rPr lang="bg-BG" sz="24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r>
                                <a:rPr lang="bg-BG" sz="24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bg-BG" sz="24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4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bg-BG" sz="24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r>
                                <a:rPr lang="bg-BG" sz="24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𝟒</m:t>
                              </m:r>
                              <m:sSub>
                                <m:sSubPr>
                                  <m:ctrlPr>
                                    <a:rPr lang="bg-BG" sz="24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4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bg-BG" sz="24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𝟖</m:t>
                              </m:r>
                            </m:e>
                            <m:e>
                              <m:r>
                                <a:rPr lang="bg-BG" sz="24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40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sym typeface="Varela Round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′′</m:t>
                                  </m:r>
                                </m:sup>
                              </m:sSubSup>
                              <m:r>
                                <a:rPr lang="bg-BG" sz="24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4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bg-BG" sz="24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r>
                                <a:rPr lang="bg-BG" sz="24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bg-BG" sz="24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4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sz="240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sz="24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bg-BG" sz="24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r>
                                <a:rPr lang="bg-BG" sz="240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𝟑</m:t>
                              </m:r>
                              <m:sSubSup>
                                <m:sSubSupPr>
                                  <m:ctrlP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40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sym typeface="Varela Round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𝟑</m:t>
                                  </m:r>
                                  <m: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′′</m:t>
                                  </m:r>
                                </m:sup>
                              </m:sSubSup>
                              <m:r>
                                <a:rPr lang="bg-BG" sz="24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4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bg-BG" sz="24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4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sz="240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𝟓</m:t>
                                  </m:r>
                                </m:sub>
                              </m:sSub>
                              <m:r>
                                <a:rPr lang="en-US" sz="240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bg-BG" sz="24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US" sz="2400" b="1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bg-BG" sz="240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</m:t>
                              </m:r>
                              <m:r>
                                <a:rPr lang="bg-BG" sz="240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𝟎</m:t>
                              </m:r>
                              <m:r>
                                <a:rPr lang="bg-BG" sz="240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′′</m:t>
                                  </m:r>
                                </m:sup>
                              </m:sSubSup>
                              <m:r>
                                <a:rPr lang="bg-BG" sz="240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</m:t>
                              </m:r>
                              <m:r>
                                <a:rPr lang="bg-BG" sz="240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𝟎</m:t>
                              </m:r>
                              <m:r>
                                <a:rPr lang="en-US" sz="240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sz="240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≥</m:t>
                              </m:r>
                              <m:r>
                                <a:rPr lang="en-US" sz="240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𝟎</m:t>
                              </m:r>
                              <m:r>
                                <a:rPr lang="en-US" sz="240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, </m:t>
                              </m:r>
                              <m:r>
                                <a:rPr lang="en-US" sz="240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𝒋</m:t>
                              </m:r>
                              <m:r>
                                <a:rPr lang="en-US" sz="240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=</m:t>
                              </m:r>
                              <m:r>
                                <a:rPr lang="en-US" sz="240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𝟐</m:t>
                              </m:r>
                              <m:r>
                                <a:rPr lang="en-US" sz="240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,</m:t>
                              </m:r>
                              <m:r>
                                <a:rPr lang="en-US" sz="240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𝟑</m:t>
                              </m:r>
                              <m:r>
                                <a:rPr lang="en-US" sz="240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,</m:t>
                              </m:r>
                              <m:r>
                                <a:rPr lang="en-US" sz="240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𝟒</m:t>
                              </m:r>
                              <m:r>
                                <a:rPr lang="en-US" sz="240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,</m:t>
                              </m:r>
                              <m:r>
                                <a:rPr lang="en-US" sz="240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𝟓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400" b="1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4" name="Object 6">
                <a:extLst>
                  <a:ext uri="{FF2B5EF4-FFF2-40B4-BE49-F238E27FC236}">
                    <a16:creationId xmlns:a16="http://schemas.microsoft.com/office/drawing/2014/main" id="{7F64AB1B-4589-4A0C-9CAF-AF1EB79CA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236" y="4060118"/>
                <a:ext cx="4988492" cy="2123865"/>
              </a:xfrm>
              <a:prstGeom prst="rect">
                <a:avLst/>
              </a:prstGeom>
              <a:blipFill>
                <a:blip r:embed="rId7"/>
                <a:stretch>
                  <a:fillRect r="-2812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314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>
              <a:xfrm>
                <a:off x="1099184" y="1143000"/>
                <a:ext cx="4570096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(</m:t>
                      </m:r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𝑥</m:t>
                      </m:r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)=−4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+3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−2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max</m:t>
                      </m:r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184" y="1143000"/>
                <a:ext cx="4570096" cy="428625"/>
              </a:xfrm>
              <a:prstGeom prst="rect">
                <a:avLst/>
              </a:prstGeom>
              <a:blipFill>
                <a:blip r:embed="rId2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/>
              <p:cNvSpPr txBox="1"/>
              <p:nvPr/>
            </p:nvSpPr>
            <p:spPr>
              <a:xfrm>
                <a:off x="980440" y="1982788"/>
                <a:ext cx="3197225" cy="2057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≤5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&amp;3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≤22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40" y="1982788"/>
                <a:ext cx="3197225" cy="2057400"/>
              </a:xfrm>
              <a:prstGeom prst="rect">
                <a:avLst/>
              </a:prstGeom>
              <a:blipFill>
                <a:blip r:embed="rId3"/>
                <a:stretch>
                  <a:fillRect r="-5534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AF5E3450-13CB-49C6-A5A4-2169A83A7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0" y="-430213"/>
            <a:ext cx="5455920" cy="1162050"/>
          </a:xfrm>
        </p:spPr>
        <p:txBody>
          <a:bodyPr/>
          <a:lstStyle/>
          <a:p>
            <a:r>
              <a:rPr lang="bg-BG" dirty="0"/>
              <a:t>ПРИВЕДЕТЕ В КАНОНИЧЕН ВИД, зад. 4</a:t>
            </a:r>
            <a:endParaRPr lang="en-US" dirty="0"/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7A64C80-D7DC-48E3-8F70-5795B1DD11D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98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>
              <a:xfrm>
                <a:off x="1099184" y="1143000"/>
                <a:ext cx="4570096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(</m:t>
                      </m:r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𝑥</m:t>
                      </m:r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)=−4</m:t>
                      </m:r>
                      <m:sSub>
                        <m:sSub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+3</m:t>
                      </m:r>
                      <m:sSub>
                        <m:sSub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</m:sub>
                      </m:sSub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−2</m:t>
                      </m:r>
                      <m:sSub>
                        <m:sSub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max</m:t>
                      </m:r>
                    </m:oMath>
                  </m:oMathPara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184" y="1143000"/>
                <a:ext cx="4570096" cy="428625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/>
              <p:cNvSpPr txBox="1"/>
              <p:nvPr/>
            </p:nvSpPr>
            <p:spPr>
              <a:xfrm>
                <a:off x="980440" y="1982788"/>
                <a:ext cx="3197225" cy="107149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≤5</m:t>
                              </m:r>
                            </m:e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&amp;3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≤22</m:t>
                              </m:r>
                            </m:e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18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40" y="1982788"/>
                <a:ext cx="3197225" cy="10714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AF5E3450-13CB-49C6-A5A4-2169A83A7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0" y="-430213"/>
            <a:ext cx="5455920" cy="1162050"/>
          </a:xfrm>
        </p:spPr>
        <p:txBody>
          <a:bodyPr/>
          <a:lstStyle/>
          <a:p>
            <a:r>
              <a:rPr lang="bg-BG" dirty="0"/>
              <a:t>ПРИВЕДЕТЕ В КАНОНИЧЕН ВИД, зад. 4</a:t>
            </a:r>
            <a:endParaRPr lang="en-US" dirty="0"/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7A64C80-D7DC-48E3-8F70-5795B1DD11D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5">
                <a:extLst>
                  <a:ext uri="{FF2B5EF4-FFF2-40B4-BE49-F238E27FC236}">
                    <a16:creationId xmlns:a16="http://schemas.microsoft.com/office/drawing/2014/main" id="{5D7B0CBA-E096-4C96-A81F-A08AD5B9953A}"/>
                  </a:ext>
                </a:extLst>
              </p:cNvPr>
              <p:cNvSpPr txBox="1"/>
              <p:nvPr/>
            </p:nvSpPr>
            <p:spPr>
              <a:xfrm>
                <a:off x="1118027" y="3817857"/>
                <a:ext cx="4570096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(</m:t>
                      </m:r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𝑥</m:t>
                      </m:r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)=−4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+3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−2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max</m:t>
                      </m:r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9" name="Object 5">
                <a:extLst>
                  <a:ext uri="{FF2B5EF4-FFF2-40B4-BE49-F238E27FC236}">
                    <a16:creationId xmlns:a16="http://schemas.microsoft.com/office/drawing/2014/main" id="{5D7B0CBA-E096-4C96-A81F-A08AD5B99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027" y="3817857"/>
                <a:ext cx="4570096" cy="428625"/>
              </a:xfrm>
              <a:prstGeom prst="rect">
                <a:avLst/>
              </a:prstGeom>
              <a:blipFill>
                <a:blip r:embed="rId5"/>
                <a:stretch>
                  <a:fillRect b="-2816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6">
                <a:extLst>
                  <a:ext uri="{FF2B5EF4-FFF2-40B4-BE49-F238E27FC236}">
                    <a16:creationId xmlns:a16="http://schemas.microsoft.com/office/drawing/2014/main" id="{20AEE0D3-4327-42FD-95B9-C835898FA1B2}"/>
                  </a:ext>
                </a:extLst>
              </p:cNvPr>
              <p:cNvSpPr txBox="1"/>
              <p:nvPr/>
            </p:nvSpPr>
            <p:spPr>
              <a:xfrm>
                <a:off x="980440" y="4454182"/>
                <a:ext cx="3197225" cy="107149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5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&amp;3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22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b="0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≥0, </m:t>
                              </m:r>
                              <m:r>
                                <a:rPr lang="en-US" sz="2400" b="0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𝑗</m:t>
                              </m:r>
                              <m:r>
                                <a:rPr lang="en-US" sz="2400" b="0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=1,2,3,4,5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0" name="Object 6">
                <a:extLst>
                  <a:ext uri="{FF2B5EF4-FFF2-40B4-BE49-F238E27FC236}">
                    <a16:creationId xmlns:a16="http://schemas.microsoft.com/office/drawing/2014/main" id="{20AEE0D3-4327-42FD-95B9-C835898FA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40" y="4454182"/>
                <a:ext cx="3197225" cy="1071497"/>
              </a:xfrm>
              <a:prstGeom prst="rect">
                <a:avLst/>
              </a:prstGeom>
              <a:blipFill>
                <a:blip r:embed="rId6"/>
                <a:stretch>
                  <a:fillRect r="-26145" b="-29714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Down 10">
            <a:extLst>
              <a:ext uri="{FF2B5EF4-FFF2-40B4-BE49-F238E27FC236}">
                <a16:creationId xmlns:a16="http://schemas.microsoft.com/office/drawing/2014/main" id="{34D50688-AA71-40D3-A642-350DCA20DB74}"/>
              </a:ext>
            </a:extLst>
          </p:cNvPr>
          <p:cNvSpPr/>
          <p:nvPr/>
        </p:nvSpPr>
        <p:spPr>
          <a:xfrm>
            <a:off x="3163986" y="3187045"/>
            <a:ext cx="239089" cy="437365"/>
          </a:xfrm>
          <a:prstGeom prst="downArrow">
            <a:avLst/>
          </a:prstGeom>
          <a:solidFill>
            <a:srgbClr val="AACF20"/>
          </a:solidFill>
          <a:ln>
            <a:solidFill>
              <a:srgbClr val="AAC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AACF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10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>
              <a:xfrm>
                <a:off x="1099184" y="1143000"/>
                <a:ext cx="7191376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(</m:t>
                      </m:r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𝑥</m:t>
                      </m:r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)=11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+12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+17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+10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4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+13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5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+10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6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min</m:t>
                      </m:r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184" y="1143000"/>
                <a:ext cx="7191376" cy="428625"/>
              </a:xfrm>
              <a:prstGeom prst="rect">
                <a:avLst/>
              </a:prstGeom>
              <a:blipFill>
                <a:blip r:embed="rId2"/>
                <a:stretch>
                  <a:fillRect b="-87143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/>
              <p:cNvSpPr txBox="1"/>
              <p:nvPr/>
            </p:nvSpPr>
            <p:spPr>
              <a:xfrm>
                <a:off x="980440" y="1982788"/>
                <a:ext cx="4119880" cy="2057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≤600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≤1000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≤850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≥1000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≥800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40" y="1982788"/>
                <a:ext cx="4119880" cy="2057400"/>
              </a:xfrm>
              <a:prstGeom prst="rect">
                <a:avLst/>
              </a:prstGeom>
              <a:blipFill>
                <a:blip r:embed="rId3"/>
                <a:stretch>
                  <a:fillRect b="-1065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AF5E3450-13CB-49C6-A5A4-2169A83A7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0" y="-430213"/>
            <a:ext cx="5455920" cy="1162050"/>
          </a:xfrm>
        </p:spPr>
        <p:txBody>
          <a:bodyPr/>
          <a:lstStyle/>
          <a:p>
            <a:r>
              <a:rPr lang="bg-BG" dirty="0"/>
              <a:t>ПРИВЕДЕТЕ В КАНОНИЧЕН ВИД, зад. 5</a:t>
            </a:r>
            <a:endParaRPr lang="en-US" dirty="0"/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26308EB0-766A-4D9A-A024-6199CDA03BF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804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>
              <a:xfrm>
                <a:off x="980440" y="896470"/>
                <a:ext cx="7191376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16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r>
                        <a:rPr lang="bg-BG" sz="16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(</m:t>
                      </m:r>
                      <m:r>
                        <a:rPr lang="bg-BG" sz="16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𝑥</m:t>
                      </m:r>
                      <m:r>
                        <a:rPr lang="bg-BG" sz="16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)=11</m:t>
                      </m:r>
                      <m:sSub>
                        <m:sSubPr>
                          <m:ctrlPr>
                            <a:rPr lang="bg-BG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bg-BG" sz="16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+12</m:t>
                      </m:r>
                      <m:sSub>
                        <m:sSubPr>
                          <m:ctrlPr>
                            <a:rPr lang="bg-BG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</m:sub>
                      </m:sSub>
                      <m:r>
                        <a:rPr lang="bg-BG" sz="16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+17</m:t>
                      </m:r>
                      <m:sSub>
                        <m:sSubPr>
                          <m:ctrlPr>
                            <a:rPr lang="bg-BG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16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+10</m:t>
                      </m:r>
                      <m:sSub>
                        <m:sSubPr>
                          <m:ctrlPr>
                            <a:rPr lang="bg-BG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4</m:t>
                          </m:r>
                        </m:sub>
                      </m:sSub>
                      <m:r>
                        <a:rPr lang="bg-BG" sz="16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+13</m:t>
                      </m:r>
                      <m:sSub>
                        <m:sSubPr>
                          <m:ctrlPr>
                            <a:rPr lang="bg-BG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5</m:t>
                          </m:r>
                        </m:sub>
                      </m:sSub>
                      <m:r>
                        <a:rPr lang="bg-BG" sz="16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+10</m:t>
                      </m:r>
                      <m:sSub>
                        <m:sSubPr>
                          <m:ctrlPr>
                            <a:rPr lang="bg-BG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6</m:t>
                          </m:r>
                        </m:sub>
                      </m:sSub>
                      <m:r>
                        <a:rPr lang="bg-BG" sz="16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bg-BG" sz="16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min</m:t>
                      </m:r>
                    </m:oMath>
                  </m:oMathPara>
                </a14:m>
                <a:endParaRPr lang="bg-BG" sz="16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endParaRPr lang="bg-BG" sz="16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40" y="896470"/>
                <a:ext cx="7191376" cy="4286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/>
              <p:cNvSpPr txBox="1"/>
              <p:nvPr/>
            </p:nvSpPr>
            <p:spPr>
              <a:xfrm>
                <a:off x="980440" y="1404669"/>
                <a:ext cx="4119880" cy="2057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16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16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≤600</m:t>
                              </m:r>
                            </m:e>
                            <m:e>
                              <m: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≤1000</m:t>
                              </m:r>
                            </m:e>
                            <m:e>
                              <m: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≤850</m:t>
                              </m:r>
                            </m:e>
                            <m:e>
                              <m: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≥1000</m:t>
                              </m:r>
                            </m:e>
                            <m:e>
                              <m: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≥800</m:t>
                              </m:r>
                            </m:e>
                            <m:e>
                              <m: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6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bg-BG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16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40" y="1404669"/>
                <a:ext cx="4119880" cy="2057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AF5E3450-13CB-49C6-A5A4-2169A83A7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0" y="-430213"/>
            <a:ext cx="5455920" cy="1162050"/>
          </a:xfrm>
        </p:spPr>
        <p:txBody>
          <a:bodyPr/>
          <a:lstStyle/>
          <a:p>
            <a:r>
              <a:rPr lang="bg-BG" dirty="0"/>
              <a:t>ПРИВЕДЕТЕ В КАНОНИЧЕН ВИД, зад. 5</a:t>
            </a:r>
            <a:endParaRPr lang="en-US" dirty="0"/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26308EB0-766A-4D9A-A024-6199CDA03BF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6900A0D1-A55E-455E-9324-BE3E5B806A27}"/>
              </a:ext>
            </a:extLst>
          </p:cNvPr>
          <p:cNvSpPr/>
          <p:nvPr/>
        </p:nvSpPr>
        <p:spPr>
          <a:xfrm rot="16200000">
            <a:off x="3965266" y="2060534"/>
            <a:ext cx="239089" cy="437365"/>
          </a:xfrm>
          <a:prstGeom prst="downArrow">
            <a:avLst/>
          </a:prstGeom>
          <a:solidFill>
            <a:srgbClr val="AACF20"/>
          </a:solidFill>
          <a:ln>
            <a:solidFill>
              <a:srgbClr val="AAC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AACF2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9DDB4B-6EAF-42DC-8D3D-9BFA24533DBB}"/>
                  </a:ext>
                </a:extLst>
              </p:cNvPr>
              <p:cNvSpPr txBox="1"/>
              <p:nvPr/>
            </p:nvSpPr>
            <p:spPr>
              <a:xfrm>
                <a:off x="5100320" y="1469847"/>
                <a:ext cx="2385456" cy="473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𝟐</m:t>
                          </m:r>
                        </m:sub>
                      </m:sSub>
                      <m:r>
                        <a:rPr lang="bg-BG" sz="24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sym typeface="Varela Round"/>
                        </a:rPr>
                        <m:t>= </m:t>
                      </m:r>
                      <m:sSubSup>
                        <m:sSubSupPr>
                          <m:ctrlP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𝟐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</m:t>
                          </m:r>
                        </m:sup>
                      </m:sSubSup>
                      <m:r>
                        <a:rPr lang="en-US" sz="2400" b="1" i="1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sym typeface="Varela Round"/>
                        </a:rPr>
                        <m:t>−</m:t>
                      </m:r>
                      <m:sSubSup>
                        <m:sSubSupPr>
                          <m:ctrlP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𝟐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′′</m:t>
                          </m:r>
                        </m:sup>
                      </m:sSubSup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9DDB4B-6EAF-42DC-8D3D-9BFA24533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320" y="1469847"/>
                <a:ext cx="2385456" cy="473591"/>
              </a:xfrm>
              <a:prstGeom prst="rect">
                <a:avLst/>
              </a:prstGeom>
              <a:blipFill>
                <a:blip r:embed="rId5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68BE355-DFA5-4E2E-8D78-82B98C2108CD}"/>
                  </a:ext>
                </a:extLst>
              </p:cNvPr>
              <p:cNvSpPr txBox="1"/>
              <p:nvPr/>
            </p:nvSpPr>
            <p:spPr>
              <a:xfrm>
                <a:off x="5100320" y="1959778"/>
                <a:ext cx="2385456" cy="473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𝟑</m:t>
                          </m:r>
                        </m:sub>
                      </m:sSub>
                      <m:r>
                        <a:rPr lang="bg-BG" sz="24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sym typeface="Varela Round"/>
                        </a:rPr>
                        <m:t>= </m:t>
                      </m:r>
                      <m:sSubSup>
                        <m:sSubSupPr>
                          <m:ctrlP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𝟑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</m:t>
                          </m:r>
                        </m:sup>
                      </m:sSubSup>
                      <m:r>
                        <a:rPr lang="en-US" sz="2400" b="1" i="1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sym typeface="Varela Round"/>
                        </a:rPr>
                        <m:t>−</m:t>
                      </m:r>
                      <m:sSubSup>
                        <m:sSubSupPr>
                          <m:ctrlP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𝟑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′′</m:t>
                          </m:r>
                        </m:sup>
                      </m:sSubSup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68BE355-DFA5-4E2E-8D78-82B98C210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320" y="1959778"/>
                <a:ext cx="2385456" cy="473591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57467A2-738A-4111-9680-8E9BD5561BB2}"/>
                  </a:ext>
                </a:extLst>
              </p:cNvPr>
              <p:cNvSpPr txBox="1"/>
              <p:nvPr/>
            </p:nvSpPr>
            <p:spPr>
              <a:xfrm>
                <a:off x="5100320" y="2469628"/>
                <a:ext cx="2385456" cy="473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𝟔</m:t>
                          </m:r>
                        </m:sub>
                      </m:sSub>
                      <m:r>
                        <a:rPr lang="bg-BG" sz="24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sym typeface="Varela Round"/>
                        </a:rPr>
                        <m:t>= </m:t>
                      </m:r>
                      <m:sSubSup>
                        <m:sSubSupPr>
                          <m:ctrlP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𝟔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</m:t>
                          </m:r>
                        </m:sup>
                      </m:sSubSup>
                      <m:r>
                        <a:rPr lang="en-US" sz="2400" b="1" i="1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sym typeface="Varela Round"/>
                        </a:rPr>
                        <m:t>−</m:t>
                      </m:r>
                      <m:sSubSup>
                        <m:sSubSupPr>
                          <m:ctrlP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𝟔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′′</m:t>
                          </m:r>
                        </m:sup>
                      </m:sSubSup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57467A2-738A-4111-9680-8E9BD5561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320" y="2469628"/>
                <a:ext cx="2385456" cy="473591"/>
              </a:xfrm>
              <a:prstGeom prst="rect">
                <a:avLst/>
              </a:prstGeom>
              <a:blipFill>
                <a:blip r:embed="rId7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5">
                <a:extLst>
                  <a:ext uri="{FF2B5EF4-FFF2-40B4-BE49-F238E27FC236}">
                    <a16:creationId xmlns:a16="http://schemas.microsoft.com/office/drawing/2014/main" id="{36C48C04-72BB-4D0F-A302-9B25B9B5740D}"/>
                  </a:ext>
                </a:extLst>
              </p:cNvPr>
              <p:cNvSpPr txBox="1"/>
              <p:nvPr/>
            </p:nvSpPr>
            <p:spPr>
              <a:xfrm>
                <a:off x="793474" y="3129515"/>
                <a:ext cx="8284537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𝒛</m:t>
                      </m:r>
                      <m:d>
                        <m:dPr>
                          <m:ctrlPr>
                            <a:rPr lang="bg-BG" sz="1600" b="1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r>
                            <a:rPr lang="bg-BG" sz="1600" b="1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𝒙</m:t>
                          </m:r>
                        </m:e>
                      </m:d>
                      <m:r>
                        <a:rPr lang="bg-BG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r>
                        <a:rPr lang="en-US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</m:t>
                      </m:r>
                      <m:r>
                        <a:rPr lang="bg-BG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𝟏𝟏</m:t>
                      </m:r>
                      <m:sSub>
                        <m:sSubPr>
                          <m:ctrlPr>
                            <a:rPr lang="bg-BG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𝒙</m:t>
                          </m:r>
                        </m:e>
                        <m:sub>
                          <m:r>
                            <a:rPr lang="bg-BG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𝟏</m:t>
                          </m:r>
                        </m:sub>
                      </m:sSub>
                      <m:r>
                        <a:rPr lang="en-US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</m:t>
                      </m:r>
                      <m:r>
                        <a:rPr lang="bg-BG" sz="16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𝟏𝟐</m:t>
                      </m:r>
                      <m:sSubSup>
                        <m:sSubSupPr>
                          <m:ctrlP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𝟐</m:t>
                          </m:r>
                        </m:sub>
                        <m:sup>
                          <m: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</m:t>
                          </m:r>
                        </m:sup>
                      </m:sSubSup>
                      <m:r>
                        <a:rPr lang="en-US" sz="16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sym typeface="Varela Round"/>
                        </a:rPr>
                        <m:t>+</m:t>
                      </m:r>
                      <m:r>
                        <a:rPr lang="en-US" sz="16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sym typeface="Varela Round"/>
                        </a:rPr>
                        <m:t>𝟏𝟐</m:t>
                      </m:r>
                      <m:sSubSup>
                        <m:sSubSupPr>
                          <m:ctrlP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𝟐</m:t>
                          </m:r>
                        </m:sub>
                        <m:sup>
                          <m: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′′</m:t>
                          </m:r>
                        </m:sup>
                      </m:sSubSup>
                      <m:r>
                        <a:rPr lang="en-US" sz="16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sym typeface="Varela Round"/>
                        </a:rPr>
                        <m:t>−</m:t>
                      </m:r>
                      <m:r>
                        <a:rPr lang="bg-BG" sz="16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𝟏𝟕</m:t>
                      </m:r>
                      <m:sSubSup>
                        <m:sSubSupPr>
                          <m:ctrlP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𝟑</m:t>
                          </m:r>
                        </m:sub>
                        <m:sup>
                          <m: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</m:t>
                          </m:r>
                        </m:sup>
                      </m:sSubSup>
                      <m:r>
                        <a:rPr lang="en-US" sz="16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sym typeface="Varela Round"/>
                        </a:rPr>
                        <m:t>+</m:t>
                      </m:r>
                      <m:sSubSup>
                        <m:sSubSupPr>
                          <m:ctrlP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16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𝟏𝟕</m:t>
                          </m:r>
                          <m: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𝟑</m:t>
                          </m:r>
                        </m:sub>
                        <m:sup>
                          <m: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′′</m:t>
                          </m:r>
                        </m:sup>
                      </m:sSubSup>
                      <m:r>
                        <a:rPr lang="en-US" sz="16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sym typeface="Varela Round"/>
                        </a:rPr>
                        <m:t>−</m:t>
                      </m:r>
                      <m:r>
                        <a:rPr lang="bg-BG" sz="1600" b="1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𝟏𝟎</m:t>
                      </m:r>
                      <m:sSub>
                        <m:sSubPr>
                          <m:ctrlPr>
                            <a:rPr lang="bg-BG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𝒙</m:t>
                          </m:r>
                        </m:e>
                        <m:sub>
                          <m:r>
                            <a:rPr lang="bg-BG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𝟒</m:t>
                          </m:r>
                        </m:sub>
                      </m:sSub>
                      <m:r>
                        <a:rPr lang="en-US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</m:t>
                      </m:r>
                      <m:r>
                        <a:rPr lang="bg-BG" sz="1600" b="1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𝟏𝟑</m:t>
                      </m:r>
                      <m:sSub>
                        <m:sSubPr>
                          <m:ctrlPr>
                            <a:rPr lang="bg-BG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𝒙</m:t>
                          </m:r>
                        </m:e>
                        <m:sub>
                          <m:r>
                            <a:rPr lang="bg-BG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𝟓</m:t>
                          </m:r>
                        </m:sub>
                      </m:sSub>
                      <m:r>
                        <a:rPr lang="en-US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</m:t>
                      </m:r>
                      <m:r>
                        <a:rPr lang="bg-BG" sz="16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𝟏𝟎</m:t>
                      </m:r>
                      <m:sSubSup>
                        <m:sSubSupPr>
                          <m:ctrlP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𝟔</m:t>
                          </m:r>
                        </m:sub>
                        <m:sup>
                          <m: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</m:t>
                          </m:r>
                        </m:sup>
                      </m:sSubSup>
                      <m:r>
                        <a:rPr lang="en-US" sz="16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sym typeface="Varela Round"/>
                        </a:rPr>
                        <m:t>+</m:t>
                      </m:r>
                      <m:sSubSup>
                        <m:sSubSupPr>
                          <m:ctrlP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16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𝟏𝟎</m:t>
                          </m:r>
                          <m: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𝟔</m:t>
                          </m:r>
                        </m:sub>
                        <m:sup>
                          <m:r>
                            <a:rPr lang="en-US" sz="16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′′</m:t>
                          </m:r>
                        </m:sup>
                      </m:sSubSup>
                      <m:r>
                        <a:rPr lang="bg-BG" sz="1600" b="1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a:rPr lang="en-US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𝒎𝒂𝒙</m:t>
                      </m:r>
                    </m:oMath>
                  </m:oMathPara>
                </a14:m>
                <a:endParaRPr lang="bg-BG" sz="1600" b="1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endParaRPr lang="bg-BG" sz="16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6" name="Object 5">
                <a:extLst>
                  <a:ext uri="{FF2B5EF4-FFF2-40B4-BE49-F238E27FC236}">
                    <a16:creationId xmlns:a16="http://schemas.microsoft.com/office/drawing/2014/main" id="{36C48C04-72BB-4D0F-A302-9B25B9B57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74" y="3129515"/>
                <a:ext cx="8284537" cy="4286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6">
                <a:extLst>
                  <a:ext uri="{FF2B5EF4-FFF2-40B4-BE49-F238E27FC236}">
                    <a16:creationId xmlns:a16="http://schemas.microsoft.com/office/drawing/2014/main" id="{03CF64A4-BF06-4D3E-8391-A7574646B6EF}"/>
                  </a:ext>
                </a:extLst>
              </p:cNvPr>
              <p:cNvSpPr txBox="1"/>
              <p:nvPr/>
            </p:nvSpPr>
            <p:spPr>
              <a:xfrm>
                <a:off x="793474" y="3651017"/>
                <a:ext cx="4119880" cy="2057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185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185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185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bg-BG" sz="185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1850" b="1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𝟕</m:t>
                                  </m:r>
                                </m:sub>
                              </m:sSub>
                              <m:r>
                                <a:rPr lang="bg-BG" sz="185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𝟔𝟎𝟎</m:t>
                              </m:r>
                            </m:e>
                            <m:e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185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sym typeface="Varela Round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′′</m:t>
                                  </m:r>
                                </m:sup>
                              </m:sSubSup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𝟓</m:t>
                                  </m:r>
                                </m:sub>
                              </m:sSub>
                              <m:r>
                                <a:rPr lang="bg-BG" sz="185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1850" b="1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𝟖</m:t>
                                  </m:r>
                                </m:sub>
                              </m:sSub>
                              <m:r>
                                <a:rPr lang="bg-BG" sz="185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𝟏𝟎𝟎𝟎</m:t>
                              </m:r>
                            </m:e>
                            <m:e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185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sym typeface="Varela Round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′′</m:t>
                                  </m:r>
                                </m:sup>
                              </m:sSubSup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𝟔</m:t>
                                  </m:r>
                                </m:sub>
                                <m:sup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185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sym typeface="Varela Round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𝟔</m:t>
                                  </m:r>
                                </m:sub>
                                <m:sup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′′</m:t>
                                  </m:r>
                                </m:sup>
                              </m:sSubSup>
                              <m:r>
                                <a:rPr lang="bg-BG" sz="185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1850" b="1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𝟗</m:t>
                                  </m:r>
                                </m:sub>
                              </m:sSub>
                              <m:r>
                                <a:rPr lang="bg-BG" sz="185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𝟖𝟓𝟎</m:t>
                              </m:r>
                            </m:e>
                            <m:e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185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sym typeface="Varela Round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′′</m:t>
                                  </m:r>
                                </m:sup>
                              </m:sSubSup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185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sym typeface="Varela Round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′′</m:t>
                                  </m:r>
                                </m:sup>
                              </m:sSubSup>
                              <m:r>
                                <a:rPr lang="bg-BG" sz="185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sym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1850" b="1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𝟏𝟎</m:t>
                                  </m:r>
                                </m:sub>
                              </m:sSub>
                              <m:r>
                                <a:rPr lang="bg-BG" sz="185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𝟏𝟎𝟎𝟎</m:t>
                              </m:r>
                            </m:e>
                            <m:e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𝟓</m:t>
                                  </m:r>
                                </m:sub>
                              </m:sSub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𝟔</m:t>
                                  </m:r>
                                </m:sub>
                                <m:sup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185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sym typeface="Varela Round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𝟔</m:t>
                                  </m:r>
                                </m:sub>
                                <m:sup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′′</m:t>
                                  </m:r>
                                </m:sup>
                              </m:sSubSup>
                              <m:r>
                                <a:rPr lang="bg-BG" sz="185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sym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</m:t>
                                  </m:r>
                                  <m:r>
                                    <a:rPr lang="bg-BG" sz="1850" b="1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bg-BG" sz="185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𝟖𝟎𝟎</m:t>
                              </m:r>
                            </m:e>
                            <m:e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US" sz="1850" b="1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</m:t>
                              </m:r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𝟎</m:t>
                              </m:r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′′</m:t>
                                  </m:r>
                                </m:sup>
                              </m:sSubSup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</m:t>
                              </m:r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𝟎</m:t>
                              </m:r>
                              <m:r>
                                <a:rPr lang="bg-BG" sz="185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sSubSup>
                                    <m:sSubSupPr>
                                      <m:ctrlPr>
                                        <a:rPr lang="en-US" sz="1850" b="1" i="1" smtClean="0">
                                          <a:solidFill>
                                            <a:srgbClr val="EA3A68"/>
                                          </a:solidFill>
                                          <a:latin typeface="Cambria Math" panose="02040503050406030204" pitchFamily="18" charset="0"/>
                                          <a:sym typeface="Varela Round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850" b="1" i="1">
                                          <a:solidFill>
                                            <a:srgbClr val="EA3A68"/>
                                          </a:solidFill>
                                          <a:latin typeface="Cambria Math" panose="02040503050406030204" pitchFamily="18" charset="0"/>
                                          <a:sym typeface="Varela Round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850" b="1" i="1">
                                          <a:solidFill>
                                            <a:srgbClr val="EA3A68"/>
                                          </a:solidFill>
                                          <a:latin typeface="Cambria Math" panose="02040503050406030204" pitchFamily="18" charset="0"/>
                                          <a:sym typeface="Varela Round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sz="1850" b="1" i="1">
                                          <a:solidFill>
                                            <a:srgbClr val="EA3A68"/>
                                          </a:solidFill>
                                          <a:latin typeface="Cambria Math" panose="02040503050406030204" pitchFamily="18" charset="0"/>
                                          <a:sym typeface="Varela Round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≥</m:t>
                                  </m:r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𝟎</m:t>
                                  </m:r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sz="1850" b="1" i="1">
                                          <a:solidFill>
                                            <a:srgbClr val="EA3A68"/>
                                          </a:solidFill>
                                          <a:latin typeface="Cambria Math" panose="02040503050406030204" pitchFamily="18" charset="0"/>
                                          <a:sym typeface="Varela Round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850" b="1" i="1">
                                          <a:solidFill>
                                            <a:srgbClr val="EA3A68"/>
                                          </a:solidFill>
                                          <a:latin typeface="Cambria Math" panose="02040503050406030204" pitchFamily="18" charset="0"/>
                                          <a:sym typeface="Varela Round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850" b="1" i="1">
                                          <a:solidFill>
                                            <a:srgbClr val="EA3A68"/>
                                          </a:solidFill>
                                          <a:latin typeface="Cambria Math" panose="02040503050406030204" pitchFamily="18" charset="0"/>
                                          <a:sym typeface="Varela Round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sz="1850" b="1" i="1">
                                          <a:solidFill>
                                            <a:srgbClr val="EA3A68"/>
                                          </a:solidFill>
                                          <a:latin typeface="Cambria Math" panose="02040503050406030204" pitchFamily="18" charset="0"/>
                                          <a:sym typeface="Varela Round"/>
                                        </a:rPr>
                                        <m:t>′′</m:t>
                                      </m:r>
                                    </m:sup>
                                  </m:sSubSup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≥</m:t>
                                  </m:r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𝟎</m:t>
                                  </m:r>
                                  <m:r>
                                    <a:rPr lang="bg-BG" sz="185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sz="1850" b="1" i="1">
                                          <a:solidFill>
                                            <a:srgbClr val="EA3A68"/>
                                          </a:solidFill>
                                          <a:latin typeface="Cambria Math" panose="02040503050406030204" pitchFamily="18" charset="0"/>
                                          <a:sym typeface="Varela Round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850" b="1" i="1">
                                          <a:solidFill>
                                            <a:srgbClr val="EA3A68"/>
                                          </a:solidFill>
                                          <a:latin typeface="Cambria Math" panose="02040503050406030204" pitchFamily="18" charset="0"/>
                                          <a:sym typeface="Varela Round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bg-BG" sz="1850" b="1" i="1" smtClean="0">
                                          <a:solidFill>
                                            <a:srgbClr val="EA3A68"/>
                                          </a:solidFill>
                                          <a:latin typeface="Cambria Math" panose="02040503050406030204" pitchFamily="18" charset="0"/>
                                          <a:sym typeface="Varela Round"/>
                                        </a:rPr>
                                        <m:t>𝟔</m:t>
                                      </m:r>
                                    </m:sub>
                                    <m:sup>
                                      <m:r>
                                        <a:rPr lang="en-US" sz="1850" b="1" i="1">
                                          <a:solidFill>
                                            <a:srgbClr val="EA3A68"/>
                                          </a:solidFill>
                                          <a:latin typeface="Cambria Math" panose="02040503050406030204" pitchFamily="18" charset="0"/>
                                          <a:sym typeface="Varela Round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≥</m:t>
                                  </m:r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𝟎</m:t>
                                  </m:r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sz="1850" b="1" i="1">
                                          <a:solidFill>
                                            <a:srgbClr val="EA3A68"/>
                                          </a:solidFill>
                                          <a:latin typeface="Cambria Math" panose="02040503050406030204" pitchFamily="18" charset="0"/>
                                          <a:sym typeface="Varela Round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850" b="1" i="1">
                                          <a:solidFill>
                                            <a:srgbClr val="EA3A68"/>
                                          </a:solidFill>
                                          <a:latin typeface="Cambria Math" panose="02040503050406030204" pitchFamily="18" charset="0"/>
                                          <a:sym typeface="Varela Round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bg-BG" sz="1850" b="1" i="1" smtClean="0">
                                          <a:solidFill>
                                            <a:srgbClr val="EA3A68"/>
                                          </a:solidFill>
                                          <a:latin typeface="Cambria Math" panose="02040503050406030204" pitchFamily="18" charset="0"/>
                                          <a:sym typeface="Varela Round"/>
                                        </a:rPr>
                                        <m:t>𝟔</m:t>
                                      </m:r>
                                    </m:sub>
                                    <m:sup>
                                      <m:r>
                                        <a:rPr lang="en-US" sz="1850" b="1" i="1">
                                          <a:solidFill>
                                            <a:srgbClr val="EA3A68"/>
                                          </a:solidFill>
                                          <a:latin typeface="Cambria Math" panose="02040503050406030204" pitchFamily="18" charset="0"/>
                                          <a:sym typeface="Varela Round"/>
                                        </a:rPr>
                                        <m:t>′′</m:t>
                                      </m:r>
                                    </m:sup>
                                  </m:sSubSup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≥</m:t>
                                  </m:r>
                                  <m:r>
                                    <a:rPr lang="bg-BG" sz="185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𝟎</m:t>
                                  </m:r>
                                  <m:r>
                                    <a:rPr lang="bg-BG" sz="185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,</m:t>
                                  </m:r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850" b="1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sz="185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≥</m:t>
                              </m:r>
                              <m:r>
                                <a:rPr lang="en-US" sz="185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𝟎</m:t>
                              </m:r>
                              <m:r>
                                <a:rPr lang="en-US" sz="185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, </m:t>
                              </m:r>
                              <m:r>
                                <a:rPr lang="en-US" sz="185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𝒋</m:t>
                              </m:r>
                              <m:r>
                                <a:rPr lang="en-US" sz="185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=</m:t>
                              </m:r>
                              <m:r>
                                <a:rPr lang="en-US" sz="185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𝟏</m:t>
                              </m:r>
                              <m:r>
                                <a:rPr lang="en-US" sz="185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,</m:t>
                              </m:r>
                              <m:r>
                                <a:rPr lang="en-US" sz="185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𝟒</m:t>
                              </m:r>
                              <m:r>
                                <a:rPr lang="en-US" sz="185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,</m:t>
                              </m:r>
                              <m:r>
                                <a:rPr lang="en-US" sz="1850" b="1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𝟓</m:t>
                              </m:r>
                              <m:r>
                                <a:rPr lang="bg-BG" sz="185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,</m:t>
                              </m:r>
                              <m:r>
                                <a:rPr lang="bg-BG" sz="185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𝟕</m:t>
                              </m:r>
                              <m:r>
                                <a:rPr lang="bg-BG" sz="185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,</m:t>
                              </m:r>
                              <m:r>
                                <a:rPr lang="bg-BG" sz="185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𝟖</m:t>
                              </m:r>
                              <m:r>
                                <a:rPr lang="bg-BG" sz="185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,</m:t>
                              </m:r>
                              <m:r>
                                <a:rPr lang="bg-BG" sz="185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𝟗</m:t>
                              </m:r>
                              <m:r>
                                <a:rPr lang="bg-BG" sz="185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,</m:t>
                              </m:r>
                              <m:r>
                                <a:rPr lang="bg-BG" sz="185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𝟏𝟎</m:t>
                              </m:r>
                              <m:r>
                                <a:rPr lang="bg-BG" sz="185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,</m:t>
                              </m:r>
                              <m:r>
                                <a:rPr lang="bg-BG" sz="1850" b="1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Varela Round"/>
                                </a:rPr>
                                <m:t>𝟏𝟏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1850" b="1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7" name="Object 6">
                <a:extLst>
                  <a:ext uri="{FF2B5EF4-FFF2-40B4-BE49-F238E27FC236}">
                    <a16:creationId xmlns:a16="http://schemas.microsoft.com/office/drawing/2014/main" id="{03CF64A4-BF06-4D3E-8391-A7574646B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74" y="3651017"/>
                <a:ext cx="4119880" cy="2057400"/>
              </a:xfrm>
              <a:prstGeom prst="rect">
                <a:avLst/>
              </a:prstGeom>
              <a:blipFill>
                <a:blip r:embed="rId9"/>
                <a:stretch>
                  <a:fillRect r="-10236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604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2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>
              <a:xfrm>
                <a:off x="1099184" y="1143000"/>
                <a:ext cx="7191376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d>
                        <m:d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</m:d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r>
                        <a:rPr lang="bg-BG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−7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+12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r>
                        <a:rPr lang="bg-BG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6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−11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4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min</m:t>
                      </m:r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184" y="1143000"/>
                <a:ext cx="7191376" cy="428625"/>
              </a:xfrm>
              <a:prstGeom prst="rect">
                <a:avLst/>
              </a:prstGeom>
              <a:blipFill>
                <a:blip r:embed="rId2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/>
              <p:cNvSpPr txBox="1"/>
              <p:nvPr/>
            </p:nvSpPr>
            <p:spPr>
              <a:xfrm>
                <a:off x="980440" y="1982788"/>
                <a:ext cx="4119880" cy="2057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−2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≥12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≤</m:t>
                              </m:r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5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=30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</m:t>
                              </m:r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800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40" y="1982788"/>
                <a:ext cx="4119880" cy="2057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AF5E3450-13CB-49C6-A5A4-2169A83A7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0" y="-430213"/>
            <a:ext cx="5455920" cy="1162050"/>
          </a:xfrm>
        </p:spPr>
        <p:txBody>
          <a:bodyPr/>
          <a:lstStyle/>
          <a:p>
            <a:r>
              <a:rPr lang="bg-BG" dirty="0"/>
              <a:t>ПРИВЕДЕТЕ В СИМЕТРИЧЕН ВИД, зад. 6</a:t>
            </a:r>
            <a:endParaRPr lang="en-US" dirty="0"/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26308EB0-766A-4D9A-A024-6199CDA03BF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174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F5E3450-13CB-49C6-A5A4-2169A83A7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0" y="-430213"/>
            <a:ext cx="5455920" cy="1162050"/>
          </a:xfrm>
        </p:spPr>
        <p:txBody>
          <a:bodyPr/>
          <a:lstStyle/>
          <a:p>
            <a:r>
              <a:rPr lang="bg-BG" dirty="0"/>
              <a:t>ПРИВЕДЕТЕ В СИМЕТРИЧЕН ВИД, зад. 6</a:t>
            </a:r>
            <a:endParaRPr lang="en-US" dirty="0"/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26308EB0-766A-4D9A-A024-6199CDA03BF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6900A0D1-A55E-455E-9324-BE3E5B806A27}"/>
              </a:ext>
            </a:extLst>
          </p:cNvPr>
          <p:cNvSpPr/>
          <p:nvPr/>
        </p:nvSpPr>
        <p:spPr>
          <a:xfrm rot="16200000">
            <a:off x="5342530" y="1676551"/>
            <a:ext cx="239089" cy="437365"/>
          </a:xfrm>
          <a:prstGeom prst="downArrow">
            <a:avLst/>
          </a:prstGeom>
          <a:solidFill>
            <a:srgbClr val="AACF20"/>
          </a:solidFill>
          <a:ln>
            <a:solidFill>
              <a:srgbClr val="AAC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AACF2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68BE355-DFA5-4E2E-8D78-82B98C2108CD}"/>
                  </a:ext>
                </a:extLst>
              </p:cNvPr>
              <p:cNvSpPr txBox="1"/>
              <p:nvPr/>
            </p:nvSpPr>
            <p:spPr>
              <a:xfrm>
                <a:off x="5730593" y="1642896"/>
                <a:ext cx="2385456" cy="473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𝟑</m:t>
                          </m:r>
                        </m:sub>
                      </m:sSub>
                      <m:r>
                        <a:rPr lang="bg-BG" sz="24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sym typeface="Varela Round"/>
                        </a:rPr>
                        <m:t>= </m:t>
                      </m:r>
                      <m:sSubSup>
                        <m:sSubSupPr>
                          <m:ctrlP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𝟑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</m:t>
                          </m:r>
                        </m:sup>
                      </m:sSubSup>
                      <m:r>
                        <a:rPr lang="en-US" sz="2400" b="1" i="1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sym typeface="Varela Round"/>
                        </a:rPr>
                        <m:t>−</m:t>
                      </m:r>
                      <m:sSubSup>
                        <m:sSubSupPr>
                          <m:ctrlP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𝟑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′′</m:t>
                          </m:r>
                        </m:sup>
                      </m:sSubSup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68BE355-DFA5-4E2E-8D78-82B98C210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593" y="1642896"/>
                <a:ext cx="2385456" cy="473591"/>
              </a:xfrm>
              <a:prstGeom prst="rect">
                <a:avLst/>
              </a:prstGeom>
              <a:blipFill>
                <a:blip r:embed="rId3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5">
                <a:extLst>
                  <a:ext uri="{FF2B5EF4-FFF2-40B4-BE49-F238E27FC236}">
                    <a16:creationId xmlns:a16="http://schemas.microsoft.com/office/drawing/2014/main" id="{36C48C04-72BB-4D0F-A302-9B25B9B5740D}"/>
                  </a:ext>
                </a:extLst>
              </p:cNvPr>
              <p:cNvSpPr txBox="1"/>
              <p:nvPr/>
            </p:nvSpPr>
            <p:spPr>
              <a:xfrm>
                <a:off x="1099184" y="3194612"/>
                <a:ext cx="8284537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𝒛</m:t>
                      </m:r>
                      <m:d>
                        <m:d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𝒙</m:t>
                          </m:r>
                        </m:e>
                      </m:d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r>
                        <a:rPr lang="bg-BG" sz="2000" b="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7</m:t>
                      </m:r>
                      <m:sSub>
                        <m:sSub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000" b="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000" b="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bg-BG" sz="2000" b="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−12</m:t>
                      </m:r>
                      <m:sSub>
                        <m:sSub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000" b="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000" b="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</m:sub>
                      </m:sSub>
                      <m:r>
                        <a:rPr lang="bg-BG" sz="2000" b="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−6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2000" b="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  <a:sym typeface="Varela Round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  <a:sym typeface="Varela Round"/>
                            </a:rPr>
                            <m:t>3</m:t>
                          </m:r>
                        </m:sub>
                        <m:sup>
                          <m:r>
                            <a:rPr lang="en-US" sz="2000" b="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  <a:sym typeface="Varela Round"/>
                            </a:rPr>
                            <m:t>′</m:t>
                          </m:r>
                        </m:sup>
                      </m:sSubSup>
                      <m:r>
                        <a:rPr lang="bg-BG" sz="2000" b="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bg-BG" sz="2000" b="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  <a:sym typeface="Varela Round"/>
                            </a:rPr>
                            <m:t>6</m:t>
                          </m:r>
                          <m:r>
                            <a:rPr lang="en-US" sz="2000" b="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  <a:sym typeface="Varela Round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  <a:sym typeface="Varela Round"/>
                            </a:rPr>
                            <m:t>3</m:t>
                          </m:r>
                        </m:sub>
                        <m:sup>
                          <m:r>
                            <a:rPr lang="en-US" sz="2000" b="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  <a:sym typeface="Varela Round"/>
                            </a:rPr>
                            <m:t>′′</m:t>
                          </m:r>
                        </m:sup>
                      </m:sSubSup>
                      <m:r>
                        <a:rPr lang="bg-BG" sz="2000" b="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+11</m:t>
                      </m:r>
                      <m:sSub>
                        <m:sSub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000" b="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000" b="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4</m:t>
                          </m:r>
                        </m:sub>
                      </m:sSub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a:rPr lang="en-US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𝒎𝒂𝒙</m:t>
                      </m:r>
                    </m:oMath>
                  </m:oMathPara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endParaRPr lang="bg-BG" sz="16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6" name="Object 5">
                <a:extLst>
                  <a:ext uri="{FF2B5EF4-FFF2-40B4-BE49-F238E27FC236}">
                    <a16:creationId xmlns:a16="http://schemas.microsoft.com/office/drawing/2014/main" id="{36C48C04-72BB-4D0F-A302-9B25B9B57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184" y="3194612"/>
                <a:ext cx="8284537" cy="4286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6">
                <a:extLst>
                  <a:ext uri="{FF2B5EF4-FFF2-40B4-BE49-F238E27FC236}">
                    <a16:creationId xmlns:a16="http://schemas.microsoft.com/office/drawing/2014/main" id="{03CF64A4-BF06-4D3E-8391-A7574646B6EF}"/>
                  </a:ext>
                </a:extLst>
              </p:cNvPr>
              <p:cNvSpPr txBox="1"/>
              <p:nvPr/>
            </p:nvSpPr>
            <p:spPr>
              <a:xfrm>
                <a:off x="793474" y="3651017"/>
                <a:ext cx="6502872" cy="2057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0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0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bg-BG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≤−12</m:t>
                              </m:r>
                            </m:e>
                            <m:e>
                              <m:r>
                                <a:rPr lang="bg-BG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US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2</m:t>
                                  </m:r>
                                  <m:r>
                                    <a:rPr lang="en-US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2</m:t>
                                  </m:r>
                                  <m:r>
                                    <a:rPr lang="en-US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′′</m:t>
                                  </m:r>
                                </m:sup>
                              </m:sSubSup>
                              <m:r>
                                <a:rPr lang="bg-BG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≤5</m:t>
                              </m:r>
                            </m:e>
                            <m:e>
                              <m:r>
                                <a:rPr lang="bg-BG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′′</m:t>
                                  </m:r>
                                </m:sup>
                              </m:sSubSup>
                              <m:r>
                                <a:rPr lang="bg-BG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≤30</m:t>
                              </m:r>
                            </m:e>
                            <m:e>
                              <m:r>
                                <a:rPr lang="bg-BG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−</m:t>
                                  </m:r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′′</m:t>
                                  </m:r>
                                </m:sup>
                              </m:sSubSup>
                              <m:r>
                                <a:rPr lang="bg-BG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≤−30</m:t>
                              </m:r>
                            </m:e>
                            <m:e>
                              <m:r>
                                <a:rPr lang="bg-BG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−</m:t>
                                  </m:r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≤−800</m:t>
                              </m:r>
                            </m:e>
                            <m:e>
                              <m:r>
                                <a:rPr lang="bg-BG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  <a:sym typeface="Varela Round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 b="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  <a:sym typeface="Varela Round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  <a:sym typeface="Varela Round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sz="2000" b="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  <a:sym typeface="Varela Round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≥0,</m:t>
                                  </m:r>
                                  <m:sSubSup>
                                    <m:sSubSupPr>
                                      <m:ctrlPr>
                                        <a:rPr lang="en-US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  <a:sym typeface="Varela Round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 b="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  <a:sym typeface="Varela Round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  <a:sym typeface="Varela Round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sz="2000" b="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  <a:sym typeface="Varela Round"/>
                                        </a:rPr>
                                        <m:t>′′</m:t>
                                      </m:r>
                                    </m:sup>
                                  </m:sSubSup>
                                  <m:r>
                                    <a:rPr lang="bg-BG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≥0,</m:t>
                                  </m:r>
                                  <m:r>
                                    <a:rPr lang="en-US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≥0, </m:t>
                              </m:r>
                              <m:r>
                                <a:rPr lang="en-US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𝑗</m:t>
                              </m:r>
                              <m:r>
                                <a:rPr lang="en-US" sz="20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=1,2,4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7" name="Object 6">
                <a:extLst>
                  <a:ext uri="{FF2B5EF4-FFF2-40B4-BE49-F238E27FC236}">
                    <a16:creationId xmlns:a16="http://schemas.microsoft.com/office/drawing/2014/main" id="{03CF64A4-BF06-4D3E-8391-A7574646B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74" y="3651017"/>
                <a:ext cx="6502872" cy="2057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5">
                <a:extLst>
                  <a:ext uri="{FF2B5EF4-FFF2-40B4-BE49-F238E27FC236}">
                    <a16:creationId xmlns:a16="http://schemas.microsoft.com/office/drawing/2014/main" id="{D270E382-2ABE-4BC0-A892-88FFDA73BB19}"/>
                  </a:ext>
                </a:extLst>
              </p:cNvPr>
              <p:cNvSpPr txBox="1"/>
              <p:nvPr/>
            </p:nvSpPr>
            <p:spPr>
              <a:xfrm>
                <a:off x="1099184" y="992465"/>
                <a:ext cx="7191376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18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d>
                        <m:dPr>
                          <m:ctrlPr>
                            <a:rPr lang="bg-BG" sz="18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r>
                            <a:rPr lang="bg-BG" sz="18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</m:d>
                      <m:r>
                        <a:rPr lang="bg-BG" sz="18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r>
                        <a:rPr lang="bg-BG" sz="18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−7</m:t>
                      </m:r>
                      <m:sSub>
                        <m:sSubPr>
                          <m:ctrlPr>
                            <a:rPr lang="bg-BG" sz="18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18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18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bg-BG" sz="18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+12</m:t>
                      </m:r>
                      <m:sSub>
                        <m:sSubPr>
                          <m:ctrlPr>
                            <a:rPr lang="bg-BG" sz="18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18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18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</m:sub>
                      </m:sSub>
                      <m:r>
                        <a:rPr lang="bg-BG" sz="18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r>
                        <a:rPr lang="bg-BG" sz="18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6</m:t>
                      </m:r>
                      <m:sSub>
                        <m:sSubPr>
                          <m:ctrlPr>
                            <a:rPr lang="bg-BG" sz="18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18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18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18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−11</m:t>
                      </m:r>
                      <m:sSub>
                        <m:sSubPr>
                          <m:ctrlPr>
                            <a:rPr lang="bg-BG" sz="18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18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18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4</m:t>
                          </m:r>
                        </m:sub>
                      </m:sSub>
                      <m:r>
                        <a:rPr lang="bg-BG" sz="18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bg-BG" sz="18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min</m:t>
                      </m:r>
                    </m:oMath>
                  </m:oMathPara>
                </a14:m>
                <a:endParaRPr lang="bg-BG" sz="18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endParaRPr lang="bg-BG" sz="18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3" name="Object 5">
                <a:extLst>
                  <a:ext uri="{FF2B5EF4-FFF2-40B4-BE49-F238E27FC236}">
                    <a16:creationId xmlns:a16="http://schemas.microsoft.com/office/drawing/2014/main" id="{D270E382-2ABE-4BC0-A892-88FFDA73B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184" y="992465"/>
                <a:ext cx="7191376" cy="42862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6">
                <a:extLst>
                  <a:ext uri="{FF2B5EF4-FFF2-40B4-BE49-F238E27FC236}">
                    <a16:creationId xmlns:a16="http://schemas.microsoft.com/office/drawing/2014/main" id="{E213C15E-FC62-466B-A3D2-87321D76B145}"/>
                  </a:ext>
                </a:extLst>
              </p:cNvPr>
              <p:cNvSpPr txBox="1"/>
              <p:nvPr/>
            </p:nvSpPr>
            <p:spPr>
              <a:xfrm>
                <a:off x="1099184" y="1513967"/>
                <a:ext cx="4119880" cy="157058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18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18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18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18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18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−2</m:t>
                                  </m:r>
                                  <m: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18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  <m: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bg-BG" sz="18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≥12</m:t>
                              </m:r>
                            </m:e>
                            <m:e>
                              <m:r>
                                <a:rPr lang="bg-BG" sz="18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  <m: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18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180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8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18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≤</m:t>
                              </m:r>
                              <m:r>
                                <a:rPr lang="bg-BG" sz="18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5</m:t>
                              </m:r>
                            </m:e>
                            <m:e>
                              <m:r>
                                <a:rPr lang="bg-BG" sz="18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18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18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18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=30</m:t>
                              </m:r>
                            </m:e>
                            <m:e>
                              <m:r>
                                <a:rPr lang="bg-BG" sz="18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8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18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8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18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</m:t>
                              </m:r>
                              <m:r>
                                <a:rPr lang="bg-BG" sz="18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800</m:t>
                              </m:r>
                            </m:e>
                            <m:e>
                              <m:r>
                                <a:rPr lang="bg-BG" sz="18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18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8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18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18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bg-BG" sz="18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18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4" name="Object 6">
                <a:extLst>
                  <a:ext uri="{FF2B5EF4-FFF2-40B4-BE49-F238E27FC236}">
                    <a16:creationId xmlns:a16="http://schemas.microsoft.com/office/drawing/2014/main" id="{E213C15E-FC62-466B-A3D2-87321D76B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184" y="1513967"/>
                <a:ext cx="4119880" cy="157058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E6D9CAC-F786-4D8A-9A49-08EF5954551D}"/>
                  </a:ext>
                </a:extLst>
              </p:cNvPr>
              <p:cNvSpPr txBox="1"/>
              <p:nvPr/>
            </p:nvSpPr>
            <p:spPr>
              <a:xfrm>
                <a:off x="2774236" y="1497052"/>
                <a:ext cx="23854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Varela Round"/>
                        </a:rPr>
                        <m:t>×</m:t>
                      </m:r>
                      <m:r>
                        <a:rPr lang="bg-BG" sz="18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Varela Round"/>
                        </a:rPr>
                        <m:t>−</m:t>
                      </m:r>
                      <m:r>
                        <a:rPr lang="bg-BG" sz="18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Varela Round"/>
                        </a:rPr>
                        <m:t>𝟏</m:t>
                      </m:r>
                    </m:oMath>
                  </m:oMathPara>
                </a14:m>
                <a:endParaRPr lang="bg-BG" sz="1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E6D9CAC-F786-4D8A-9A49-08EF59545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4236" y="1497052"/>
                <a:ext cx="238545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D5A6B5C-A2F6-467D-85A8-9F24DEE582BF}"/>
                  </a:ext>
                </a:extLst>
              </p:cNvPr>
              <p:cNvSpPr txBox="1"/>
              <p:nvPr/>
            </p:nvSpPr>
            <p:spPr>
              <a:xfrm>
                <a:off x="2714864" y="2358766"/>
                <a:ext cx="23854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Varela Round"/>
                        </a:rPr>
                        <m:t>×</m:t>
                      </m:r>
                      <m:r>
                        <a:rPr lang="bg-BG" sz="18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Varela Round"/>
                        </a:rPr>
                        <m:t>−</m:t>
                      </m:r>
                      <m:r>
                        <a:rPr lang="bg-BG" sz="18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Varela Round"/>
                        </a:rPr>
                        <m:t>𝟏</m:t>
                      </m:r>
                    </m:oMath>
                  </m:oMathPara>
                </a14:m>
                <a:endParaRPr lang="bg-BG" sz="1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D5A6B5C-A2F6-467D-85A8-9F24DEE58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864" y="2358766"/>
                <a:ext cx="238545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9532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6" grpId="0"/>
      <p:bldP spid="17" grpId="0"/>
      <p:bldP spid="15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>
              <a:xfrm>
                <a:off x="1099184" y="1143000"/>
                <a:ext cx="6310284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d>
                        <m:dPr>
                          <m:ctrlPr>
                            <a:rPr lang="bg-BG" sz="24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r>
                            <a:rPr lang="bg-BG" sz="24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</m:d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=−</m:t>
                      </m:r>
                      <m:r>
                        <a:rPr lang="en-US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1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4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−2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a:rPr lang="en-US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𝑚𝑖𝑛</m:t>
                      </m:r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184" y="1143000"/>
                <a:ext cx="6310284" cy="428625"/>
              </a:xfrm>
              <a:prstGeom prst="rect">
                <a:avLst/>
              </a:prstGeom>
              <a:blipFill>
                <a:blip r:embed="rId2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/>
              <p:cNvSpPr txBox="1"/>
              <p:nvPr/>
            </p:nvSpPr>
            <p:spPr>
              <a:xfrm>
                <a:off x="980440" y="1982788"/>
                <a:ext cx="3197225" cy="2057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≥1</m:t>
                              </m:r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5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21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−4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</m:t>
                              </m:r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22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≤</m:t>
                              </m:r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1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40" y="1982788"/>
                <a:ext cx="3197225" cy="2057400"/>
              </a:xfrm>
              <a:prstGeom prst="rect">
                <a:avLst/>
              </a:prstGeom>
              <a:blipFill>
                <a:blip r:embed="rId3"/>
                <a:stretch>
                  <a:fillRect r="-1087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AF5E3450-13CB-49C6-A5A4-2169A83A7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0" y="-430213"/>
            <a:ext cx="5455920" cy="1162050"/>
          </a:xfrm>
        </p:spPr>
        <p:txBody>
          <a:bodyPr/>
          <a:lstStyle/>
          <a:p>
            <a:r>
              <a:rPr lang="bg-BG" dirty="0"/>
              <a:t>ПРИВЕДЕТЕ В КАНОНИЧЕН ВИД, зад. 7</a:t>
            </a:r>
            <a:endParaRPr lang="en-US" dirty="0"/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7A64C80-D7DC-48E3-8F70-5795B1DD11D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52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F5E3450-13CB-49C6-A5A4-2169A83A7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0" y="-430213"/>
            <a:ext cx="5455920" cy="1162050"/>
          </a:xfrm>
        </p:spPr>
        <p:txBody>
          <a:bodyPr/>
          <a:lstStyle/>
          <a:p>
            <a:r>
              <a:rPr lang="bg-BG" dirty="0"/>
              <a:t>ПРИВЕДЕТЕ В КАНОНИЧЕН ВИД, зад. 7</a:t>
            </a:r>
            <a:endParaRPr lang="en-US" dirty="0"/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7A64C80-D7DC-48E3-8F70-5795B1DD11D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5">
                <a:extLst>
                  <a:ext uri="{FF2B5EF4-FFF2-40B4-BE49-F238E27FC236}">
                    <a16:creationId xmlns:a16="http://schemas.microsoft.com/office/drawing/2014/main" id="{5D7B0CBA-E096-4C96-A81F-A08AD5B9953A}"/>
                  </a:ext>
                </a:extLst>
              </p:cNvPr>
              <p:cNvSpPr txBox="1"/>
              <p:nvPr/>
            </p:nvSpPr>
            <p:spPr>
              <a:xfrm>
                <a:off x="1118027" y="3817857"/>
                <a:ext cx="5970930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d>
                        <m:dPr>
                          <m:ctrlPr>
                            <a:rPr lang="bg-BG" sz="24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r>
                            <a:rPr lang="bg-BG" sz="24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</m:d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1</m:t>
                      </m:r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4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2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</m:t>
                      </m:r>
                      <m:sSubSup>
                        <m:sSubSupPr>
                          <m:ctrlP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𝟑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sSubSup>
                        <m:sSubSupPr>
                          <m:ctrlP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𝟑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</m:t>
                          </m:r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</m:t>
                          </m:r>
                        </m:sup>
                      </m:sSubSup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max</m:t>
                      </m:r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9" name="Object 5">
                <a:extLst>
                  <a:ext uri="{FF2B5EF4-FFF2-40B4-BE49-F238E27FC236}">
                    <a16:creationId xmlns:a16="http://schemas.microsoft.com/office/drawing/2014/main" id="{5D7B0CBA-E096-4C96-A81F-A08AD5B99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027" y="3817857"/>
                <a:ext cx="5970930" cy="428625"/>
              </a:xfrm>
              <a:prstGeom prst="rect">
                <a:avLst/>
              </a:prstGeom>
              <a:blipFill>
                <a:blip r:embed="rId3"/>
                <a:stretch>
                  <a:fillRect b="-14085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6">
                <a:extLst>
                  <a:ext uri="{FF2B5EF4-FFF2-40B4-BE49-F238E27FC236}">
                    <a16:creationId xmlns:a16="http://schemas.microsoft.com/office/drawing/2014/main" id="{20AEE0D3-4327-42FD-95B9-C835898FA1B2}"/>
                  </a:ext>
                </a:extLst>
              </p:cNvPr>
              <p:cNvSpPr txBox="1"/>
              <p:nvPr/>
            </p:nvSpPr>
            <p:spPr>
              <a:xfrm>
                <a:off x="980440" y="4454182"/>
                <a:ext cx="4034620" cy="133387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4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  <m:r>
                                    <a:rPr lang="bg-BG" sz="24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400" b="0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′′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en-US" sz="24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1</m:t>
                              </m:r>
                              <m:r>
                                <a:rPr lang="bg-BG" sz="24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5</m:t>
                              </m:r>
                            </m:e>
                            <m:e>
                              <m:r>
                                <a:rPr lang="bg-BG" sz="24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r>
                                <a:rPr lang="en-US" sz="24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21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−4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r>
                                <a:rPr lang="bg-BG" sz="2400" b="0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sym typeface="Varela Round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2</m:t>
                                  </m:r>
                                  <m:r>
                                    <a:rPr lang="en-US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′′</m:t>
                                  </m:r>
                                </m:sup>
                              </m:sSubSup>
                              <m:r>
                                <a:rPr lang="en-US" sz="2400" b="0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22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400" b="0" i="1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sym typeface="Varela Round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′′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EA3A68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en-US" sz="24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1</m:t>
                              </m:r>
                            </m:e>
                            <m:e>
                              <m:r>
                                <a:rPr lang="bg-BG" sz="24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24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bg-BG" sz="24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24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′′</m:t>
                                  </m:r>
                                </m:sup>
                              </m:sSubSup>
                              <m:r>
                                <a:rPr lang="bg-BG" sz="24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</m:t>
                              </m:r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sz="24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r>
                                <a:rPr lang="en-US" sz="24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𝑗</m:t>
                              </m:r>
                              <m:r>
                                <a:rPr lang="en-US" sz="24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=1,2,4,5,6.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0" name="Object 6">
                <a:extLst>
                  <a:ext uri="{FF2B5EF4-FFF2-40B4-BE49-F238E27FC236}">
                    <a16:creationId xmlns:a16="http://schemas.microsoft.com/office/drawing/2014/main" id="{20AEE0D3-4327-42FD-95B9-C835898FA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40" y="4454182"/>
                <a:ext cx="4034620" cy="1333876"/>
              </a:xfrm>
              <a:prstGeom prst="rect">
                <a:avLst/>
              </a:prstGeom>
              <a:blipFill>
                <a:blip r:embed="rId4"/>
                <a:stretch>
                  <a:fillRect r="-27190" b="-27982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Down 10">
            <a:extLst>
              <a:ext uri="{FF2B5EF4-FFF2-40B4-BE49-F238E27FC236}">
                <a16:creationId xmlns:a16="http://schemas.microsoft.com/office/drawing/2014/main" id="{34D50688-AA71-40D3-A642-350DCA20DB74}"/>
              </a:ext>
            </a:extLst>
          </p:cNvPr>
          <p:cNvSpPr/>
          <p:nvPr/>
        </p:nvSpPr>
        <p:spPr>
          <a:xfrm>
            <a:off x="3289135" y="3276642"/>
            <a:ext cx="239089" cy="437365"/>
          </a:xfrm>
          <a:prstGeom prst="downArrow">
            <a:avLst/>
          </a:prstGeom>
          <a:solidFill>
            <a:srgbClr val="AACF20"/>
          </a:solidFill>
          <a:ln>
            <a:solidFill>
              <a:srgbClr val="AAC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AACF2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F3CB9204-736C-45C5-870D-E976DF94F31D}"/>
                  </a:ext>
                </a:extLst>
              </p:cNvPr>
              <p:cNvSpPr txBox="1"/>
              <p:nvPr/>
            </p:nvSpPr>
            <p:spPr>
              <a:xfrm>
                <a:off x="1099184" y="1143000"/>
                <a:ext cx="6310284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2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d>
                        <m:dPr>
                          <m:ctrlPr>
                            <a:rPr lang="bg-BG" sz="22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r>
                            <a:rPr lang="bg-BG" sz="22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</m:d>
                      <m:r>
                        <a:rPr lang="bg-BG" sz="22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=−</m:t>
                      </m:r>
                      <m:r>
                        <a:rPr lang="en-US" sz="22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1</m:t>
                      </m:r>
                      <m:r>
                        <a:rPr lang="bg-BG" sz="22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4</m:t>
                      </m:r>
                      <m:sSub>
                        <m:sSubPr>
                          <m:ctrlPr>
                            <a:rPr lang="bg-BG" sz="22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2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2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−2</m:t>
                      </m:r>
                      <m:sSub>
                        <m:sSubPr>
                          <m:ctrlPr>
                            <a:rPr lang="bg-BG" sz="22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2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2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sSub>
                        <m:sSubPr>
                          <m:ctrlPr>
                            <a:rPr lang="bg-BG" sz="22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2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2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22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a:rPr lang="en-US" sz="22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𝑚𝑖𝑛</m:t>
                      </m:r>
                    </m:oMath>
                  </m:oMathPara>
                </a14:m>
                <a:endParaRPr lang="bg-BG" sz="22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F3CB9204-736C-45C5-870D-E976DF94F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184" y="1143000"/>
                <a:ext cx="6310284" cy="428625"/>
              </a:xfrm>
              <a:prstGeom prst="rect">
                <a:avLst/>
              </a:prstGeom>
              <a:blipFill>
                <a:blip r:embed="rId5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6">
                <a:extLst>
                  <a:ext uri="{FF2B5EF4-FFF2-40B4-BE49-F238E27FC236}">
                    <a16:creationId xmlns:a16="http://schemas.microsoft.com/office/drawing/2014/main" id="{03C7AF95-D838-4A4A-B2BE-8BA11732F76B}"/>
                  </a:ext>
                </a:extLst>
              </p:cNvPr>
              <p:cNvSpPr txBox="1"/>
              <p:nvPr/>
            </p:nvSpPr>
            <p:spPr>
              <a:xfrm>
                <a:off x="1118027" y="1710672"/>
                <a:ext cx="3197225" cy="126739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2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2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2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2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2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  <m: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2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2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≥1</m:t>
                              </m:r>
                              <m:r>
                                <a:rPr lang="bg-BG" sz="22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5</m:t>
                              </m:r>
                            </m:e>
                            <m:e>
                              <m:r>
                                <a:rPr lang="bg-BG" sz="22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r>
                                <a:rPr lang="en-US" sz="22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21</m:t>
                              </m:r>
                              <m:sSub>
                                <m:sSubPr>
                                  <m:ctrlP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−4</m:t>
                              </m:r>
                              <m:sSub>
                                <m:sSubPr>
                                  <m:ctrlP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r>
                                <a:rPr lang="bg-BG" sz="22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</m:t>
                              </m:r>
                              <m:r>
                                <a:rPr lang="bg-BG" sz="22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22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20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≤</m:t>
                              </m:r>
                              <m:r>
                                <a:rPr lang="en-US" sz="22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1</m:t>
                              </m:r>
                            </m:e>
                            <m:e>
                              <m:r>
                                <a:rPr lang="bg-BG" sz="22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2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2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2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</m:t>
                              </m:r>
                              <m:r>
                                <a:rPr lang="bg-BG" sz="220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2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3" name="Object 6">
                <a:extLst>
                  <a:ext uri="{FF2B5EF4-FFF2-40B4-BE49-F238E27FC236}">
                    <a16:creationId xmlns:a16="http://schemas.microsoft.com/office/drawing/2014/main" id="{03C7AF95-D838-4A4A-B2BE-8BA11732F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027" y="1710672"/>
                <a:ext cx="3197225" cy="1267397"/>
              </a:xfrm>
              <a:prstGeom prst="rect">
                <a:avLst/>
              </a:prstGeom>
              <a:blipFill>
                <a:blip r:embed="rId6"/>
                <a:stretch>
                  <a:fillRect r="-1714" b="-1153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Down 13">
            <a:extLst>
              <a:ext uri="{FF2B5EF4-FFF2-40B4-BE49-F238E27FC236}">
                <a16:creationId xmlns:a16="http://schemas.microsoft.com/office/drawing/2014/main" id="{CA47F71C-DD4F-49B6-9C76-38C100DF1FCD}"/>
              </a:ext>
            </a:extLst>
          </p:cNvPr>
          <p:cNvSpPr/>
          <p:nvPr/>
        </p:nvSpPr>
        <p:spPr>
          <a:xfrm rot="16200000">
            <a:off x="5147227" y="2345535"/>
            <a:ext cx="239089" cy="437365"/>
          </a:xfrm>
          <a:prstGeom prst="downArrow">
            <a:avLst/>
          </a:prstGeom>
          <a:solidFill>
            <a:srgbClr val="AACF20"/>
          </a:solidFill>
          <a:ln>
            <a:solidFill>
              <a:srgbClr val="AAC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AACF2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B452322-1BE9-42DE-B868-7C7D354C34C0}"/>
                  </a:ext>
                </a:extLst>
              </p:cNvPr>
              <p:cNvSpPr txBox="1"/>
              <p:nvPr/>
            </p:nvSpPr>
            <p:spPr>
              <a:xfrm>
                <a:off x="5778104" y="2327423"/>
                <a:ext cx="2385456" cy="473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𝟑</m:t>
                          </m:r>
                        </m:sub>
                      </m:sSub>
                      <m:r>
                        <a:rPr lang="bg-BG" sz="24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sym typeface="Varela Round"/>
                        </a:rPr>
                        <m:t>= </m:t>
                      </m:r>
                      <m:sSubSup>
                        <m:sSubSupPr>
                          <m:ctrlP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𝟑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</m:t>
                          </m:r>
                        </m:sup>
                      </m:sSubSup>
                      <m:r>
                        <a:rPr lang="en-US" sz="2400" b="1" i="1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sym typeface="Varela Round"/>
                        </a:rPr>
                        <m:t>−</m:t>
                      </m:r>
                      <m:sSubSup>
                        <m:sSubSupPr>
                          <m:ctrlP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𝟑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EA3A68"/>
                              </a:solidFill>
                              <a:latin typeface="Cambria Math" panose="02040503050406030204" pitchFamily="18" charset="0"/>
                              <a:sym typeface="Varela Round"/>
                            </a:rPr>
                            <m:t>′′</m:t>
                          </m:r>
                        </m:sup>
                      </m:sSubSup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B452322-1BE9-42DE-B868-7C7D354C3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104" y="2327423"/>
                <a:ext cx="2385456" cy="473591"/>
              </a:xfrm>
              <a:prstGeom prst="rect">
                <a:avLst/>
              </a:prstGeom>
              <a:blipFill>
                <a:blip r:embed="rId7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0722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4" grpId="0" animBg="1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FB70C9E-22F7-4BF4-8CA2-B2C7C40D9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19" y="-430213"/>
            <a:ext cx="6436517" cy="1162050"/>
          </a:xfrm>
        </p:spPr>
        <p:txBody>
          <a:bodyPr/>
          <a:lstStyle/>
          <a:p>
            <a:r>
              <a:rPr lang="bg-BG" sz="1800" dirty="0"/>
              <a:t>Зад</a:t>
            </a:r>
            <a:r>
              <a:rPr lang="en-US" sz="1800" dirty="0"/>
              <a:t>.</a:t>
            </a:r>
            <a:r>
              <a:rPr lang="bg-BG" sz="1800" dirty="0"/>
              <a:t> </a:t>
            </a:r>
            <a:r>
              <a:rPr lang="en-US" sz="1800" dirty="0"/>
              <a:t>8</a:t>
            </a:r>
          </a:p>
        </p:txBody>
      </p:sp>
      <p:pic>
        <p:nvPicPr>
          <p:cNvPr id="19" name="Picture 18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C90EDAE1-F84D-4CB2-810C-C668846A724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9E005DA5-0387-45F5-8A60-1B1B86A2AB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1116" y="888074"/>
                <a:ext cx="6908800" cy="23806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505670"/>
                  </a:buClr>
                  <a:buSzPct val="100000"/>
                  <a:buFont typeface="Varela Round"/>
                  <a:buChar char="▧"/>
                  <a:defRPr sz="2400" b="0" i="0" u="none" strike="noStrike" cap="none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505670"/>
                  </a:buClr>
                  <a:buSzPct val="100000"/>
                  <a:buFont typeface="Varela Round"/>
                  <a:buNone/>
                  <a:defRPr sz="2000" b="0" i="0" u="none" strike="noStrike" cap="none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505670"/>
                  </a:buClr>
                  <a:buSzPct val="100000"/>
                  <a:buFont typeface="Varela Round"/>
                  <a:buNone/>
                  <a:defRPr sz="2000" b="0" i="0" u="none" strike="noStrike" cap="none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505670"/>
                  </a:buClr>
                  <a:buSzPct val="100000"/>
                  <a:buFont typeface="Varela Round"/>
                  <a:buNone/>
                  <a:defRPr sz="1600" b="0" i="0" u="none" strike="noStrike" cap="none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505670"/>
                  </a:buClr>
                  <a:buSzPct val="100000"/>
                  <a:buFont typeface="Varela Round"/>
                  <a:buNone/>
                  <a:defRPr sz="1600" b="0" i="0" u="none" strike="noStrike" cap="none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505670"/>
                  </a:buClr>
                  <a:buSzPct val="100000"/>
                  <a:buFont typeface="Varela Round"/>
                  <a:buNone/>
                  <a:defRPr sz="1600" b="0" i="0" u="none" strike="noStrike" cap="none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505670"/>
                  </a:buClr>
                  <a:buSzPct val="100000"/>
                  <a:buFont typeface="Varela Round"/>
                  <a:buNone/>
                  <a:defRPr sz="1600" b="0" i="0" u="none" strike="noStrike" cap="none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505670"/>
                  </a:buClr>
                  <a:buSzPct val="100000"/>
                  <a:buFont typeface="Varela Round"/>
                  <a:buNone/>
                  <a:defRPr sz="1600" b="0" i="0" u="none" strike="noStrike" cap="none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505670"/>
                  </a:buClr>
                  <a:buSzPct val="100000"/>
                  <a:buFont typeface="Varela Round"/>
                  <a:buNone/>
                  <a:defRPr sz="1600" b="0" i="0" u="none" strike="noStrike" cap="none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defRPr>
                </a:lvl9pPr>
              </a:lstStyle>
              <a:p>
                <a:pPr>
                  <a:buFont typeface="Varela Round"/>
                  <a:buNone/>
                </a:pPr>
                <a:r>
                  <a:rPr lang="bg-BG" dirty="0"/>
                  <a:t>Нека планът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bg-BG" i="1" smtClean="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sym typeface="Varela Round"/>
                          </a:rPr>
                        </m:ctrlPr>
                      </m:sSupPr>
                      <m:e>
                        <m:r>
                          <a:rPr lang="bg-BG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sym typeface="Varela Round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bg-BG" i="1">
                                <a:solidFill>
                                  <a:srgbClr val="505670"/>
                                </a:solidFill>
                                <a:latin typeface="Cambria Math" panose="02040503050406030204" pitchFamily="18" charset="0"/>
                                <a:sym typeface="Varela Round"/>
                              </a:rPr>
                            </m:ctrlPr>
                          </m:dPr>
                          <m:e>
                            <m:r>
                              <a:rPr lang="bg-BG" b="0" i="1" smtClean="0">
                                <a:solidFill>
                                  <a:srgbClr val="505670"/>
                                </a:solidFill>
                                <a:latin typeface="Cambria Math" panose="02040503050406030204" pitchFamily="18" charset="0"/>
                                <a:sym typeface="Varela Round"/>
                              </a:rPr>
                              <m:t>∗</m:t>
                            </m:r>
                          </m:e>
                        </m:d>
                      </m:sup>
                    </m:sSup>
                    <m:r>
                      <a:rPr lang="bg-BG" i="1">
                        <a:solidFill>
                          <a:srgbClr val="505670"/>
                        </a:solidFill>
                        <a:latin typeface="Cambria Math" panose="02040503050406030204" pitchFamily="18" charset="0"/>
                        <a:sym typeface="Varela Round"/>
                      </a:rPr>
                      <m:t>=</m:t>
                    </m:r>
                    <m:sSup>
                      <m:sSupPr>
                        <m:ctrlPr>
                          <a:rPr lang="bg-BG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sym typeface="Varela Round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bg-BG" i="1">
                                <a:solidFill>
                                  <a:srgbClr val="505670"/>
                                </a:solidFill>
                                <a:latin typeface="Cambria Math" panose="02040503050406030204" pitchFamily="18" charset="0"/>
                                <a:sym typeface="Varela Round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5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bg-BG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sym typeface="Varela Round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bg-BG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bg-BG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bg-BG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bg-BG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bg-BG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sym typeface="Varela Round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bg-BG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sym typeface="Varela Round"/>
                          </a:rPr>
                          <m:t>𝑇</m:t>
                        </m:r>
                      </m:sup>
                    </m:sSup>
                    <m:r>
                      <a:rPr lang="bg-BG" b="0" i="1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sym typeface="Varela Round"/>
                      </a:rPr>
                      <m:t> </m:t>
                    </m:r>
                  </m:oMath>
                </a14:m>
                <a:endParaRPr lang="bg-BG" b="0" i="1" dirty="0">
                  <a:solidFill>
                    <a:srgbClr val="505670"/>
                  </a:solidFill>
                  <a:latin typeface="Cambria Math" panose="02040503050406030204" pitchFamily="18" charset="0"/>
                  <a:sym typeface="Varela Round"/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bg-BG" b="0" i="1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sym typeface="Varela Round"/>
                      </a:rPr>
                      <m:t>е оптимален план на дадена канонична задача.</m:t>
                    </m:r>
                  </m:oMath>
                </a14:m>
                <a:r>
                  <a:rPr lang="bg-BG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b="1" i="1">
                            <a:solidFill>
                              <a:srgbClr val="EA3A6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b="1" i="1">
                            <a:solidFill>
                              <a:srgbClr val="EA3A68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EA3A68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bg-BG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b="1" i="1" smtClean="0">
                            <a:solidFill>
                              <a:srgbClr val="EA3A6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b="1" i="1">
                            <a:solidFill>
                              <a:srgbClr val="EA3A68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bg-BG" b="1" i="1" smtClean="0">
                            <a:solidFill>
                              <a:srgbClr val="EA3A68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bg-BG" dirty="0"/>
                  <a:t> са допълнителни променливи в нея.</a:t>
                </a:r>
              </a:p>
              <a:p>
                <a:pPr>
                  <a:buNone/>
                </a:pPr>
                <a:r>
                  <a:rPr lang="bg-BG" dirty="0"/>
                  <a:t>Намерете оптималния план на съответната основна задача на линейното оптимиране.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9E005DA5-0387-45F5-8A60-1B1B86A2A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116" y="888074"/>
                <a:ext cx="6908800" cy="2380671"/>
              </a:xfrm>
              <a:prstGeom prst="rect">
                <a:avLst/>
              </a:prstGeom>
              <a:blipFill>
                <a:blip r:embed="rId3"/>
                <a:stretch>
                  <a:fillRect l="-1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70955A-DCAB-4AD1-AD42-F4406E6D5D67}"/>
                  </a:ext>
                </a:extLst>
              </p:cNvPr>
              <p:cNvSpPr txBox="1"/>
              <p:nvPr/>
            </p:nvSpPr>
            <p:spPr>
              <a:xfrm>
                <a:off x="969597" y="3187204"/>
                <a:ext cx="58587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Varela Round"/>
                  <a:buNone/>
                </a:pPr>
                <a:r>
                  <a:rPr lang="bg-BG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О</a:t>
                </a:r>
                <a14:m>
                  <m:oMath xmlns:m="http://schemas.openxmlformats.org/officeDocument/2006/math">
                    <m:r>
                      <a:rPr lang="bg-BG" sz="2400" b="0" i="0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  <a:sym typeface="Varela Round"/>
                      </a:rPr>
                      <m:t>тговор:</m:t>
                    </m:r>
                  </m:oMath>
                </a14:m>
                <a:endParaRPr lang="bg-BG" sz="2400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70955A-DCAB-4AD1-AD42-F4406E6D5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97" y="3187204"/>
                <a:ext cx="5858759" cy="461665"/>
              </a:xfrm>
              <a:prstGeom prst="rect">
                <a:avLst/>
              </a:prstGeom>
              <a:blipFill>
                <a:blip r:embed="rId4"/>
                <a:stretch>
                  <a:fillRect l="-1561" t="-14474" b="-2500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4ACD89-ED5B-4525-876B-3D751C6D029E}"/>
                  </a:ext>
                </a:extLst>
              </p:cNvPr>
              <p:cNvSpPr txBox="1"/>
              <p:nvPr/>
            </p:nvSpPr>
            <p:spPr>
              <a:xfrm>
                <a:off x="961116" y="3769659"/>
                <a:ext cx="8119621" cy="4211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0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Каноничната задача: </m:t>
                      </m:r>
                      <m:sSup>
                        <m:sSup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pPr>
                        <m:e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dPr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∗</m:t>
                              </m:r>
                            </m:e>
                          </m:d>
                        </m:sup>
                      </m:sSup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sSup>
                        <m:sSup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5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5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4ACD89-ED5B-4525-876B-3D751C6D0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116" y="3769659"/>
                <a:ext cx="8119621" cy="421141"/>
              </a:xfrm>
              <a:prstGeom prst="rect">
                <a:avLst/>
              </a:prstGeom>
              <a:blipFill>
                <a:blip r:embed="rId5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28EDCA-7C9B-4B10-8AA0-E799AC0169E6}"/>
                  </a:ext>
                </a:extLst>
              </p:cNvPr>
              <p:cNvSpPr txBox="1"/>
              <p:nvPr/>
            </p:nvSpPr>
            <p:spPr>
              <a:xfrm>
                <a:off x="961115" y="4393241"/>
                <a:ext cx="8119621" cy="421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Основна</m:t>
                      </m:r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 задача: </m:t>
                      </m:r>
                      <m:sSup>
                        <m:sSup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pPr>
                        <m:e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dPr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∗</m:t>
                              </m:r>
                            </m:e>
                          </m:d>
                        </m:sup>
                      </m:sSup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sSup>
                        <m:sSup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bg-BG" sz="200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bg-BG" sz="200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28EDCA-7C9B-4B10-8AA0-E799AC016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115" y="4393241"/>
                <a:ext cx="8119621" cy="421077"/>
              </a:xfrm>
              <a:prstGeom prst="rect">
                <a:avLst/>
              </a:prstGeom>
              <a:blipFill>
                <a:blip r:embed="rId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1A22C5A-1415-41E9-B2BF-C843BD247962}"/>
                  </a:ext>
                </a:extLst>
              </p:cNvPr>
              <p:cNvSpPr txBox="1"/>
              <p:nvPr/>
            </p:nvSpPr>
            <p:spPr>
              <a:xfrm>
                <a:off x="829560" y="5016759"/>
                <a:ext cx="4572000" cy="421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  <a:sym typeface="Varela Round"/>
                            </a:rPr>
                          </m:ctrlPr>
                        </m:sSupPr>
                        <m:e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  <a:sym typeface="Varela Round"/>
                            </a:rPr>
                            <m:t>Основна задача: </m:t>
                          </m:r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  <a:sym typeface="Varela Round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</m:ctrlPr>
                            </m:dPr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∗</m:t>
                              </m:r>
                            </m:e>
                          </m:d>
                        </m:sup>
                      </m:sSup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=</m:t>
                      </m:r>
                      <m:sSup>
                        <m:sSup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  <a:sym typeface="Varela Round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bg-BG" sz="2000" i="1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  <a:sym typeface="Varela Round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bg-BG" sz="2000" i="1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  <a:sym typeface="Varela Round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bg-BG" sz="2000" i="1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  <a:sym typeface="Varela Round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  <a:sym typeface="Varela Round"/>
                            </a:rPr>
                            <m:t>𝑇</m:t>
                          </m:r>
                        </m:sup>
                      </m:sSup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 </m:t>
                      </m:r>
                    </m:oMath>
                  </m:oMathPara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1A22C5A-1415-41E9-B2BF-C843BD247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60" y="5016759"/>
                <a:ext cx="4572000" cy="421013"/>
              </a:xfrm>
              <a:prstGeom prst="rect">
                <a:avLst/>
              </a:prstGeom>
              <a:blipFill>
                <a:blip r:embed="rId7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972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FB70C9E-22F7-4BF4-8CA2-B2C7C40D9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19" y="205903"/>
            <a:ext cx="6436517" cy="525933"/>
          </a:xfrm>
        </p:spPr>
        <p:txBody>
          <a:bodyPr/>
          <a:lstStyle/>
          <a:p>
            <a:r>
              <a:rPr lang="bg-BG" sz="1800" dirty="0"/>
              <a:t>Зад</a:t>
            </a:r>
            <a:r>
              <a:rPr lang="en-US" sz="1800" dirty="0"/>
              <a:t>.</a:t>
            </a:r>
            <a:r>
              <a:rPr lang="bg-BG" sz="1800" dirty="0"/>
              <a:t> </a:t>
            </a:r>
            <a:r>
              <a:rPr lang="en-US" sz="1800" dirty="0"/>
              <a:t>9</a:t>
            </a:r>
          </a:p>
        </p:txBody>
      </p:sp>
      <p:pic>
        <p:nvPicPr>
          <p:cNvPr id="19" name="Picture 18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C90EDAE1-F84D-4CB2-810C-C668846A724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9E005DA5-0387-45F5-8A60-1B1B86A2AB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6002" y="836629"/>
                <a:ext cx="6949391" cy="34765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505670"/>
                  </a:buClr>
                  <a:buSzPct val="100000"/>
                  <a:buFont typeface="Varela Round"/>
                  <a:buChar char="▧"/>
                  <a:defRPr sz="2400" b="0" i="0" u="none" strike="noStrike" cap="none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505670"/>
                  </a:buClr>
                  <a:buSzPct val="100000"/>
                  <a:buFont typeface="Varela Round"/>
                  <a:buNone/>
                  <a:defRPr sz="2000" b="0" i="0" u="none" strike="noStrike" cap="none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505670"/>
                  </a:buClr>
                  <a:buSzPct val="100000"/>
                  <a:buFont typeface="Varela Round"/>
                  <a:buNone/>
                  <a:defRPr sz="2000" b="0" i="0" u="none" strike="noStrike" cap="none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505670"/>
                  </a:buClr>
                  <a:buSzPct val="100000"/>
                  <a:buFont typeface="Varela Round"/>
                  <a:buNone/>
                  <a:defRPr sz="1600" b="0" i="0" u="none" strike="noStrike" cap="none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505670"/>
                  </a:buClr>
                  <a:buSzPct val="100000"/>
                  <a:buFont typeface="Varela Round"/>
                  <a:buNone/>
                  <a:defRPr sz="1600" b="0" i="0" u="none" strike="noStrike" cap="none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505670"/>
                  </a:buClr>
                  <a:buSzPct val="100000"/>
                  <a:buFont typeface="Varela Round"/>
                  <a:buNone/>
                  <a:defRPr sz="1600" b="0" i="0" u="none" strike="noStrike" cap="none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505670"/>
                  </a:buClr>
                  <a:buSzPct val="100000"/>
                  <a:buFont typeface="Varela Round"/>
                  <a:buNone/>
                  <a:defRPr sz="1600" b="0" i="0" u="none" strike="noStrike" cap="none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505670"/>
                  </a:buClr>
                  <a:buSzPct val="100000"/>
                  <a:buFont typeface="Varela Round"/>
                  <a:buNone/>
                  <a:defRPr sz="1600" b="0" i="0" u="none" strike="noStrike" cap="none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505670"/>
                  </a:buClr>
                  <a:buSzPct val="100000"/>
                  <a:buFont typeface="Varela Round"/>
                  <a:buNone/>
                  <a:defRPr sz="1600" b="0" i="0" u="none" strike="noStrike" cap="none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defRPr>
                </a:lvl9pPr>
              </a:lstStyle>
              <a:p>
                <a:pPr>
                  <a:buFont typeface="Varela Round"/>
                  <a:buNone/>
                </a:pPr>
                <a:r>
                  <a:rPr lang="bg-BG" dirty="0"/>
                  <a:t>Нека планът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bg-BG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bg-BG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bg-BG">
                                <a:latin typeface="Cambria Math" panose="02040503050406030204" pitchFamily="18" charset="0"/>
                              </a:rPr>
                              <m:t>∗</m:t>
                            </m:r>
                          </m:e>
                        </m:d>
                      </m:sup>
                    </m:sSup>
                    <m:r>
                      <a:rPr lang="bg-BG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bg-BG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7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bg-BG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bg-BG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bg-BG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bg-BG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bg-BG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bg-BG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bg-BG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bg-BG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bg-BG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bg-BG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bg-BG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>
                          <a:latin typeface="Cambria Math" panose="02040503050406030204" pitchFamily="18" charset="0"/>
                        </a:rPr>
                        <m:t>е оптимален план на дадена канонична задача. </m:t>
                      </m:r>
                    </m:oMath>
                  </m:oMathPara>
                </a14:m>
                <a:endParaRPr lang="bg-BG" dirty="0"/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bg-BG">
                        <a:latin typeface="Cambria Math" panose="02040503050406030204" pitchFamily="18" charset="0"/>
                      </a:rPr>
                      <m:t>Знаем, че</m:t>
                    </m:r>
                  </m:oMath>
                </a14:m>
                <a:r>
                  <a:rPr lang="bg-BG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i="1" smtClean="0">
                            <a:solidFill>
                              <a:srgbClr val="EA3A6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>
                            <a:solidFill>
                              <a:srgbClr val="EA3A68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bg-BG">
                            <a:solidFill>
                              <a:srgbClr val="EA3A68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bg-BG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i="1" smtClean="0">
                            <a:solidFill>
                              <a:srgbClr val="EA3A6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>
                            <a:solidFill>
                              <a:srgbClr val="EA3A68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bg-BG">
                            <a:solidFill>
                              <a:srgbClr val="EA3A68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</m:oMath>
                </a14:m>
                <a:r>
                  <a:rPr lang="bg-BG" dirty="0">
                    <a:solidFill>
                      <a:srgbClr val="EA3A68"/>
                    </a:solidFill>
                  </a:rPr>
                  <a:t> </a:t>
                </a:r>
                <a:r>
                  <a:rPr lang="bg-BG" dirty="0"/>
                  <a:t>са допълнителни променливи в нея. 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bg-BG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bg-BG" dirty="0"/>
                  <a:t> е представена с помощта на </a:t>
                </a:r>
                <a14:m>
                  <m:oMath xmlns:m="http://schemas.openxmlformats.org/officeDocument/2006/math">
                    <m:r>
                      <a:rPr lang="bg-BG">
                        <a:latin typeface="Cambria Math" panose="02040503050406030204" pitchFamily="18" charset="0"/>
                      </a:rPr>
                      <m:t>разликата между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bg-BG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bg-BG">
                            <a:latin typeface="Cambria Math" panose="02040503050406030204" pitchFamily="18" charset="0"/>
                          </a:rPr>
                          <m:t>и 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bg-BG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bg-BG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bg-BG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bg-BG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bg-BG">
                            <a:latin typeface="Cambria Math" panose="02040503050406030204" pitchFamily="18" charset="0"/>
                          </a:rPr>
                          <m:t>− 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bg-BG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bg-BG" dirty="0"/>
              </a:p>
              <a:p>
                <a:pPr>
                  <a:buNone/>
                </a:pPr>
                <a:r>
                  <a:rPr lang="bg-BG" dirty="0"/>
                  <a:t>Намерете оптималния план на съответната основна задача на линейното оптимиране.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9E005DA5-0387-45F5-8A60-1B1B86A2A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02" y="836629"/>
                <a:ext cx="6949391" cy="3476536"/>
              </a:xfrm>
              <a:prstGeom prst="rect">
                <a:avLst/>
              </a:prstGeom>
              <a:blipFill>
                <a:blip r:embed="rId3"/>
                <a:stretch>
                  <a:fillRect l="-13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70955A-DCAB-4AD1-AD42-F4406E6D5D67}"/>
                  </a:ext>
                </a:extLst>
              </p:cNvPr>
              <p:cNvSpPr txBox="1"/>
              <p:nvPr/>
            </p:nvSpPr>
            <p:spPr>
              <a:xfrm>
                <a:off x="1060513" y="3885163"/>
                <a:ext cx="6056723" cy="856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Varela Round"/>
                  <a:buNone/>
                </a:pPr>
                <a:r>
                  <a:rPr lang="bg-BG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О</a:t>
                </a:r>
                <a14:m>
                  <m:oMath xmlns:m="http://schemas.openxmlformats.org/officeDocument/2006/math">
                    <m:r>
                      <a:rPr lang="bg-BG" sz="2400" b="0" i="0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  <a:sym typeface="Varela Round"/>
                      </a:rPr>
                      <m:t>тговор:</m:t>
                    </m:r>
                  </m:oMath>
                </a14:m>
                <a:endParaRPr lang="bg-BG" sz="2400" b="0" i="0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  <a:sym typeface="Varela Round"/>
                </a:endParaRPr>
              </a:p>
              <a:p>
                <a:pPr>
                  <a:buFont typeface="Varela Round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b="0" i="0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 </m:t>
                      </m:r>
                    </m:oMath>
                  </m:oMathPara>
                </a14:m>
                <a:endParaRPr lang="bg-BG" sz="2400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70955A-DCAB-4AD1-AD42-F4406E6D5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513" y="3885163"/>
                <a:ext cx="6056723" cy="856004"/>
              </a:xfrm>
              <a:prstGeom prst="rect">
                <a:avLst/>
              </a:prstGeom>
              <a:blipFill>
                <a:blip r:embed="rId4"/>
                <a:stretch>
                  <a:fillRect l="-1610" t="-5674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43F6EC-A454-46F3-8CA7-83EB64FB76F7}"/>
                  </a:ext>
                </a:extLst>
              </p:cNvPr>
              <p:cNvSpPr txBox="1"/>
              <p:nvPr/>
            </p:nvSpPr>
            <p:spPr>
              <a:xfrm>
                <a:off x="1024379" y="4417957"/>
                <a:ext cx="8119621" cy="4211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Каноничната задача: </m:t>
                      </m:r>
                      <m:sSup>
                        <m:sSup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pPr>
                        <m:e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dPr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∗</m:t>
                              </m:r>
                            </m:e>
                          </m:d>
                        </m:sup>
                      </m:sSup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sSup>
                        <m:sSup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7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𝟐</m:t>
                                        </m:r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 </m:t>
                                        </m:r>
                                      </m:sub>
                                      <m:sup>
                                        <m:r>
                                          <a:rPr lang="en-US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𝟐</m:t>
                                        </m:r>
                                      </m:sub>
                                      <m:sup>
                                        <m:r>
                                          <a:rPr lang="en-US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′′</m:t>
                                        </m:r>
                                      </m:sup>
                                    </m:sSubSup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5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6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43F6EC-A454-46F3-8CA7-83EB64FB7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79" y="4417957"/>
                <a:ext cx="8119621" cy="421141"/>
              </a:xfrm>
              <a:prstGeom prst="rect">
                <a:avLst/>
              </a:prstGeom>
              <a:blipFill>
                <a:blip r:embed="rId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3407DF-678D-46FF-A8EE-BBA5ECA5C605}"/>
                  </a:ext>
                </a:extLst>
              </p:cNvPr>
              <p:cNvSpPr txBox="1"/>
              <p:nvPr/>
            </p:nvSpPr>
            <p:spPr>
              <a:xfrm>
                <a:off x="1024378" y="4943890"/>
                <a:ext cx="8119621" cy="421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Основна</m:t>
                      </m:r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 задача: </m:t>
                      </m:r>
                      <m:sSup>
                        <m:sSup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pPr>
                        <m:e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dPr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∗</m:t>
                              </m:r>
                            </m:e>
                          </m:d>
                        </m:sup>
                      </m:sSup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sSup>
                        <m:sSup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bg-BG" sz="200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bg-BG" sz="200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bg-BG" sz="2000" i="1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3407DF-678D-46FF-A8EE-BBA5ECA5C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78" y="4943890"/>
                <a:ext cx="8119621" cy="421077"/>
              </a:xfrm>
              <a:prstGeom prst="rect">
                <a:avLst/>
              </a:prstGeom>
              <a:blipFill>
                <a:blip r:embed="rId6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BA0CE2-7E4E-4511-8624-46C8C860E289}"/>
                  </a:ext>
                </a:extLst>
              </p:cNvPr>
              <p:cNvSpPr txBox="1"/>
              <p:nvPr/>
            </p:nvSpPr>
            <p:spPr>
              <a:xfrm>
                <a:off x="1024377" y="5493736"/>
                <a:ext cx="8119621" cy="421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Основна</m:t>
                      </m:r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 задача: </m:t>
                      </m:r>
                      <m:sSup>
                        <m:sSup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pPr>
                        <m:e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dPr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∗</m:t>
                              </m:r>
                            </m:e>
                          </m:d>
                        </m:sup>
                      </m:sSup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sSup>
                        <m:sSup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bg-BG" sz="20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bg-BG" sz="20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bg-BG" sz="20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bg-BG" sz="20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BA0CE2-7E4E-4511-8624-46C8C860E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77" y="5493736"/>
                <a:ext cx="8119621" cy="421077"/>
              </a:xfrm>
              <a:prstGeom prst="rect">
                <a:avLst/>
              </a:prstGeom>
              <a:blipFill>
                <a:blip r:embed="rId7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2399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EF83D65B-6EE5-498E-AE74-7A8A44C4983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FBCBDF26-847E-4E02-8463-36676E782597}"/>
                  </a:ext>
                </a:extLst>
              </p:cNvPr>
              <p:cNvSpPr txBox="1"/>
              <p:nvPr/>
            </p:nvSpPr>
            <p:spPr>
              <a:xfrm>
                <a:off x="1080331" y="916757"/>
                <a:ext cx="7191376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(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𝑥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)=5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3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a:rPr lang="en-US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𝑚𝑎𝑥</m:t>
                      </m:r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FBCBDF26-847E-4E02-8463-36676E782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31" y="916757"/>
                <a:ext cx="7191376" cy="428625"/>
              </a:xfrm>
              <a:prstGeom prst="rect">
                <a:avLst/>
              </a:prstGeom>
              <a:blipFill>
                <a:blip r:embed="rId3"/>
                <a:stretch>
                  <a:fillRect b="-2816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6CECE733-2C24-4DB7-93FD-B05BC4D0B3D9}"/>
                  </a:ext>
                </a:extLst>
              </p:cNvPr>
              <p:cNvSpPr txBox="1"/>
              <p:nvPr/>
            </p:nvSpPr>
            <p:spPr>
              <a:xfrm>
                <a:off x="961586" y="1647930"/>
                <a:ext cx="4119880" cy="2057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20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=1</m:t>
                              </m:r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0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3</m:t>
                                      </m:r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+6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=18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=1…5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6CECE733-2C24-4DB7-93FD-B05BC4D0B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586" y="1647930"/>
                <a:ext cx="4119880" cy="2057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3C63C33A-2D67-403F-86B7-FE72C23B7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19" y="205903"/>
            <a:ext cx="6436517" cy="525933"/>
          </a:xfrm>
        </p:spPr>
        <p:txBody>
          <a:bodyPr/>
          <a:lstStyle/>
          <a:p>
            <a:r>
              <a:rPr lang="bg-BG" sz="1800" dirty="0"/>
              <a:t>Зад</a:t>
            </a:r>
            <a:r>
              <a:rPr lang="en-US" sz="1800" dirty="0"/>
              <a:t>.</a:t>
            </a:r>
            <a:r>
              <a:rPr lang="bg-BG" sz="1800" dirty="0"/>
              <a:t> </a:t>
            </a:r>
            <a:r>
              <a:rPr lang="en-US" sz="1800" dirty="0"/>
              <a:t>10</a:t>
            </a:r>
            <a:r>
              <a:rPr lang="bg-BG" sz="1800" dirty="0"/>
              <a:t> 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3A221D-DA94-449E-8752-A1F66E83A573}"/>
                  </a:ext>
                </a:extLst>
              </p:cNvPr>
              <p:cNvSpPr txBox="1"/>
              <p:nvPr/>
            </p:nvSpPr>
            <p:spPr>
              <a:xfrm>
                <a:off x="1173635" y="3579876"/>
                <a:ext cx="6056723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Varela Round"/>
                  <a:buNone/>
                </a:pPr>
                <a:r>
                  <a:rPr lang="en-US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a) </a:t>
                </a:r>
                <a:r>
                  <a:rPr lang="bg-BG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Да се определи матрицата от ограничения А.</a:t>
                </a:r>
                <a:endParaRPr lang="bg-BG" sz="2400" b="0" i="0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  <a:sym typeface="Varela Round"/>
                </a:endParaRPr>
              </a:p>
              <a:p>
                <a:pPr>
                  <a:buFont typeface="Varela Round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b="0" i="0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 </m:t>
                      </m:r>
                    </m:oMath>
                  </m:oMathPara>
                </a14:m>
                <a:endParaRPr lang="bg-BG" sz="2400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3A221D-DA94-449E-8752-A1F66E83A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635" y="3579876"/>
                <a:ext cx="6056723" cy="1200329"/>
              </a:xfrm>
              <a:prstGeom prst="rect">
                <a:avLst/>
              </a:prstGeom>
              <a:blipFill>
                <a:blip r:embed="rId5"/>
                <a:stretch>
                  <a:fillRect l="-1611" t="-5584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8807BA-9070-4614-B374-08F3924EB199}"/>
                  </a:ext>
                </a:extLst>
              </p:cNvPr>
              <p:cNvSpPr txBox="1"/>
              <p:nvPr/>
            </p:nvSpPr>
            <p:spPr>
              <a:xfrm>
                <a:off x="1080331" y="4621424"/>
                <a:ext cx="4572000" cy="10665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𝐴</m:t>
                      </m:r>
                      <m:r>
                        <a:rPr lang="en-US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8807BA-9070-4614-B374-08F3924EB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31" y="4621424"/>
                <a:ext cx="4572000" cy="10665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3686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C63C33A-2D67-403F-86B7-FE72C23B7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19" y="205903"/>
            <a:ext cx="6436517" cy="525933"/>
          </a:xfrm>
        </p:spPr>
        <p:txBody>
          <a:bodyPr/>
          <a:lstStyle/>
          <a:p>
            <a:r>
              <a:rPr lang="bg-BG" sz="1800" dirty="0"/>
              <a:t>Зад</a:t>
            </a:r>
            <a:r>
              <a:rPr lang="en-US" sz="1800" dirty="0"/>
              <a:t>.</a:t>
            </a:r>
            <a:r>
              <a:rPr lang="bg-BG" sz="1800" dirty="0"/>
              <a:t> </a:t>
            </a:r>
            <a:r>
              <a:rPr lang="en-US" sz="1800" dirty="0"/>
              <a:t>10</a:t>
            </a:r>
            <a:r>
              <a:rPr lang="bg-BG" sz="1800" dirty="0"/>
              <a:t> 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3A221D-DA94-449E-8752-A1F66E83A573}"/>
                  </a:ext>
                </a:extLst>
              </p:cNvPr>
              <p:cNvSpPr txBox="1"/>
              <p:nvPr/>
            </p:nvSpPr>
            <p:spPr>
              <a:xfrm>
                <a:off x="983068" y="846056"/>
                <a:ext cx="7329342" cy="15762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bg-BG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б</a:t>
                </a:r>
                <a:r>
                  <a:rPr lang="en-US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) </a:t>
                </a:r>
                <a:r>
                  <a:rPr lang="bg-BG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Докажете, че планът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bg-BG" sz="24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accPr>
                      <m:e>
                        <m:r>
                          <a:rPr lang="en-US" sz="24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</m:acc>
                    <m:r>
                      <a:rPr lang="en-US" sz="240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505670"/>
                                </a:solidFill>
                                <a:latin typeface="Cambria Math" panose="02040503050406030204" pitchFamily="18" charset="0"/>
                                <a:ea typeface="Varela Round"/>
                                <a:cs typeface="Varela Round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5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20</m:t>
                                  </m:r>
                                </m:e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10</m:t>
                                  </m:r>
                                </m:e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18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sz="24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bg-BG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е опорен план. Кои са базисните променливи за този опорен план?</a:t>
                </a:r>
              </a:p>
              <a:p>
                <a:pPr>
                  <a:buFont typeface="Varela Round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b="0" i="0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 </m:t>
                      </m:r>
                    </m:oMath>
                  </m:oMathPara>
                </a14:m>
                <a:endParaRPr lang="bg-BG" sz="2400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3A221D-DA94-449E-8752-A1F66E83A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068" y="846056"/>
                <a:ext cx="7329342" cy="1576201"/>
              </a:xfrm>
              <a:prstGeom prst="rect">
                <a:avLst/>
              </a:prstGeom>
              <a:blipFill>
                <a:blip r:embed="rId2"/>
                <a:stretch>
                  <a:fillRect l="-1247" t="-3488" r="-665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8807BA-9070-4614-B374-08F3924EB199}"/>
                  </a:ext>
                </a:extLst>
              </p:cNvPr>
              <p:cNvSpPr txBox="1"/>
              <p:nvPr/>
            </p:nvSpPr>
            <p:spPr>
              <a:xfrm>
                <a:off x="467589" y="2436141"/>
                <a:ext cx="4572000" cy="10665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𝐴</m:t>
                      </m:r>
                      <m:r>
                        <a:rPr lang="en-US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8807BA-9070-4614-B374-08F3924EB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89" y="2436141"/>
                <a:ext cx="4572000" cy="10665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EF83D65B-6EE5-498E-AE74-7A8A44C49837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B8FF9702-7EC3-4A5F-9FCF-8A4A8107E627}"/>
              </a:ext>
            </a:extLst>
          </p:cNvPr>
          <p:cNvGrpSpPr/>
          <p:nvPr/>
        </p:nvGrpSpPr>
        <p:grpSpPr>
          <a:xfrm>
            <a:off x="2946859" y="2075954"/>
            <a:ext cx="1163238" cy="262951"/>
            <a:chOff x="2946859" y="2075954"/>
            <a:chExt cx="1163238" cy="262951"/>
          </a:xfrm>
        </p:grpSpPr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4E5BD740-5A8D-464E-B70E-7C62BDE9C5A4}"/>
                </a:ext>
              </a:extLst>
            </p:cNvPr>
            <p:cNvSpPr/>
            <p:nvPr/>
          </p:nvSpPr>
          <p:spPr>
            <a:xfrm rot="5400000">
              <a:off x="2929342" y="2110268"/>
              <a:ext cx="246154" cy="211120"/>
            </a:xfrm>
            <a:prstGeom prst="rightArrow">
              <a:avLst/>
            </a:prstGeom>
            <a:solidFill>
              <a:srgbClr val="AACF20"/>
            </a:solidFill>
            <a:ln>
              <a:solidFill>
                <a:srgbClr val="AACF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B8F64BC9-D4F0-4D60-A911-22EAEA9B21F3}"/>
                </a:ext>
              </a:extLst>
            </p:cNvPr>
            <p:cNvSpPr/>
            <p:nvPr/>
          </p:nvSpPr>
          <p:spPr>
            <a:xfrm rot="5400000">
              <a:off x="3397477" y="2096916"/>
              <a:ext cx="246154" cy="211120"/>
            </a:xfrm>
            <a:prstGeom prst="rightArrow">
              <a:avLst/>
            </a:prstGeom>
            <a:solidFill>
              <a:srgbClr val="AACF20"/>
            </a:solidFill>
            <a:ln>
              <a:solidFill>
                <a:srgbClr val="AACF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00EFB36F-2153-449D-843A-CEA565E12BD6}"/>
                </a:ext>
              </a:extLst>
            </p:cNvPr>
            <p:cNvSpPr/>
            <p:nvPr/>
          </p:nvSpPr>
          <p:spPr>
            <a:xfrm rot="5400000">
              <a:off x="3881460" y="2093471"/>
              <a:ext cx="246154" cy="211120"/>
            </a:xfrm>
            <a:prstGeom prst="rightArrow">
              <a:avLst/>
            </a:prstGeom>
            <a:solidFill>
              <a:srgbClr val="AACF20"/>
            </a:solidFill>
            <a:ln>
              <a:solidFill>
                <a:srgbClr val="AACF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E273E7-D13D-435B-93AA-293C44DD1A48}"/>
                  </a:ext>
                </a:extLst>
              </p:cNvPr>
              <p:cNvSpPr txBox="1"/>
              <p:nvPr/>
            </p:nvSpPr>
            <p:spPr>
              <a:xfrm>
                <a:off x="-569359" y="3759924"/>
                <a:ext cx="5608948" cy="1068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det</m:t>
                          </m:r>
                        </m:fName>
                        <m:e>
                          <m:r>
                            <a:rPr lang="en-US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=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bg-BG" sz="24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bg-BG" sz="24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bg-BG" sz="24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bg-BG" sz="24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bg-BG" sz="24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bg-BG" sz="24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bg-BG" sz="24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bg-BG" sz="24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bg-BG" sz="24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func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E273E7-D13D-435B-93AA-293C44DD1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9359" y="3759924"/>
                <a:ext cx="5608948" cy="10689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3C17644-FBA4-4848-9B95-2934F645D4B8}"/>
                  </a:ext>
                </a:extLst>
              </p:cNvPr>
              <p:cNvSpPr txBox="1"/>
              <p:nvPr/>
            </p:nvSpPr>
            <p:spPr>
              <a:xfrm>
                <a:off x="4004537" y="3647643"/>
                <a:ext cx="4036527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bg-BG" sz="20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Стойността на детерминантата на единичната матрица е 1.</a:t>
                </a:r>
                <a:r>
                  <a:rPr lang="en-US" sz="20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</a:t>
                </a:r>
                <a:r>
                  <a:rPr lang="bg-BG" sz="20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Щом получихме детерминанта, различна от 0 – това значи, че даденият план е опорен.</a:t>
                </a:r>
              </a:p>
              <a:p>
                <a:pPr>
                  <a:buFont typeface="Varela Round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000" b="0" i="0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 </m:t>
                      </m:r>
                    </m:oMath>
                  </m:oMathPara>
                </a14:m>
                <a:endParaRPr lang="bg-BG" sz="2000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3C17644-FBA4-4848-9B95-2934F645D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537" y="3647643"/>
                <a:ext cx="4036527" cy="1938992"/>
              </a:xfrm>
              <a:prstGeom prst="rect">
                <a:avLst/>
              </a:prstGeom>
              <a:blipFill>
                <a:blip r:embed="rId6"/>
                <a:stretch>
                  <a:fillRect l="-1662" t="-220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FEA762D-EFE4-4B17-9B00-50F88B126A52}"/>
                  </a:ext>
                </a:extLst>
              </p:cNvPr>
              <p:cNvSpPr txBox="1"/>
              <p:nvPr/>
            </p:nvSpPr>
            <p:spPr>
              <a:xfrm>
                <a:off x="1045304" y="5652750"/>
                <a:ext cx="7797038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bg-BG" sz="20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Базисни променливи в плана са -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bg-BG" sz="20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sSubPr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3</m:t>
                              </m:r>
                            </m:sub>
                          </m:sSub>
                          <m:r>
                            <a:rPr lang="bg-BG" sz="20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sSubPr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4</m:t>
                              </m:r>
                            </m:sub>
                          </m:sSub>
                          <m:r>
                            <a:rPr lang="bg-BG" sz="20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sSubPr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5</m:t>
                              </m:r>
                            </m:sub>
                          </m:sSub>
                        </m:e>
                      </m:mr>
                    </m:m>
                  </m:oMath>
                </a14:m>
                <a:r>
                  <a:rPr lang="bg-BG" sz="20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</a:t>
                </a:r>
              </a:p>
              <a:p>
                <a:pPr>
                  <a:buFont typeface="Varela Round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000" b="0" i="0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 </m:t>
                      </m:r>
                    </m:oMath>
                  </m:oMathPara>
                </a14:m>
                <a:endParaRPr lang="bg-BG" sz="2000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FEA762D-EFE4-4B17-9B00-50F88B126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04" y="5652750"/>
                <a:ext cx="7797038" cy="707886"/>
              </a:xfrm>
              <a:prstGeom prst="rect">
                <a:avLst/>
              </a:prstGeom>
              <a:blipFill>
                <a:blip r:embed="rId7"/>
                <a:stretch>
                  <a:fillRect l="-781" t="-6034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9070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EF83D65B-6EE5-498E-AE74-7A8A44C4983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C63C33A-2D67-403F-86B7-FE72C23B7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19" y="205903"/>
            <a:ext cx="6436517" cy="525933"/>
          </a:xfrm>
        </p:spPr>
        <p:txBody>
          <a:bodyPr/>
          <a:lstStyle/>
          <a:p>
            <a:r>
              <a:rPr lang="bg-BG" sz="1800" dirty="0"/>
              <a:t>Зад</a:t>
            </a:r>
            <a:r>
              <a:rPr lang="en-US" sz="1800" dirty="0"/>
              <a:t>.</a:t>
            </a:r>
            <a:r>
              <a:rPr lang="bg-BG" sz="1800" dirty="0"/>
              <a:t> </a:t>
            </a:r>
            <a:r>
              <a:rPr lang="en-US" sz="1800" dirty="0"/>
              <a:t>10</a:t>
            </a:r>
            <a:r>
              <a:rPr lang="bg-BG" sz="1800" dirty="0"/>
              <a:t> 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3A221D-DA94-449E-8752-A1F66E83A573}"/>
                  </a:ext>
                </a:extLst>
              </p:cNvPr>
              <p:cNvSpPr txBox="1"/>
              <p:nvPr/>
            </p:nvSpPr>
            <p:spPr>
              <a:xfrm>
                <a:off x="983068" y="846056"/>
                <a:ext cx="7329342" cy="1206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bg-BG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в</a:t>
                </a:r>
                <a:r>
                  <a:rPr lang="en-US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) </a:t>
                </a:r>
                <a:r>
                  <a:rPr lang="bg-BG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Проверете дали векторът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bg-BG" sz="24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accPr>
                      <m:e>
                        <m:r>
                          <a:rPr lang="en-US" sz="24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</m:acc>
                    <m:r>
                      <a:rPr lang="en-US" sz="240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505670"/>
                                </a:solidFill>
                                <a:latin typeface="Cambria Math" panose="02040503050406030204" pitchFamily="18" charset="0"/>
                                <a:ea typeface="Varela Round"/>
                                <a:cs typeface="Varela Round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5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8</m:t>
                                  </m:r>
                                </m:e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sz="24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bg-BG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е:</a:t>
                </a:r>
              </a:p>
              <a:p>
                <a:pPr marL="342900" indent="-342900">
                  <a:buFontTx/>
                  <a:buChar char="-"/>
                </a:pPr>
                <a:r>
                  <a:rPr lang="bg-BG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План?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3A221D-DA94-449E-8752-A1F66E83A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068" y="846056"/>
                <a:ext cx="7329342" cy="1206869"/>
              </a:xfrm>
              <a:prstGeom prst="rect">
                <a:avLst/>
              </a:prstGeom>
              <a:blipFill>
                <a:blip r:embed="rId3"/>
                <a:stretch>
                  <a:fillRect l="-1247" t="-4545" b="-1060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3C17644-FBA4-4848-9B95-2934F645D4B8}"/>
                  </a:ext>
                </a:extLst>
              </p:cNvPr>
              <p:cNvSpPr txBox="1"/>
              <p:nvPr/>
            </p:nvSpPr>
            <p:spPr>
              <a:xfrm>
                <a:off x="1088262" y="2659451"/>
                <a:ext cx="6311779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bg-BG" sz="20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За да разберем дали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bg-BG" sz="20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accPr>
                      <m:e>
                        <m:r>
                          <a:rPr lang="en-US" sz="20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</m:acc>
                    <m:r>
                      <a:rPr lang="en-US" sz="2000" i="1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 </m:t>
                    </m:r>
                  </m:oMath>
                </a14:m>
                <a:r>
                  <a:rPr lang="bg-BG" sz="20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</a:t>
                </a:r>
                <a:r>
                  <a:rPr lang="bg-BG" sz="20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е план, </a:t>
                </a:r>
                <a:r>
                  <a:rPr lang="bg-BG" sz="20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трябва да проверим дали ограниченията са удовлетворени при тези стойности на неизвестните.</a:t>
                </a:r>
              </a:p>
              <a:p>
                <a:pPr>
                  <a:buFont typeface="Varela Round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000" b="0" i="0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 </m:t>
                      </m:r>
                    </m:oMath>
                  </m:oMathPara>
                </a14:m>
                <a:endParaRPr lang="bg-BG" sz="2000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3C17644-FBA4-4848-9B95-2934F645D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262" y="2659451"/>
                <a:ext cx="6311779" cy="1323439"/>
              </a:xfrm>
              <a:prstGeom prst="rect">
                <a:avLst/>
              </a:prstGeom>
              <a:blipFill>
                <a:blip r:embed="rId4"/>
                <a:stretch>
                  <a:fillRect l="-1063" t="-322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6">
                <a:extLst>
                  <a:ext uri="{FF2B5EF4-FFF2-40B4-BE49-F238E27FC236}">
                    <a16:creationId xmlns:a16="http://schemas.microsoft.com/office/drawing/2014/main" id="{EAEE675B-71B9-4CE3-AB1F-2CEF2FE7E921}"/>
                  </a:ext>
                </a:extLst>
              </p:cNvPr>
              <p:cNvSpPr txBox="1"/>
              <p:nvPr/>
            </p:nvSpPr>
            <p:spPr>
              <a:xfrm>
                <a:off x="1088262" y="3954544"/>
                <a:ext cx="4119880" cy="2057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20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=1</m:t>
                              </m:r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0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3</m:t>
                                      </m:r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+6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=18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=1…5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5" name="Object 6">
                <a:extLst>
                  <a:ext uri="{FF2B5EF4-FFF2-40B4-BE49-F238E27FC236}">
                    <a16:creationId xmlns:a16="http://schemas.microsoft.com/office/drawing/2014/main" id="{EAEE675B-71B9-4CE3-AB1F-2CEF2FE7E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262" y="3954544"/>
                <a:ext cx="4119880" cy="2057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F8398F4-F7EE-4D00-8740-ABC9EBF2CC90}"/>
                  </a:ext>
                </a:extLst>
              </p:cNvPr>
              <p:cNvSpPr txBox="1"/>
              <p:nvPr/>
            </p:nvSpPr>
            <p:spPr>
              <a:xfrm>
                <a:off x="5206035" y="3954544"/>
                <a:ext cx="328995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2</m:t>
                      </m:r>
                      <m:r>
                        <a:rPr lang="bg-BG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arela Round"/>
                        </a:rPr>
                        <m:t>×6</m:t>
                      </m:r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r>
                        <a:rPr lang="bg-BG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4</m:t>
                      </m:r>
                      <m:r>
                        <a:rPr lang="bg-BG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arela Round"/>
                        </a:rPr>
                        <m:t>×0</m:t>
                      </m:r>
                      <m:r>
                        <a:rPr lang="en-US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r>
                        <a:rPr lang="bg-BG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8</m:t>
                      </m:r>
                      <m:r>
                        <a:rPr lang="en-US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r>
                        <a:rPr lang="bg-BG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20</m:t>
                      </m:r>
                    </m:oMath>
                  </m:oMathPara>
                </a14:m>
                <a:endParaRPr lang="bg-BG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F8398F4-F7EE-4D00-8740-ABC9EBF2C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6035" y="3954544"/>
                <a:ext cx="3289956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row: Right 20">
            <a:extLst>
              <a:ext uri="{FF2B5EF4-FFF2-40B4-BE49-F238E27FC236}">
                <a16:creationId xmlns:a16="http://schemas.microsoft.com/office/drawing/2014/main" id="{F38D88EF-A71C-4209-905B-36B3FC13EA59}"/>
              </a:ext>
            </a:extLst>
          </p:cNvPr>
          <p:cNvSpPr/>
          <p:nvPr/>
        </p:nvSpPr>
        <p:spPr>
          <a:xfrm>
            <a:off x="4891079" y="4090719"/>
            <a:ext cx="246154" cy="211120"/>
          </a:xfrm>
          <a:prstGeom prst="rightArrow">
            <a:avLst/>
          </a:prstGeom>
          <a:solidFill>
            <a:srgbClr val="AACF20"/>
          </a:solidFill>
          <a:ln>
            <a:solidFill>
              <a:srgbClr val="AAC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5FFCB9-8ADF-4B9B-9FCD-FE6D1AF66EC0}"/>
              </a:ext>
            </a:extLst>
          </p:cNvPr>
          <p:cNvSpPr txBox="1"/>
          <p:nvPr/>
        </p:nvSpPr>
        <p:spPr>
          <a:xfrm>
            <a:off x="5137233" y="4518436"/>
            <a:ext cx="3289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600" dirty="0">
                <a:solidFill>
                  <a:srgbClr val="505670"/>
                </a:solidFill>
                <a:cs typeface="Varela Round"/>
              </a:rPr>
              <a:t>И аналогично проверяваме за останалите ограничения.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8BA5327-BA56-4549-B8A5-B2AA9DA7E02C}"/>
                  </a:ext>
                </a:extLst>
              </p:cNvPr>
              <p:cNvSpPr txBox="1"/>
              <p:nvPr/>
            </p:nvSpPr>
            <p:spPr>
              <a:xfrm>
                <a:off x="1088262" y="5685408"/>
                <a:ext cx="32899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bg-BG" sz="1800" i="1" smtClean="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accPr>
                      <m:e>
                        <m:r>
                          <a:rPr lang="en-US" sz="18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</m:acc>
                  </m:oMath>
                </a14:m>
                <a:r>
                  <a:rPr lang="bg-BG" sz="1800" dirty="0">
                    <a:solidFill>
                      <a:srgbClr val="505670"/>
                    </a:solidFill>
                    <a:cs typeface="Varela Round"/>
                  </a:rPr>
                  <a:t> е план.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8BA5327-BA56-4549-B8A5-B2AA9DA7E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262" y="5685408"/>
                <a:ext cx="3289956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rrow: Right 23">
            <a:extLst>
              <a:ext uri="{FF2B5EF4-FFF2-40B4-BE49-F238E27FC236}">
                <a16:creationId xmlns:a16="http://schemas.microsoft.com/office/drawing/2014/main" id="{C672DB8D-265E-4214-9F93-6CCCF479819C}"/>
              </a:ext>
            </a:extLst>
          </p:cNvPr>
          <p:cNvSpPr/>
          <p:nvPr/>
        </p:nvSpPr>
        <p:spPr>
          <a:xfrm>
            <a:off x="1819512" y="5759458"/>
            <a:ext cx="246154" cy="211120"/>
          </a:xfrm>
          <a:prstGeom prst="rightArrow">
            <a:avLst/>
          </a:prstGeom>
          <a:solidFill>
            <a:srgbClr val="AACF20"/>
          </a:solidFill>
          <a:ln>
            <a:solidFill>
              <a:srgbClr val="AAC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5381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1" grpId="0" animBg="1"/>
      <p:bldP spid="22" grpId="0"/>
      <p:bldP spid="23" grpId="0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9F0D3-2D9F-4A0B-BBF2-E6BC1E8EA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bg-BG" sz="2400" b="1" dirty="0">
                <a:latin typeface="Varela Round"/>
                <a:cs typeface="Varela Round"/>
                <a:sym typeface="Varela Round"/>
              </a:rPr>
              <a:t>Детерминанта от трети ред - пресмятане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4E4DFF-82C6-45AA-BD5E-73293FBB7569}"/>
                  </a:ext>
                </a:extLst>
              </p:cNvPr>
              <p:cNvSpPr txBox="1"/>
              <p:nvPr/>
            </p:nvSpPr>
            <p:spPr>
              <a:xfrm>
                <a:off x="1696948" y="1698045"/>
                <a:ext cx="5498101" cy="34851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det</m:t>
                        </m:r>
                      </m:fName>
                      <m:e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𝐴</m:t>
                        </m:r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=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3600" i="1">
                                <a:solidFill>
                                  <a:srgbClr val="505670"/>
                                </a:solidFill>
                                <a:latin typeface="Cambria Math" panose="02040503050406030204" pitchFamily="18" charset="0"/>
                                <a:ea typeface="Varela Round"/>
                                <a:cs typeface="Varela Round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36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13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21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22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23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31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32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33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</m:func>
                    <m:r>
                      <a:rPr lang="en-US" sz="3600" i="1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=</m:t>
                    </m:r>
                  </m:oMath>
                </a14:m>
                <a:r>
                  <a:rPr lang="en-US" sz="3600" i="1" dirty="0">
                    <a:solidFill>
                      <a:srgbClr val="505670"/>
                    </a:solidFill>
                    <a:latin typeface="Cambria Math" panose="02040503050406030204" pitchFamily="18" charset="0"/>
                    <a:ea typeface="Varela Round"/>
                    <a:cs typeface="Varela Round"/>
                  </a:rPr>
                  <a:t> </a:t>
                </a:r>
              </a:p>
              <a:p>
                <a:endParaRPr lang="en-US" sz="18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𝑎</m:t>
                        </m:r>
                      </m:e>
                      <m:sub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11</m:t>
                        </m:r>
                      </m:sub>
                    </m:sSub>
                    <m:sSub>
                      <m:sSubPr>
                        <m:ctrlP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𝑎</m:t>
                        </m:r>
                      </m:e>
                      <m:sub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22</m:t>
                        </m:r>
                      </m:sub>
                    </m:sSub>
                    <m:sSub>
                      <m:sSubPr>
                        <m:ctrlP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𝑎</m:t>
                        </m:r>
                      </m:e>
                      <m:sub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33</m:t>
                        </m:r>
                      </m:sub>
                    </m:sSub>
                    <m:r>
                      <a:rPr lang="en-US" sz="3600" i="1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+</m:t>
                    </m:r>
                  </m:oMath>
                </a14:m>
                <a:r>
                  <a:rPr lang="en-US" sz="3600" i="1" dirty="0">
                    <a:solidFill>
                      <a:srgbClr val="505670"/>
                    </a:solidFill>
                    <a:latin typeface="Cambria Math" panose="02040503050406030204" pitchFamily="18" charset="0"/>
                    <a:ea typeface="Varela Round"/>
                    <a:cs typeface="Varela Round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𝑎</m:t>
                        </m:r>
                      </m:e>
                      <m:sub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𝑎</m:t>
                        </m:r>
                      </m:e>
                      <m:sub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23</m:t>
                        </m:r>
                      </m:sub>
                    </m:sSub>
                    <m:sSub>
                      <m:sSubPr>
                        <m:ctrlP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𝑎</m:t>
                        </m:r>
                      </m:e>
                      <m:sub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31</m:t>
                        </m:r>
                      </m:sub>
                    </m:sSub>
                    <m:r>
                      <a:rPr lang="en-US" sz="3600" i="1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+</m:t>
                    </m:r>
                    <m:sSub>
                      <m:sSubPr>
                        <m:ctrlP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𝑎</m:t>
                        </m:r>
                      </m:e>
                      <m:sub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13</m:t>
                        </m:r>
                      </m:sub>
                    </m:sSub>
                    <m:sSub>
                      <m:sSubPr>
                        <m:ctrlP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𝑎</m:t>
                        </m:r>
                      </m:e>
                      <m:sub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21</m:t>
                        </m:r>
                      </m:sub>
                    </m:sSub>
                    <m:sSub>
                      <m:sSubPr>
                        <m:ctrlP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𝑎</m:t>
                        </m:r>
                      </m:e>
                      <m:sub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32</m:t>
                        </m:r>
                      </m:sub>
                    </m:sSub>
                    <m:r>
                      <a:rPr lang="en-US" sz="3600" i="1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−</m:t>
                    </m:r>
                    <m:sSub>
                      <m:sSubPr>
                        <m:ctrlP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𝑎</m:t>
                        </m:r>
                      </m:e>
                      <m:sub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13</m:t>
                        </m:r>
                      </m:sub>
                    </m:sSub>
                    <m:sSub>
                      <m:sSubPr>
                        <m:ctrlP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𝑎</m:t>
                        </m:r>
                      </m:e>
                      <m:sub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22</m:t>
                        </m:r>
                      </m:sub>
                    </m:sSub>
                    <m:sSub>
                      <m:sSubPr>
                        <m:ctrlP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𝑎</m:t>
                        </m:r>
                      </m:e>
                      <m:sub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31</m:t>
                        </m:r>
                      </m:sub>
                    </m:sSub>
                    <m:r>
                      <a:rPr lang="en-US" sz="3600" i="1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−</m:t>
                    </m:r>
                    <m:sSub>
                      <m:sSubPr>
                        <m:ctrlP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𝑎</m:t>
                        </m:r>
                      </m:e>
                      <m:sub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𝑎</m:t>
                        </m:r>
                      </m:e>
                      <m:sub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21</m:t>
                        </m:r>
                      </m:sub>
                    </m:sSub>
                    <m:sSub>
                      <m:sSubPr>
                        <m:ctrlP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𝑎</m:t>
                        </m:r>
                      </m:e>
                      <m:sub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33</m:t>
                        </m:r>
                      </m:sub>
                    </m:sSub>
                    <m:r>
                      <a:rPr lang="en-US" sz="3600" i="1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−</m:t>
                    </m:r>
                    <m:sSub>
                      <m:sSubPr>
                        <m:ctrlP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𝑎</m:t>
                        </m:r>
                      </m:e>
                      <m:sub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11</m:t>
                        </m:r>
                      </m:sub>
                    </m:sSub>
                    <m:sSub>
                      <m:sSubPr>
                        <m:ctrlP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𝑎</m:t>
                        </m:r>
                      </m:e>
                      <m:sub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23</m:t>
                        </m:r>
                      </m:sub>
                    </m:sSub>
                    <m:sSub>
                      <m:sSubPr>
                        <m:ctrlP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𝑎</m:t>
                        </m:r>
                      </m:e>
                      <m:sub>
                        <m:r>
                          <a:rPr lang="en-US" sz="3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32</m:t>
                        </m:r>
                      </m:sub>
                    </m:sSub>
                  </m:oMath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4E4DFF-82C6-45AA-BD5E-73293FBB7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948" y="1698045"/>
                <a:ext cx="5498101" cy="34851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13F7962F-8C31-47DC-A208-204F9740D4B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293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EF83D65B-6EE5-498E-AE74-7A8A44C4983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C63C33A-2D67-403F-86B7-FE72C23B7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19" y="205903"/>
            <a:ext cx="6436517" cy="525933"/>
          </a:xfrm>
        </p:spPr>
        <p:txBody>
          <a:bodyPr/>
          <a:lstStyle/>
          <a:p>
            <a:r>
              <a:rPr lang="bg-BG" sz="1800" dirty="0"/>
              <a:t>Зад</a:t>
            </a:r>
            <a:r>
              <a:rPr lang="en-US" sz="1800" dirty="0"/>
              <a:t> </a:t>
            </a:r>
            <a:r>
              <a:rPr lang="bg-BG" sz="1800" dirty="0"/>
              <a:t>10. 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3A221D-DA94-449E-8752-A1F66E83A573}"/>
                  </a:ext>
                </a:extLst>
              </p:cNvPr>
              <p:cNvSpPr txBox="1"/>
              <p:nvPr/>
            </p:nvSpPr>
            <p:spPr>
              <a:xfrm>
                <a:off x="983068" y="846056"/>
                <a:ext cx="7329342" cy="1206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bg-BG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в</a:t>
                </a:r>
                <a:r>
                  <a:rPr lang="en-US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) </a:t>
                </a:r>
                <a:r>
                  <a:rPr lang="bg-BG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Проверете, дали векторът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bg-BG" sz="24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accPr>
                      <m:e>
                        <m:r>
                          <a:rPr lang="en-US" sz="24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</m:acc>
                    <m:r>
                      <a:rPr lang="en-US" sz="240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505670"/>
                                </a:solidFill>
                                <a:latin typeface="Cambria Math" panose="02040503050406030204" pitchFamily="18" charset="0"/>
                                <a:ea typeface="Varela Round"/>
                                <a:cs typeface="Varela Round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5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8</m:t>
                                  </m:r>
                                </m:e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sz="24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bg-BG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е:</a:t>
                </a:r>
              </a:p>
              <a:p>
                <a:pPr marL="342900" indent="-342900">
                  <a:buFontTx/>
                  <a:buChar char="-"/>
                </a:pPr>
                <a:r>
                  <a:rPr lang="bg-BG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Опорен план?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3A221D-DA94-449E-8752-A1F66E83A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068" y="846056"/>
                <a:ext cx="7329342" cy="1206869"/>
              </a:xfrm>
              <a:prstGeom prst="rect">
                <a:avLst/>
              </a:prstGeom>
              <a:blipFill>
                <a:blip r:embed="rId3"/>
                <a:stretch>
                  <a:fillRect l="-1247" t="-4545" b="-1060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8807BA-9070-4614-B374-08F3924EB199}"/>
                  </a:ext>
                </a:extLst>
              </p:cNvPr>
              <p:cNvSpPr txBox="1"/>
              <p:nvPr/>
            </p:nvSpPr>
            <p:spPr>
              <a:xfrm>
                <a:off x="467589" y="2803788"/>
                <a:ext cx="4572000" cy="10665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𝐴</m:t>
                      </m:r>
                      <m:r>
                        <a:rPr lang="en-US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8807BA-9070-4614-B374-08F3924EB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89" y="2803788"/>
                <a:ext cx="4572000" cy="10665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Right 11">
            <a:extLst>
              <a:ext uri="{FF2B5EF4-FFF2-40B4-BE49-F238E27FC236}">
                <a16:creationId xmlns:a16="http://schemas.microsoft.com/office/drawing/2014/main" id="{4E5BD740-5A8D-464E-B70E-7C62BDE9C5A4}"/>
              </a:ext>
            </a:extLst>
          </p:cNvPr>
          <p:cNvSpPr/>
          <p:nvPr/>
        </p:nvSpPr>
        <p:spPr>
          <a:xfrm rot="5400000">
            <a:off x="2025331" y="2451689"/>
            <a:ext cx="246154" cy="211120"/>
          </a:xfrm>
          <a:prstGeom prst="rightArrow">
            <a:avLst/>
          </a:prstGeom>
          <a:solidFill>
            <a:srgbClr val="AACF20"/>
          </a:solidFill>
          <a:ln>
            <a:solidFill>
              <a:srgbClr val="AAC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8F64BC9-D4F0-4D60-A911-22EAEA9B21F3}"/>
              </a:ext>
            </a:extLst>
          </p:cNvPr>
          <p:cNvSpPr/>
          <p:nvPr/>
        </p:nvSpPr>
        <p:spPr>
          <a:xfrm rot="5400000">
            <a:off x="2953395" y="2449046"/>
            <a:ext cx="246154" cy="211120"/>
          </a:xfrm>
          <a:prstGeom prst="rightArrow">
            <a:avLst/>
          </a:prstGeom>
          <a:solidFill>
            <a:srgbClr val="AACF20"/>
          </a:solidFill>
          <a:ln>
            <a:solidFill>
              <a:srgbClr val="AAC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0EFB36F-2153-449D-843A-CEA565E12BD6}"/>
              </a:ext>
            </a:extLst>
          </p:cNvPr>
          <p:cNvSpPr/>
          <p:nvPr/>
        </p:nvSpPr>
        <p:spPr>
          <a:xfrm rot="5400000">
            <a:off x="3391266" y="2450863"/>
            <a:ext cx="246154" cy="211120"/>
          </a:xfrm>
          <a:prstGeom prst="rightArrow">
            <a:avLst/>
          </a:prstGeom>
          <a:solidFill>
            <a:srgbClr val="AACF20"/>
          </a:solidFill>
          <a:ln>
            <a:solidFill>
              <a:srgbClr val="AAC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E273E7-D13D-435B-93AA-293C44DD1A48}"/>
                  </a:ext>
                </a:extLst>
              </p:cNvPr>
              <p:cNvSpPr txBox="1"/>
              <p:nvPr/>
            </p:nvSpPr>
            <p:spPr>
              <a:xfrm>
                <a:off x="815428" y="3990683"/>
                <a:ext cx="6678881" cy="1162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funcPr>
                        <m:fName>
                          <m:r>
                            <a:rPr lang="en-US" sz="20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 </m:t>
                          </m:r>
                        </m:fName>
                        <m:e>
                          <m:eqArr>
                            <m:eqArrPr>
                              <m:ctrlPr>
                                <a:rPr lang="en-US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det</m:t>
                              </m:r>
                              <m:r>
                                <a:rPr lang="en-US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2</m:t>
                                        </m:r>
                                      </m:e>
                                      <m:e>
                                        <m: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3</m:t>
                                        </m:r>
                                      </m:e>
                                      <m:e>
                                        <m: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=2</m:t>
                              </m:r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×0×0+1×1×3+0×1×0−3×0×0−</m:t>
                              </m:r>
                            </m:e>
                            <m:e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−1×1×0−</m:t>
                              </m:r>
                              <m:r>
                                <a:rPr lang="en-US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2</m:t>
                              </m:r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×0×</m:t>
                              </m:r>
                              <m:r>
                                <a:rPr lang="en-US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1</m:t>
                              </m:r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=3</m:t>
                              </m:r>
                            </m:e>
                          </m:eqArr>
                        </m:e>
                      </m:func>
                    </m:oMath>
                  </m:oMathPara>
                </a14:m>
                <a:endParaRPr lang="bg-BG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E273E7-D13D-435B-93AA-293C44DD1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28" y="3990683"/>
                <a:ext cx="6678881" cy="1162947"/>
              </a:xfrm>
              <a:prstGeom prst="rect">
                <a:avLst/>
              </a:prstGeom>
              <a:blipFill>
                <a:blip r:embed="rId5"/>
                <a:stretch>
                  <a:fillRect r="-1305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16B00A7-7C56-4AAA-8127-30DE430556DF}"/>
                  </a:ext>
                </a:extLst>
              </p:cNvPr>
              <p:cNvSpPr txBox="1"/>
              <p:nvPr/>
            </p:nvSpPr>
            <p:spPr>
              <a:xfrm>
                <a:off x="1088262" y="5685408"/>
                <a:ext cx="32899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bg-BG" sz="1800" i="1" smtClean="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accPr>
                      <m:e>
                        <m:r>
                          <a:rPr lang="en-US" sz="18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</m:acc>
                  </m:oMath>
                </a14:m>
                <a:r>
                  <a:rPr lang="bg-BG" sz="1800" dirty="0">
                    <a:solidFill>
                      <a:srgbClr val="505670"/>
                    </a:solidFill>
                    <a:cs typeface="Varela Round"/>
                  </a:rPr>
                  <a:t> е опорен план.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16B00A7-7C56-4AAA-8127-30DE43055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262" y="5685408"/>
                <a:ext cx="3289956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rrow: Right 18">
            <a:extLst>
              <a:ext uri="{FF2B5EF4-FFF2-40B4-BE49-F238E27FC236}">
                <a16:creationId xmlns:a16="http://schemas.microsoft.com/office/drawing/2014/main" id="{38F009B9-5167-44C7-B027-7E49260F5471}"/>
              </a:ext>
            </a:extLst>
          </p:cNvPr>
          <p:cNvSpPr/>
          <p:nvPr/>
        </p:nvSpPr>
        <p:spPr>
          <a:xfrm>
            <a:off x="1272757" y="5800824"/>
            <a:ext cx="246154" cy="211120"/>
          </a:xfrm>
          <a:prstGeom prst="rightArrow">
            <a:avLst/>
          </a:prstGeom>
          <a:solidFill>
            <a:srgbClr val="AACF20"/>
          </a:solidFill>
          <a:ln>
            <a:solidFill>
              <a:srgbClr val="AAC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609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 animBg="1"/>
      <p:bldP spid="14" grpId="0" animBg="1"/>
      <p:bldP spid="16" grpId="0"/>
      <p:bldP spid="15" grpId="0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C63C33A-2D67-403F-86B7-FE72C23B7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19" y="205903"/>
            <a:ext cx="6436517" cy="525933"/>
          </a:xfrm>
        </p:spPr>
        <p:txBody>
          <a:bodyPr/>
          <a:lstStyle/>
          <a:p>
            <a:r>
              <a:rPr lang="bg-BG" sz="1800" dirty="0"/>
              <a:t>Зад. 11 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5">
                <a:extLst>
                  <a:ext uri="{FF2B5EF4-FFF2-40B4-BE49-F238E27FC236}">
                    <a16:creationId xmlns:a16="http://schemas.microsoft.com/office/drawing/2014/main" id="{26FE986D-8759-4725-AD46-EBF6D7CED611}"/>
                  </a:ext>
                </a:extLst>
              </p:cNvPr>
              <p:cNvSpPr txBox="1"/>
              <p:nvPr/>
            </p:nvSpPr>
            <p:spPr>
              <a:xfrm>
                <a:off x="1080331" y="1498249"/>
                <a:ext cx="7191376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d>
                        <m:dPr>
                          <m:ctrlPr>
                            <a:rPr lang="bg-BG" sz="24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r>
                            <a:rPr lang="bg-BG" sz="24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</m:d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r>
                        <a:rPr lang="bg-BG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−3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</m:sub>
                      </m:sSub>
                      <m:r>
                        <a:rPr lang="bg-BG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  <m:sSup>
                            <m:sSupPr>
                              <m:ctrlP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sSupPr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bg-BG" sz="24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  <m:r>
                            <a:rPr lang="bg-BG" sz="24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′</m:t>
                          </m:r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′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a:rPr lang="en-US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𝑚𝑎𝑥</m:t>
                      </m:r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7" name="Object 5">
                <a:extLst>
                  <a:ext uri="{FF2B5EF4-FFF2-40B4-BE49-F238E27FC236}">
                    <a16:creationId xmlns:a16="http://schemas.microsoft.com/office/drawing/2014/main" id="{26FE986D-8759-4725-AD46-EBF6D7CED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31" y="1498249"/>
                <a:ext cx="7191376" cy="428625"/>
              </a:xfrm>
              <a:prstGeom prst="rect">
                <a:avLst/>
              </a:prstGeom>
              <a:blipFill>
                <a:blip r:embed="rId2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83F35068-7A1F-4AA7-AA6C-929610757D93}"/>
                  </a:ext>
                </a:extLst>
              </p:cNvPr>
              <p:cNvSpPr txBox="1"/>
              <p:nvPr/>
            </p:nvSpPr>
            <p:spPr>
              <a:xfrm>
                <a:off x="971013" y="2020313"/>
                <a:ext cx="5788006" cy="2057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−21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  <m:sSup>
                                    <m:sSupPr>
                                      <m:ctrlPr>
                                        <a:rPr lang="bg-BG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  <m:sSup>
                                    <m:sSupPr>
                                      <m:ctrlP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  <m:r>
                                        <a:rPr lang="bg-BG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5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  <m:sSup>
                                    <m:sSupPr>
                                      <m:ctrlP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  <m:sSup>
                                    <m:sSupPr>
                                      <m:ctrlP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7</m:t>
                                      </m:r>
                                    </m:den>
                                  </m:f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fPr>
                                <m:num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7</m:t>
                                  </m:r>
                                </m:den>
                              </m:f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=1,2,4,5,6 ,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</m:t>
                              </m:r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′′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83F35068-7A1F-4AA7-AA6C-929610757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013" y="2020313"/>
                <a:ext cx="5788006" cy="2057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AA23A730-FE54-4C42-8216-0387D1EB9112}"/>
                  </a:ext>
                </a:extLst>
              </p:cNvPr>
              <p:cNvSpPr txBox="1"/>
              <p:nvPr/>
            </p:nvSpPr>
            <p:spPr>
              <a:xfrm>
                <a:off x="1080331" y="923826"/>
                <a:ext cx="7191376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18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Дадена е следната задача:</m:t>
                      </m:r>
                    </m:oMath>
                  </m:oMathPara>
                </a14:m>
                <a:endParaRPr lang="bg-BG" sz="18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AA23A730-FE54-4C42-8216-0387D1EB9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31" y="923826"/>
                <a:ext cx="7191376" cy="428625"/>
              </a:xfrm>
              <a:prstGeom prst="rect">
                <a:avLst/>
              </a:prstGeom>
              <a:blipFill>
                <a:blip r:embed="rId4"/>
                <a:stretch>
                  <a:fillRect l="-16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91160D65-9494-48DA-ADFA-1D118C91077A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5ACEA2-4A3F-43EA-B965-12CD4848D5B2}"/>
                  </a:ext>
                </a:extLst>
              </p:cNvPr>
              <p:cNvSpPr txBox="1"/>
              <p:nvPr/>
            </p:nvSpPr>
            <p:spPr>
              <a:xfrm>
                <a:off x="1193452" y="4171152"/>
                <a:ext cx="4572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bg-BG" sz="1800" b="0" i="1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Преобразувайте я в базисно представяне.</m:t>
                    </m:r>
                  </m:oMath>
                </a14:m>
                <a:r>
                  <a:rPr lang="bg-BG" sz="1800" i="1" dirty="0">
                    <a:solidFill>
                      <a:srgbClr val="505670"/>
                    </a:solidFill>
                    <a:latin typeface="Cambria Math" panose="02040503050406030204" pitchFamily="18" charset="0"/>
                    <a:ea typeface="Varela Round"/>
                    <a:cs typeface="Varela Round"/>
                  </a:rPr>
                  <a:t> </a:t>
                </a:r>
                <a:r>
                  <a:rPr lang="bg-BG" sz="1800" dirty="0">
                    <a:solidFill>
                      <a:srgbClr val="505670"/>
                    </a:solidFill>
                    <a:latin typeface="Cambria Math" panose="02040503050406030204" pitchFamily="18" charset="0"/>
                    <a:ea typeface="Varela Round"/>
                    <a:cs typeface="Varela Round"/>
                  </a:rPr>
                  <a:t>Определете началния опорен план.</a:t>
                </a:r>
                <a:endParaRPr lang="bg-BG" sz="18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5ACEA2-4A3F-43EA-B965-12CD4848D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452" y="4171152"/>
                <a:ext cx="4572000" cy="646331"/>
              </a:xfrm>
              <a:prstGeom prst="rect">
                <a:avLst/>
              </a:prstGeom>
              <a:blipFill>
                <a:blip r:embed="rId6"/>
                <a:stretch>
                  <a:fillRect l="-1200" b="-1320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9535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3DD301E6-2E70-4443-B04C-D0D58C09DB28}"/>
                  </a:ext>
                </a:extLst>
              </p:cNvPr>
              <p:cNvSpPr txBox="1"/>
              <p:nvPr/>
            </p:nvSpPr>
            <p:spPr>
              <a:xfrm>
                <a:off x="1090491" y="3560729"/>
                <a:ext cx="7191376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0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d>
                        <m:dPr>
                          <m:ctrlPr>
                            <a:rPr lang="bg-BG" sz="20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r>
                            <a:rPr lang="bg-BG" sz="20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</m:d>
                      <m:r>
                        <a:rPr lang="bg-BG" sz="20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r>
                        <a:rPr lang="bg-BG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−3</m:t>
                      </m:r>
                      <m:sSub>
                        <m:sSub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sSub>
                        <m:sSub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</m:sub>
                      </m:sSub>
                      <m:r>
                        <a:rPr lang="bg-BG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</m:t>
                      </m:r>
                      <m:sSub>
                        <m:sSub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0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  <m:sSup>
                            <m:sSupPr>
                              <m:ctrlP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sSupPr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bg-BG" sz="20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sSub>
                        <m:sSub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  <m:r>
                            <a:rPr lang="bg-BG" sz="20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′</m:t>
                          </m:r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′</m:t>
                          </m:r>
                        </m:e>
                        <m:sub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a:rPr lang="en-US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𝑚𝑎𝑥</m:t>
                      </m:r>
                    </m:oMath>
                  </m:oMathPara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3DD301E6-2E70-4443-B04C-D0D58C09D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491" y="3560729"/>
                <a:ext cx="7191376" cy="4286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79EF2BDB-F228-48AE-9785-F3C21AA02BAB}"/>
                  </a:ext>
                </a:extLst>
              </p:cNvPr>
              <p:cNvSpPr txBox="1"/>
              <p:nvPr/>
            </p:nvSpPr>
            <p:spPr>
              <a:xfrm>
                <a:off x="981173" y="4082793"/>
                <a:ext cx="5788006" cy="2057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0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0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−</m:t>
                                  </m:r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000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b="0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21</m:t>
                              </m:r>
                            </m:e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00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  <m:sSup>
                                    <m:sSupPr>
                                      <m:ctrlPr>
                                        <a:rPr lang="bg-BG" sz="20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0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  <m:sSup>
                                    <m:sSupPr>
                                      <m:ctrlP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  <m:r>
                                        <a:rPr lang="bg-BG" sz="20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000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b="0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5</m:t>
                              </m:r>
                            </m:e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21</m:t>
                                  </m:r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28</m:t>
                                  </m:r>
                                  <m:sSup>
                                    <m:sSupPr>
                                      <m:ctrlPr>
                                        <a:rPr lang="bg-BG" sz="200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28</m:t>
                                  </m:r>
                                  <m:sSup>
                                    <m:sSupPr>
                                      <m:ctrlP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000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b="0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=1</m:t>
                              </m:r>
                            </m:e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r>
                                <a:rPr lang="en-US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=1,2,4,5,6 ,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</m:t>
                              </m:r>
                              <m:r>
                                <a:rPr lang="en-US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′′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79EF2BDB-F228-48AE-9785-F3C21AA02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73" y="4082793"/>
                <a:ext cx="5788006" cy="2057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B6C1EA73-4E88-4880-AB9B-2F500D8434F2}"/>
                  </a:ext>
                </a:extLst>
              </p:cNvPr>
              <p:cNvSpPr txBox="1"/>
              <p:nvPr/>
            </p:nvSpPr>
            <p:spPr>
              <a:xfrm>
                <a:off x="1080331" y="848009"/>
                <a:ext cx="7191376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0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d>
                        <m:dPr>
                          <m:ctrlPr>
                            <a:rPr lang="bg-BG" sz="20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r>
                            <a:rPr lang="bg-BG" sz="20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</m:d>
                      <m:r>
                        <a:rPr lang="bg-BG" sz="20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r>
                        <a:rPr lang="bg-BG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−3</m:t>
                      </m:r>
                      <m:sSub>
                        <m:sSub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sSub>
                        <m:sSub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</m:sub>
                      </m:sSub>
                      <m:r>
                        <a:rPr lang="bg-BG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</m:t>
                      </m:r>
                      <m:sSub>
                        <m:sSub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0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  <m:sSup>
                            <m:sSupPr>
                              <m:ctrlP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sSupPr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bg-BG" sz="20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sSub>
                        <m:sSub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  <m:r>
                            <a:rPr lang="bg-BG" sz="20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′</m:t>
                          </m:r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′</m:t>
                          </m:r>
                        </m:e>
                        <m:sub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a:rPr lang="en-US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𝑚𝑎𝑥</m:t>
                      </m:r>
                    </m:oMath>
                  </m:oMathPara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B6C1EA73-4E88-4880-AB9B-2F500D843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31" y="848009"/>
                <a:ext cx="7191376" cy="4286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6">
                <a:extLst>
                  <a:ext uri="{FF2B5EF4-FFF2-40B4-BE49-F238E27FC236}">
                    <a16:creationId xmlns:a16="http://schemas.microsoft.com/office/drawing/2014/main" id="{3F12B68A-846B-4B27-B1C5-F71596B50A99}"/>
                  </a:ext>
                </a:extLst>
              </p:cNvPr>
              <p:cNvSpPr txBox="1"/>
              <p:nvPr/>
            </p:nvSpPr>
            <p:spPr>
              <a:xfrm>
                <a:off x="971013" y="1370073"/>
                <a:ext cx="5788006" cy="2057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0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0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−21</m:t>
                              </m:r>
                            </m:e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00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  <m:sSup>
                                    <m:sSupPr>
                                      <m:ctrlPr>
                                        <a:rPr lang="bg-BG" sz="20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0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  <m:sSup>
                                    <m:sSupPr>
                                      <m:ctrlP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  <m:r>
                                        <a:rPr lang="bg-BG" sz="20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5</m:t>
                              </m:r>
                            </m:e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  <m:sSup>
                                    <m:sSupPr>
                                      <m:ctrlP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  <m:sSup>
                                    <m:sSupPr>
                                      <m:ctrlP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7</m:t>
                                      </m:r>
                                    </m:den>
                                  </m:f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fPr>
                                <m:num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bg-BG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7</m:t>
                                  </m:r>
                                </m:den>
                              </m:f>
                            </m:e>
                            <m:e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r>
                                <a:rPr lang="en-US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=1,2,4,5,6 ,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</m:t>
                              </m:r>
                              <m:r>
                                <a:rPr lang="en-US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′′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8" name="Object 6">
                <a:extLst>
                  <a:ext uri="{FF2B5EF4-FFF2-40B4-BE49-F238E27FC236}">
                    <a16:creationId xmlns:a16="http://schemas.microsoft.com/office/drawing/2014/main" id="{3F12B68A-846B-4B27-B1C5-F71596B50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013" y="1370073"/>
                <a:ext cx="5788006" cy="2057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670AE4-87FA-42DC-8C5F-1462C249084E}"/>
                  </a:ext>
                </a:extLst>
              </p:cNvPr>
              <p:cNvSpPr txBox="1"/>
              <p:nvPr/>
            </p:nvSpPr>
            <p:spPr>
              <a:xfrm>
                <a:off x="2975291" y="1370073"/>
                <a:ext cx="23854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Varela Round"/>
                        </a:rPr>
                        <m:t>×</m:t>
                      </m:r>
                      <m:r>
                        <a:rPr lang="bg-BG" sz="18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Varela Round"/>
                        </a:rPr>
                        <m:t>−</m:t>
                      </m:r>
                      <m:r>
                        <a:rPr lang="bg-BG" sz="18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Varela Round"/>
                        </a:rPr>
                        <m:t>𝟏</m:t>
                      </m:r>
                    </m:oMath>
                  </m:oMathPara>
                </a14:m>
                <a:endParaRPr lang="bg-BG" sz="1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670AE4-87FA-42DC-8C5F-1462C2490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291" y="1370073"/>
                <a:ext cx="238545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90AAEBF-1A3F-4FDD-B15F-0B8E6EF356E0}"/>
                  </a:ext>
                </a:extLst>
              </p:cNvPr>
              <p:cNvSpPr txBox="1"/>
              <p:nvPr/>
            </p:nvSpPr>
            <p:spPr>
              <a:xfrm>
                <a:off x="4906951" y="2210059"/>
                <a:ext cx="907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Varela Round"/>
                        </a:rPr>
                        <m:t>×</m:t>
                      </m:r>
                      <m:r>
                        <a:rPr lang="bg-BG" sz="18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Varela Round"/>
                        </a:rPr>
                        <m:t>−</m:t>
                      </m:r>
                      <m:r>
                        <a:rPr lang="bg-BG" sz="1800" b="1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Varela Round"/>
                        </a:rPr>
                        <m:t>𝟕</m:t>
                      </m:r>
                    </m:oMath>
                  </m:oMathPara>
                </a14:m>
                <a:endParaRPr lang="bg-BG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90AAEBF-1A3F-4FDD-B15F-0B8E6EF35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951" y="2210059"/>
                <a:ext cx="90759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33062474-BD3D-4E03-8CDD-24FAE453924D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E4E3CCF-AF44-4F5A-9303-D2EB8FE5E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19" y="205903"/>
            <a:ext cx="6436517" cy="525933"/>
          </a:xfrm>
        </p:spPr>
        <p:txBody>
          <a:bodyPr/>
          <a:lstStyle/>
          <a:p>
            <a:r>
              <a:rPr lang="bg-BG" sz="1800" dirty="0"/>
              <a:t>Зад. 11 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5">
                <a:extLst>
                  <a:ext uri="{FF2B5EF4-FFF2-40B4-BE49-F238E27FC236}">
                    <a16:creationId xmlns:a16="http://schemas.microsoft.com/office/drawing/2014/main" id="{552FBC07-A7C7-4BF3-A6AA-E88EEDE10C1D}"/>
                  </a:ext>
                </a:extLst>
              </p:cNvPr>
              <p:cNvSpPr txBox="1"/>
              <p:nvPr/>
            </p:nvSpPr>
            <p:spPr>
              <a:xfrm>
                <a:off x="1763034" y="5649747"/>
                <a:ext cx="4353286" cy="40682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bg-BG" sz="20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pPr>
                        <m:e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p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)</m:t>
                          </m:r>
                        </m:sup>
                      </m:sSup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sSup>
                        <m:sSup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7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bg-BG" sz="2000" i="1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bg-BG" sz="2000" i="1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21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3" name="Object 5">
                <a:extLst>
                  <a:ext uri="{FF2B5EF4-FFF2-40B4-BE49-F238E27FC236}">
                    <a16:creationId xmlns:a16="http://schemas.microsoft.com/office/drawing/2014/main" id="{552FBC07-A7C7-4BF3-A6AA-E88EEDE10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034" y="5649747"/>
                <a:ext cx="4353286" cy="4068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486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0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C63C33A-2D67-403F-86B7-FE72C23B7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19" y="205903"/>
            <a:ext cx="6436517" cy="525933"/>
          </a:xfrm>
        </p:spPr>
        <p:txBody>
          <a:bodyPr/>
          <a:lstStyle/>
          <a:p>
            <a:r>
              <a:rPr lang="bg-BG" sz="1800" dirty="0"/>
              <a:t>Зад </a:t>
            </a:r>
            <a:r>
              <a:rPr lang="en-US" sz="1800" dirty="0"/>
              <a:t>1</a:t>
            </a:r>
            <a:r>
              <a:rPr lang="bg-BG" sz="1800" dirty="0"/>
              <a:t>2. 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5">
                <a:extLst>
                  <a:ext uri="{FF2B5EF4-FFF2-40B4-BE49-F238E27FC236}">
                    <a16:creationId xmlns:a16="http://schemas.microsoft.com/office/drawing/2014/main" id="{26FE986D-8759-4725-AD46-EBF6D7CED611}"/>
                  </a:ext>
                </a:extLst>
              </p:cNvPr>
              <p:cNvSpPr txBox="1"/>
              <p:nvPr/>
            </p:nvSpPr>
            <p:spPr>
              <a:xfrm>
                <a:off x="1080331" y="1498249"/>
                <a:ext cx="7191376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d>
                        <m:dPr>
                          <m:ctrlPr>
                            <a:rPr lang="bg-BG" sz="24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r>
                            <a:rPr lang="bg-BG" sz="24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</m:d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r>
                        <a:rPr lang="bg-BG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−6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</m:sub>
                      </m:sSub>
                      <m:r>
                        <a:rPr lang="bg-BG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5</m:t>
                          </m:r>
                          <m:sSup>
                            <m:sSupPr>
                              <m:ctrlP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sSupPr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bg-BG" sz="24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5</m:t>
                          </m:r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  <m:r>
                            <a:rPr lang="bg-BG" sz="24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′</m:t>
                          </m:r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′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4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a:rPr lang="en-US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𝑚𝑎𝑥</m:t>
                      </m:r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7" name="Object 5">
                <a:extLst>
                  <a:ext uri="{FF2B5EF4-FFF2-40B4-BE49-F238E27FC236}">
                    <a16:creationId xmlns:a16="http://schemas.microsoft.com/office/drawing/2014/main" id="{26FE986D-8759-4725-AD46-EBF6D7CED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31" y="1498249"/>
                <a:ext cx="7191376" cy="428625"/>
              </a:xfrm>
              <a:prstGeom prst="rect">
                <a:avLst/>
              </a:prstGeom>
              <a:blipFill>
                <a:blip r:embed="rId2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83F35068-7A1F-4AA7-AA6C-929610757D93}"/>
                  </a:ext>
                </a:extLst>
              </p:cNvPr>
              <p:cNvSpPr txBox="1"/>
              <p:nvPr/>
            </p:nvSpPr>
            <p:spPr>
              <a:xfrm>
                <a:off x="971013" y="2020313"/>
                <a:ext cx="5788006" cy="2057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10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  <m:sSup>
                                    <m:sSupPr>
                                      <m:ctrlPr>
                                        <a:rPr lang="bg-BG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  <m:sSup>
                                    <m:sSupPr>
                                      <m:ctrlP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  <m:r>
                                        <a:rPr lang="bg-BG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5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  <m:sSup>
                                    <m:sSupPr>
                                      <m:ctrlP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  <m:sSup>
                                    <m:sSupPr>
                                      <m:ctrlP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fPr>
                                <m:num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𝑗</m:t>
                              </m:r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=1,2,4,5,6 ,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</m:t>
                              </m:r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′′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</m:t>
                              </m:r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83F35068-7A1F-4AA7-AA6C-929610757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013" y="2020313"/>
                <a:ext cx="5788006" cy="2057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AA23A730-FE54-4C42-8216-0387D1EB9112}"/>
                  </a:ext>
                </a:extLst>
              </p:cNvPr>
              <p:cNvSpPr txBox="1"/>
              <p:nvPr/>
            </p:nvSpPr>
            <p:spPr>
              <a:xfrm>
                <a:off x="1080331" y="923826"/>
                <a:ext cx="7191376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18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Дадена е следната задача:</m:t>
                      </m:r>
                    </m:oMath>
                  </m:oMathPara>
                </a14:m>
                <a:endParaRPr lang="bg-BG" sz="18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AA23A730-FE54-4C42-8216-0387D1EB9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31" y="923826"/>
                <a:ext cx="7191376" cy="428625"/>
              </a:xfrm>
              <a:prstGeom prst="rect">
                <a:avLst/>
              </a:prstGeom>
              <a:blipFill>
                <a:blip r:embed="rId4"/>
                <a:stretch>
                  <a:fillRect l="-16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5FF9F4-D908-45E8-889C-4B6AA85EF1D3}"/>
                  </a:ext>
                </a:extLst>
              </p:cNvPr>
              <p:cNvSpPr txBox="1"/>
              <p:nvPr/>
            </p:nvSpPr>
            <p:spPr>
              <a:xfrm>
                <a:off x="5595769" y="3030685"/>
                <a:ext cx="5693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arela Round"/>
                        </a:rPr>
                        <m:t>÷</m:t>
                      </m:r>
                      <m:r>
                        <a:rPr lang="en-US" sz="1800" b="0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arela Round"/>
                        </a:rPr>
                        <m:t>3</m:t>
                      </m:r>
                    </m:oMath>
                  </m:oMathPara>
                </a14:m>
                <a:endParaRPr lang="bg-BG" sz="1800" dirty="0">
                  <a:solidFill>
                    <a:srgbClr val="EA3A68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5FF9F4-D908-45E8-889C-4B6AA85EF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769" y="3030685"/>
                <a:ext cx="56936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9CCE1A95-ADF3-474A-9506-50EE4D5466AA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88A8B5-1C30-4658-9C54-CB1ACCE002A2}"/>
                  </a:ext>
                </a:extLst>
              </p:cNvPr>
              <p:cNvSpPr txBox="1"/>
              <p:nvPr/>
            </p:nvSpPr>
            <p:spPr>
              <a:xfrm>
                <a:off x="1193452" y="4171152"/>
                <a:ext cx="4572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bg-BG" sz="1800" b="0" i="1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Преобразувайте я в базисно представяне.</m:t>
                    </m:r>
                  </m:oMath>
                </a14:m>
                <a:r>
                  <a:rPr lang="bg-BG" sz="1800" i="1" dirty="0">
                    <a:solidFill>
                      <a:srgbClr val="505670"/>
                    </a:solidFill>
                    <a:latin typeface="Cambria Math" panose="02040503050406030204" pitchFamily="18" charset="0"/>
                    <a:ea typeface="Varela Round"/>
                    <a:cs typeface="Varela Round"/>
                  </a:rPr>
                  <a:t> </a:t>
                </a:r>
                <a:r>
                  <a:rPr lang="bg-BG" sz="1800" dirty="0">
                    <a:solidFill>
                      <a:srgbClr val="505670"/>
                    </a:solidFill>
                    <a:latin typeface="Cambria Math" panose="02040503050406030204" pitchFamily="18" charset="0"/>
                    <a:ea typeface="Varela Round"/>
                    <a:cs typeface="Varela Round"/>
                  </a:rPr>
                  <a:t>Определете началния опорен план.</a:t>
                </a:r>
                <a:endParaRPr lang="bg-BG" sz="18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88A8B5-1C30-4658-9C54-CB1ACCE00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452" y="4171152"/>
                <a:ext cx="4572000" cy="646331"/>
              </a:xfrm>
              <a:prstGeom prst="rect">
                <a:avLst/>
              </a:prstGeom>
              <a:blipFill>
                <a:blip r:embed="rId8"/>
                <a:stretch>
                  <a:fillRect l="-1200" b="-1320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1215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C63C33A-2D67-403F-86B7-FE72C23B7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19" y="205903"/>
            <a:ext cx="6436517" cy="525933"/>
          </a:xfrm>
        </p:spPr>
        <p:txBody>
          <a:bodyPr/>
          <a:lstStyle/>
          <a:p>
            <a:r>
              <a:rPr lang="bg-BG" sz="1800" dirty="0"/>
              <a:t>Зад </a:t>
            </a:r>
            <a:r>
              <a:rPr lang="en-US" sz="1800" dirty="0"/>
              <a:t>1</a:t>
            </a:r>
            <a:r>
              <a:rPr lang="bg-BG" sz="1800" dirty="0"/>
              <a:t>2. 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5">
                <a:extLst>
                  <a:ext uri="{FF2B5EF4-FFF2-40B4-BE49-F238E27FC236}">
                    <a16:creationId xmlns:a16="http://schemas.microsoft.com/office/drawing/2014/main" id="{26FE986D-8759-4725-AD46-EBF6D7CED611}"/>
                  </a:ext>
                </a:extLst>
              </p:cNvPr>
              <p:cNvSpPr txBox="1"/>
              <p:nvPr/>
            </p:nvSpPr>
            <p:spPr>
              <a:xfrm>
                <a:off x="1080331" y="1498249"/>
                <a:ext cx="7191376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d>
                        <m:dPr>
                          <m:ctrlPr>
                            <a:rPr lang="bg-BG" sz="24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r>
                            <a:rPr lang="bg-BG" sz="24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</m:d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r>
                        <a:rPr lang="bg-BG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−6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</m:sub>
                      </m:sSub>
                      <m:r>
                        <a:rPr lang="bg-BG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5</m:t>
                          </m:r>
                          <m:sSup>
                            <m:sSupPr>
                              <m:ctrlP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sSupPr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bg-BG" sz="24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−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5</m:t>
                          </m:r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  <m:r>
                            <a:rPr lang="bg-BG" sz="24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′</m:t>
                          </m:r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′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3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4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a:rPr lang="en-US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𝑚𝑎𝑥</m:t>
                      </m:r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7" name="Object 5">
                <a:extLst>
                  <a:ext uri="{FF2B5EF4-FFF2-40B4-BE49-F238E27FC236}">
                    <a16:creationId xmlns:a16="http://schemas.microsoft.com/office/drawing/2014/main" id="{26FE986D-8759-4725-AD46-EBF6D7CED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31" y="1498249"/>
                <a:ext cx="7191376" cy="428625"/>
              </a:xfrm>
              <a:prstGeom prst="rect">
                <a:avLst/>
              </a:prstGeom>
              <a:blipFill>
                <a:blip r:embed="rId2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83F35068-7A1F-4AA7-AA6C-929610757D93}"/>
                  </a:ext>
                </a:extLst>
              </p:cNvPr>
              <p:cNvSpPr txBox="1"/>
              <p:nvPr/>
            </p:nvSpPr>
            <p:spPr>
              <a:xfrm>
                <a:off x="971013" y="2020313"/>
                <a:ext cx="5788006" cy="2057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10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  <m:sSup>
                                    <m:sSupPr>
                                      <m:ctrlPr>
                                        <a:rPr lang="bg-BG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  <m:sSup>
                                    <m:sSupPr>
                                      <m:ctrlP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  <m:r>
                                        <a:rPr lang="bg-BG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5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en-US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3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cs typeface="Varela Round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cs typeface="Varela Round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cs typeface="Varela Round"/>
                                        </a:rPr>
                                        <m:t>′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cs typeface="Varela Round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en-US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3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cs typeface="Varela Round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cs typeface="Varela Round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cs typeface="Varela Round"/>
                                        </a:rPr>
                                        <m:t>′′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cs typeface="Varela Round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fPr>
                                <m:num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6</m:t>
                                  </m:r>
                                </m:den>
                              </m:f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𝑗</m:t>
                              </m:r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=1,2,4,5,6 ,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</m:t>
                              </m:r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′′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</m:t>
                              </m:r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83F35068-7A1F-4AA7-AA6C-929610757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013" y="2020313"/>
                <a:ext cx="5788006" cy="2057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CEB72E5-0508-4AFA-B4CA-709B26AB1D38}"/>
                  </a:ext>
                </a:extLst>
              </p:cNvPr>
              <p:cNvSpPr txBox="1"/>
              <p:nvPr/>
            </p:nvSpPr>
            <p:spPr>
              <a:xfrm>
                <a:off x="1080331" y="897532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18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Базисно представяне:</m:t>
                      </m:r>
                    </m:oMath>
                  </m:oMathPara>
                </a14:m>
                <a:endParaRPr lang="bg-BG" sz="18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CEB72E5-0508-4AFA-B4CA-709B26AB1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31" y="897532"/>
                <a:ext cx="4572000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1BF4DF1-D61A-4E16-A139-A3D71866D127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3E14DFDE-3703-4E0B-955F-46F037AEE099}"/>
                  </a:ext>
                </a:extLst>
              </p:cNvPr>
              <p:cNvSpPr txBox="1"/>
              <p:nvPr/>
            </p:nvSpPr>
            <p:spPr>
              <a:xfrm>
                <a:off x="1688373" y="4627752"/>
                <a:ext cx="4353286" cy="40682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bg-BG" sz="20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pPr>
                        <m:e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p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)</m:t>
                          </m:r>
                        </m:sup>
                      </m:sSup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sSup>
                        <m:sSup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7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1</m:t>
                                    </m:r>
                                    <m:r>
                                      <a:rPr lang="bg-BG" sz="2000" i="1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bg-BG" sz="2000" i="1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5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cs typeface="Varela Round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cs typeface="Varela Round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cs typeface="Varela Round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3E14DFDE-3703-4E0B-955F-46F037AEE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373" y="4627752"/>
                <a:ext cx="4353286" cy="406820"/>
              </a:xfrm>
              <a:prstGeom prst="rect">
                <a:avLst/>
              </a:prstGeom>
              <a:blipFill>
                <a:blip r:embed="rId6"/>
                <a:stretch>
                  <a:fillRect b="-67164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9490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C63C33A-2D67-403F-86B7-FE72C23B7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19" y="205903"/>
            <a:ext cx="6436517" cy="525933"/>
          </a:xfrm>
        </p:spPr>
        <p:txBody>
          <a:bodyPr/>
          <a:lstStyle/>
          <a:p>
            <a:r>
              <a:rPr lang="bg-BG" sz="1800" dirty="0"/>
              <a:t>Зад </a:t>
            </a:r>
            <a:r>
              <a:rPr lang="en-US" sz="1800" dirty="0"/>
              <a:t>1</a:t>
            </a:r>
            <a:r>
              <a:rPr lang="bg-BG" sz="1800" dirty="0"/>
              <a:t>3. 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5">
                <a:extLst>
                  <a:ext uri="{FF2B5EF4-FFF2-40B4-BE49-F238E27FC236}">
                    <a16:creationId xmlns:a16="http://schemas.microsoft.com/office/drawing/2014/main" id="{26FE986D-8759-4725-AD46-EBF6D7CED611}"/>
                  </a:ext>
                </a:extLst>
              </p:cNvPr>
              <p:cNvSpPr txBox="1"/>
              <p:nvPr/>
            </p:nvSpPr>
            <p:spPr>
              <a:xfrm>
                <a:off x="1080331" y="1498249"/>
                <a:ext cx="7191376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d>
                        <m:dPr>
                          <m:ctrlPr>
                            <a:rPr lang="bg-BG" sz="24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r>
                            <a:rPr lang="bg-BG" sz="24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</m:d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r>
                        <a:rPr lang="bg-BG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8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6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a:rPr lang="en-US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𝑚𝑎𝑥</m:t>
                      </m:r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7" name="Object 5">
                <a:extLst>
                  <a:ext uri="{FF2B5EF4-FFF2-40B4-BE49-F238E27FC236}">
                    <a16:creationId xmlns:a16="http://schemas.microsoft.com/office/drawing/2014/main" id="{26FE986D-8759-4725-AD46-EBF6D7CED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31" y="1498249"/>
                <a:ext cx="7191376" cy="428625"/>
              </a:xfrm>
              <a:prstGeom prst="rect">
                <a:avLst/>
              </a:prstGeom>
              <a:blipFill>
                <a:blip r:embed="rId2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83F35068-7A1F-4AA7-AA6C-929610757D93}"/>
                  </a:ext>
                </a:extLst>
              </p:cNvPr>
              <p:cNvSpPr txBox="1"/>
              <p:nvPr/>
            </p:nvSpPr>
            <p:spPr>
              <a:xfrm>
                <a:off x="971013" y="2020313"/>
                <a:ext cx="5788006" cy="2057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bg-BG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bg-BG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bg-BG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=7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+0,5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10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=1…6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83F35068-7A1F-4AA7-AA6C-929610757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013" y="2020313"/>
                <a:ext cx="5788006" cy="2057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AA23A730-FE54-4C42-8216-0387D1EB9112}"/>
                  </a:ext>
                </a:extLst>
              </p:cNvPr>
              <p:cNvSpPr txBox="1"/>
              <p:nvPr/>
            </p:nvSpPr>
            <p:spPr>
              <a:xfrm>
                <a:off x="1080331" y="923826"/>
                <a:ext cx="7191376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18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Дадена е следната задача:</m:t>
                      </m:r>
                    </m:oMath>
                  </m:oMathPara>
                </a14:m>
                <a:endParaRPr lang="bg-BG" sz="18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AA23A730-FE54-4C42-8216-0387D1EB9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31" y="923826"/>
                <a:ext cx="7191376" cy="428625"/>
              </a:xfrm>
              <a:prstGeom prst="rect">
                <a:avLst/>
              </a:prstGeom>
              <a:blipFill>
                <a:blip r:embed="rId4"/>
                <a:stretch>
                  <a:fillRect l="-16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FB6FCE-12A6-468F-87BD-97AD7C81F6D1}"/>
                  </a:ext>
                </a:extLst>
              </p:cNvPr>
              <p:cNvSpPr txBox="1"/>
              <p:nvPr/>
            </p:nvSpPr>
            <p:spPr>
              <a:xfrm>
                <a:off x="4572000" y="2271596"/>
                <a:ext cx="5693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1800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arela Round"/>
                        </a:rPr>
                        <m:t>×</m:t>
                      </m:r>
                      <m:r>
                        <a:rPr lang="en-US" sz="1800" b="0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arela Round"/>
                        </a:rPr>
                        <m:t>−2</m:t>
                      </m:r>
                    </m:oMath>
                  </m:oMathPara>
                </a14:m>
                <a:endParaRPr lang="bg-BG" sz="1800" dirty="0">
                  <a:solidFill>
                    <a:srgbClr val="EA3A68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FB6FCE-12A6-468F-87BD-97AD7C81F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271596"/>
                <a:ext cx="569360" cy="369332"/>
              </a:xfrm>
              <a:prstGeom prst="rect">
                <a:avLst/>
              </a:prstGeom>
              <a:blipFill>
                <a:blip r:embed="rId6"/>
                <a:stretch>
                  <a:fillRect r="-2043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695E56-C0F3-4441-BC5A-6E4242DDB616}"/>
                  </a:ext>
                </a:extLst>
              </p:cNvPr>
              <p:cNvSpPr txBox="1"/>
              <p:nvPr/>
            </p:nvSpPr>
            <p:spPr>
              <a:xfrm>
                <a:off x="4775590" y="3174654"/>
                <a:ext cx="5693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1800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arela Round"/>
                        </a:rPr>
                        <m:t>×</m:t>
                      </m:r>
                      <m:r>
                        <a:rPr lang="en-US" sz="1800" b="0" i="1" smtClean="0">
                          <a:solidFill>
                            <a:srgbClr val="EA3A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arela Round"/>
                        </a:rPr>
                        <m:t>2</m:t>
                      </m:r>
                    </m:oMath>
                  </m:oMathPara>
                </a14:m>
                <a:endParaRPr lang="bg-BG" sz="1800" dirty="0">
                  <a:solidFill>
                    <a:srgbClr val="EA3A68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695E56-C0F3-4441-BC5A-6E4242DDB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590" y="3174654"/>
                <a:ext cx="56936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A4BC19ED-2717-4A43-9FE1-2D71AD581F11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2DE25A-0F83-4410-BB9C-372E43813A93}"/>
                  </a:ext>
                </a:extLst>
              </p:cNvPr>
              <p:cNvSpPr txBox="1"/>
              <p:nvPr/>
            </p:nvSpPr>
            <p:spPr>
              <a:xfrm>
                <a:off x="1193452" y="4171152"/>
                <a:ext cx="4572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bg-BG" sz="1800" b="0" i="1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Преобразувайте я в базисно представяне.</m:t>
                    </m:r>
                  </m:oMath>
                </a14:m>
                <a:r>
                  <a:rPr lang="bg-BG" sz="1800" i="1" dirty="0">
                    <a:solidFill>
                      <a:srgbClr val="505670"/>
                    </a:solidFill>
                    <a:latin typeface="Cambria Math" panose="02040503050406030204" pitchFamily="18" charset="0"/>
                    <a:ea typeface="Varela Round"/>
                    <a:cs typeface="Varela Round"/>
                  </a:rPr>
                  <a:t> </a:t>
                </a:r>
                <a:r>
                  <a:rPr lang="bg-BG" sz="1800" dirty="0">
                    <a:solidFill>
                      <a:srgbClr val="505670"/>
                    </a:solidFill>
                    <a:latin typeface="Cambria Math" panose="02040503050406030204" pitchFamily="18" charset="0"/>
                    <a:ea typeface="Varela Round"/>
                    <a:cs typeface="Varela Round"/>
                  </a:rPr>
                  <a:t>Определете началния опорен план.</a:t>
                </a:r>
                <a:endParaRPr lang="bg-BG" sz="18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2DE25A-0F83-4410-BB9C-372E43813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452" y="4171152"/>
                <a:ext cx="4572000" cy="646331"/>
              </a:xfrm>
              <a:prstGeom prst="rect">
                <a:avLst/>
              </a:prstGeom>
              <a:blipFill>
                <a:blip r:embed="rId9"/>
                <a:stretch>
                  <a:fillRect l="-1200" b="-1320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0307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C63C33A-2D67-403F-86B7-FE72C23B7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19" y="205903"/>
            <a:ext cx="6436517" cy="525933"/>
          </a:xfrm>
        </p:spPr>
        <p:txBody>
          <a:bodyPr/>
          <a:lstStyle/>
          <a:p>
            <a:r>
              <a:rPr lang="bg-BG" sz="1800" dirty="0"/>
              <a:t>Зад </a:t>
            </a:r>
            <a:r>
              <a:rPr lang="en-US" sz="1800" dirty="0"/>
              <a:t>1</a:t>
            </a:r>
            <a:r>
              <a:rPr lang="bg-BG" sz="1800" dirty="0"/>
              <a:t>3. 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5">
                <a:extLst>
                  <a:ext uri="{FF2B5EF4-FFF2-40B4-BE49-F238E27FC236}">
                    <a16:creationId xmlns:a16="http://schemas.microsoft.com/office/drawing/2014/main" id="{26FE986D-8759-4725-AD46-EBF6D7CED611}"/>
                  </a:ext>
                </a:extLst>
              </p:cNvPr>
              <p:cNvSpPr txBox="1"/>
              <p:nvPr/>
            </p:nvSpPr>
            <p:spPr>
              <a:xfrm>
                <a:off x="1080331" y="1498249"/>
                <a:ext cx="7191376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d>
                        <m:dPr>
                          <m:ctrlPr>
                            <a:rPr lang="bg-BG" sz="24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r>
                            <a:rPr lang="bg-BG" sz="24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</m:d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r>
                        <a:rPr lang="bg-BG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8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6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a:rPr lang="en-US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𝑚𝑎𝑥</m:t>
                      </m:r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7" name="Object 5">
                <a:extLst>
                  <a:ext uri="{FF2B5EF4-FFF2-40B4-BE49-F238E27FC236}">
                    <a16:creationId xmlns:a16="http://schemas.microsoft.com/office/drawing/2014/main" id="{26FE986D-8759-4725-AD46-EBF6D7CED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31" y="1498249"/>
                <a:ext cx="7191376" cy="428625"/>
              </a:xfrm>
              <a:prstGeom prst="rect">
                <a:avLst/>
              </a:prstGeom>
              <a:blipFill>
                <a:blip r:embed="rId2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83F35068-7A1F-4AA7-AA6C-929610757D93}"/>
                  </a:ext>
                </a:extLst>
              </p:cNvPr>
              <p:cNvSpPr txBox="1"/>
              <p:nvPr/>
            </p:nvSpPr>
            <p:spPr>
              <a:xfrm>
                <a:off x="971013" y="2020313"/>
                <a:ext cx="5788006" cy="2057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−2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8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4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=7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6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EA3A68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=20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=1…6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83F35068-7A1F-4AA7-AA6C-929610757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013" y="2020313"/>
                <a:ext cx="5788006" cy="2057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CEB72E5-0508-4AFA-B4CA-709B26AB1D38}"/>
                  </a:ext>
                </a:extLst>
              </p:cNvPr>
              <p:cNvSpPr txBox="1"/>
              <p:nvPr/>
            </p:nvSpPr>
            <p:spPr>
              <a:xfrm>
                <a:off x="844661" y="896230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18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Б</m:t>
                      </m:r>
                      <m:r>
                        <a:rPr lang="bg-BG" sz="18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азисно представяне:</m:t>
                      </m:r>
                    </m:oMath>
                  </m:oMathPara>
                </a14:m>
                <a:endParaRPr lang="bg-BG" sz="18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CEB72E5-0508-4AFA-B4CA-709B26AB1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1" y="896230"/>
                <a:ext cx="4572000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015D63B0-A7B3-47C2-9368-9317FBF7C7B8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E939435F-1D08-47D7-B951-7E400F8C5A20}"/>
                  </a:ext>
                </a:extLst>
              </p:cNvPr>
              <p:cNvSpPr txBox="1"/>
              <p:nvPr/>
            </p:nvSpPr>
            <p:spPr>
              <a:xfrm>
                <a:off x="1688373" y="4627752"/>
                <a:ext cx="4353286" cy="84848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bg-BG" sz="20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pPr>
                        <m:e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p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)</m:t>
                          </m:r>
                        </m:sup>
                      </m:sSup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sSup>
                        <m:sSupPr>
                          <m:ctrlP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6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bg-BG" sz="2000" i="1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7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ea typeface="Varela Round"/>
                                        <a:cs typeface="Varela Round"/>
                                      </a:rPr>
                                      <m:t>20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bg-BG" sz="20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E939435F-1D08-47D7-B951-7E400F8C5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373" y="4627752"/>
                <a:ext cx="4353286" cy="8484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878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1C03662-3F55-4D11-B05A-5F8B1392E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06" y="850031"/>
            <a:ext cx="7547699" cy="426319"/>
          </a:xfrm>
        </p:spPr>
        <p:txBody>
          <a:bodyPr/>
          <a:lstStyle/>
          <a:p>
            <a:pPr algn="l"/>
            <a:r>
              <a:rPr lang="bg-BG" sz="2000" dirty="0"/>
              <a:t>Системата в базисно представяне ли е?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1">
                <a:extLst>
                  <a:ext uri="{FF2B5EF4-FFF2-40B4-BE49-F238E27FC236}">
                    <a16:creationId xmlns:a16="http://schemas.microsoft.com/office/drawing/2014/main" id="{97AC4BF5-5DF0-41FD-893A-F8D85C101940}"/>
                  </a:ext>
                </a:extLst>
              </p:cNvPr>
              <p:cNvSpPr txBox="1"/>
              <p:nvPr/>
            </p:nvSpPr>
            <p:spPr>
              <a:xfrm>
                <a:off x="1190624" y="1504721"/>
                <a:ext cx="5838825" cy="192427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6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16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8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20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31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7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12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</m:t>
                              </m:r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 </m:t>
                              </m:r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𝑗</m:t>
                              </m:r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=1..5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6" name="Object 11">
                <a:extLst>
                  <a:ext uri="{FF2B5EF4-FFF2-40B4-BE49-F238E27FC236}">
                    <a16:creationId xmlns:a16="http://schemas.microsoft.com/office/drawing/2014/main" id="{97AC4BF5-5DF0-41FD-893A-F8D85C101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624" y="1504721"/>
                <a:ext cx="5838825" cy="1924279"/>
              </a:xfrm>
              <a:prstGeom prst="rect">
                <a:avLst/>
              </a:prstGeom>
              <a:blipFill>
                <a:blip r:embed="rId2"/>
                <a:stretch>
                  <a:fillRect b="-94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561BA06C-F14E-4767-8BF8-EA1D1D1A4A51}"/>
              </a:ext>
            </a:extLst>
          </p:cNvPr>
          <p:cNvSpPr txBox="1">
            <a:spLocks/>
          </p:cNvSpPr>
          <p:nvPr/>
        </p:nvSpPr>
        <p:spPr>
          <a:xfrm>
            <a:off x="680719" y="205903"/>
            <a:ext cx="6436517" cy="52593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670"/>
              </a:buClr>
              <a:buSzPct val="100000"/>
              <a:buFont typeface="Shadows Into Light"/>
              <a:buNone/>
              <a:defRPr sz="2000" b="1" i="0" u="none" strike="noStrike" cap="none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1pPr>
            <a:lvl2pPr lvl="1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2pPr>
            <a:lvl3pPr lvl="2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3pPr>
            <a:lvl4pPr lvl="3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4pPr>
            <a:lvl5pPr lvl="4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5pPr>
            <a:lvl6pPr lvl="5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6pPr>
            <a:lvl7pPr lvl="6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7pPr>
            <a:lvl8pPr lvl="7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8pPr>
            <a:lvl9pPr lvl="8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9pPr>
          </a:lstStyle>
          <a:p>
            <a:r>
              <a:rPr lang="bg-BG" sz="1800" dirty="0"/>
              <a:t>Зад </a:t>
            </a:r>
            <a:r>
              <a:rPr lang="en-US" sz="1800" dirty="0"/>
              <a:t>1</a:t>
            </a:r>
            <a:r>
              <a:rPr lang="bg-BG" sz="1800" dirty="0"/>
              <a:t>4. 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E8E545-B71C-43C2-A1CE-1308D1DD9741}"/>
                  </a:ext>
                </a:extLst>
              </p:cNvPr>
              <p:cNvSpPr txBox="1"/>
              <p:nvPr/>
            </p:nvSpPr>
            <p:spPr>
              <a:xfrm>
                <a:off x="1304479" y="4060020"/>
                <a:ext cx="266808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Отговор: Не</m:t>
                      </m:r>
                    </m:oMath>
                  </m:oMathPara>
                </a14:m>
                <a:endParaRPr lang="bg-BG" sz="20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E8E545-B71C-43C2-A1CE-1308D1DD9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479" y="4060020"/>
                <a:ext cx="2668081" cy="400110"/>
              </a:xfrm>
              <a:prstGeom prst="rect">
                <a:avLst/>
              </a:prstGeom>
              <a:blipFill>
                <a:blip r:embed="rId3"/>
                <a:stretch>
                  <a:fillRect l="-913" b="-1666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047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EF83D65B-6EE5-498E-AE74-7A8A44C4983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FBCBDF26-847E-4E02-8463-36676E782597}"/>
                  </a:ext>
                </a:extLst>
              </p:cNvPr>
              <p:cNvSpPr txBox="1"/>
              <p:nvPr/>
            </p:nvSpPr>
            <p:spPr>
              <a:xfrm>
                <a:off x="1080331" y="916757"/>
                <a:ext cx="7191376" cy="428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𝑧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(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𝑥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)=3</m:t>
                      </m:r>
                      <m:sSub>
                        <m:sSubPr>
                          <m:ctrlPr>
                            <a:rPr lang="bg-BG" sz="24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1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r>
                        <a:rPr lang="bg-BG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10</m:t>
                      </m:r>
                      <m:sSub>
                        <m:sSubPr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sSubPr>
                        <m:e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2</m:t>
                          </m:r>
                        </m:sub>
                      </m:sSub>
                      <m:r>
                        <a:rPr lang="bg-BG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→</m:t>
                      </m:r>
                      <m:r>
                        <a:rPr lang="en-US" sz="24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𝑚𝑎𝑥</m:t>
                      </m:r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FBCBDF26-847E-4E02-8463-36676E782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31" y="916757"/>
                <a:ext cx="7191376" cy="428625"/>
              </a:xfrm>
              <a:prstGeom prst="rect">
                <a:avLst/>
              </a:prstGeom>
              <a:blipFill>
                <a:blip r:embed="rId3"/>
                <a:stretch>
                  <a:fillRect b="-2816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6CECE733-2C24-4DB7-93FD-B05BC4D0B3D9}"/>
                  </a:ext>
                </a:extLst>
              </p:cNvPr>
              <p:cNvSpPr txBox="1"/>
              <p:nvPr/>
            </p:nvSpPr>
            <p:spPr>
              <a:xfrm>
                <a:off x="961586" y="1647930"/>
                <a:ext cx="4119880" cy="2057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15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1</m:t>
                              </m:r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3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3</m:t>
                                      </m:r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+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9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=1…5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6CECE733-2C24-4DB7-93FD-B05BC4D0B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586" y="1647930"/>
                <a:ext cx="4119880" cy="2057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3C63C33A-2D67-403F-86B7-FE72C23B7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19" y="205903"/>
            <a:ext cx="6436517" cy="525933"/>
          </a:xfrm>
        </p:spPr>
        <p:txBody>
          <a:bodyPr/>
          <a:lstStyle/>
          <a:p>
            <a:r>
              <a:rPr lang="bg-BG" sz="1800" dirty="0"/>
              <a:t>Зад</a:t>
            </a:r>
            <a:r>
              <a:rPr lang="en-US" sz="1800" dirty="0"/>
              <a:t>.</a:t>
            </a:r>
            <a:r>
              <a:rPr lang="bg-BG" sz="1800" dirty="0"/>
              <a:t> </a:t>
            </a:r>
            <a:r>
              <a:rPr lang="en-US" sz="1800" dirty="0"/>
              <a:t>1</a:t>
            </a:r>
            <a:r>
              <a:rPr lang="bg-BG" sz="1800" dirty="0"/>
              <a:t>5 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3A221D-DA94-449E-8752-A1F66E83A573}"/>
                  </a:ext>
                </a:extLst>
              </p:cNvPr>
              <p:cNvSpPr txBox="1"/>
              <p:nvPr/>
            </p:nvSpPr>
            <p:spPr>
              <a:xfrm>
                <a:off x="1173635" y="3579876"/>
                <a:ext cx="6056723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Varela Round"/>
                  <a:buNone/>
                </a:pPr>
                <a:r>
                  <a:rPr lang="en-US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a) </a:t>
                </a:r>
                <a:r>
                  <a:rPr lang="bg-BG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Да се определи матрицата от ограничения А.</a:t>
                </a:r>
                <a:endParaRPr lang="bg-BG" sz="2400" b="0" i="0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  <a:sym typeface="Varela Round"/>
                </a:endParaRPr>
              </a:p>
              <a:p>
                <a:pPr>
                  <a:buFont typeface="Varela Round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b="0" i="0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 </m:t>
                      </m:r>
                    </m:oMath>
                  </m:oMathPara>
                </a14:m>
                <a:endParaRPr lang="bg-BG" sz="2400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3A221D-DA94-449E-8752-A1F66E83A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635" y="3579876"/>
                <a:ext cx="6056723" cy="1200329"/>
              </a:xfrm>
              <a:prstGeom prst="rect">
                <a:avLst/>
              </a:prstGeom>
              <a:blipFill>
                <a:blip r:embed="rId5"/>
                <a:stretch>
                  <a:fillRect l="-1611" t="-5584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8807BA-9070-4614-B374-08F3924EB199}"/>
                  </a:ext>
                </a:extLst>
              </p:cNvPr>
              <p:cNvSpPr txBox="1"/>
              <p:nvPr/>
            </p:nvSpPr>
            <p:spPr>
              <a:xfrm>
                <a:off x="1080331" y="4621424"/>
                <a:ext cx="4572000" cy="1100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𝐴</m:t>
                      </m:r>
                      <m:r>
                        <a:rPr lang="en-US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bg-BG" sz="2400" b="0" i="1" smtClean="0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8807BA-9070-4614-B374-08F3924EB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31" y="4621424"/>
                <a:ext cx="4572000" cy="11008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958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EF83D65B-6EE5-498E-AE74-7A8A44C4983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C63C33A-2D67-403F-86B7-FE72C23B7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19" y="205903"/>
            <a:ext cx="6436517" cy="525933"/>
          </a:xfrm>
        </p:spPr>
        <p:txBody>
          <a:bodyPr/>
          <a:lstStyle/>
          <a:p>
            <a:r>
              <a:rPr lang="bg-BG" sz="1800" dirty="0"/>
              <a:t>Зад</a:t>
            </a:r>
            <a:r>
              <a:rPr lang="en-US" sz="1800" dirty="0"/>
              <a:t>.</a:t>
            </a:r>
            <a:r>
              <a:rPr lang="bg-BG" sz="1800" dirty="0"/>
              <a:t> </a:t>
            </a:r>
            <a:r>
              <a:rPr lang="en-US" sz="1800" dirty="0"/>
              <a:t>1</a:t>
            </a:r>
            <a:r>
              <a:rPr lang="bg-BG" sz="1800" dirty="0"/>
              <a:t>5 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3A221D-DA94-449E-8752-A1F66E83A573}"/>
                  </a:ext>
                </a:extLst>
              </p:cNvPr>
              <p:cNvSpPr txBox="1"/>
              <p:nvPr/>
            </p:nvSpPr>
            <p:spPr>
              <a:xfrm>
                <a:off x="968093" y="787015"/>
                <a:ext cx="7845972" cy="713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bg-BG" sz="20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б</a:t>
                </a:r>
                <a:r>
                  <a:rPr lang="en-US" sz="20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) </a:t>
                </a:r>
                <a:r>
                  <a:rPr lang="bg-BG" sz="20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Проверете дали векторът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bg-BG" sz="20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accPr>
                      <m:e>
                        <m:r>
                          <a:rPr lang="en-US" sz="20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</m:acc>
                    <m:r>
                      <a:rPr lang="en-US" sz="200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solidFill>
                                  <a:srgbClr val="505670"/>
                                </a:solidFill>
                                <a:latin typeface="Cambria Math" panose="02040503050406030204" pitchFamily="18" charset="0"/>
                                <a:ea typeface="Varela Round"/>
                                <a:cs typeface="Varela Round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5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10</m:t>
                                  </m:r>
                                </m:e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bg-BG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sz="20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bg-BG" sz="20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е:</a:t>
                </a:r>
              </a:p>
              <a:p>
                <a:pPr marL="342900" indent="-342900">
                  <a:buFontTx/>
                  <a:buChar char="-"/>
                </a:pPr>
                <a:r>
                  <a:rPr lang="bg-BG" sz="20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План?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3A221D-DA94-449E-8752-A1F66E83A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093" y="787015"/>
                <a:ext cx="7845972" cy="713400"/>
              </a:xfrm>
              <a:prstGeom prst="rect">
                <a:avLst/>
              </a:prstGeom>
              <a:blipFill>
                <a:blip r:embed="rId3"/>
                <a:stretch>
                  <a:fillRect l="-855" t="-5128" b="-1623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3C17644-FBA4-4848-9B95-2934F645D4B8}"/>
                  </a:ext>
                </a:extLst>
              </p:cNvPr>
              <p:cNvSpPr txBox="1"/>
              <p:nvPr/>
            </p:nvSpPr>
            <p:spPr>
              <a:xfrm>
                <a:off x="1416110" y="2023670"/>
                <a:ext cx="6311779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bg-BG" sz="20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За да разберем дали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bg-BG" sz="20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accPr>
                      <m:e>
                        <m:r>
                          <a:rPr lang="en-US" sz="20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</m:acc>
                    <m:r>
                      <a:rPr lang="en-US" sz="2000" i="1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 </m:t>
                    </m:r>
                  </m:oMath>
                </a14:m>
                <a:r>
                  <a:rPr lang="bg-BG" sz="20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</a:t>
                </a:r>
                <a:r>
                  <a:rPr lang="bg-BG" sz="20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е план, </a:t>
                </a:r>
                <a:r>
                  <a:rPr lang="bg-BG" sz="20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трябва да проверим дали ограниченията са удовлетворени при тези стойности на неизвестните.</a:t>
                </a:r>
              </a:p>
              <a:p>
                <a:pPr>
                  <a:buFont typeface="Varela Round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000" b="0" i="0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 </m:t>
                      </m:r>
                    </m:oMath>
                  </m:oMathPara>
                </a14:m>
                <a:endParaRPr lang="bg-BG" sz="2000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3C17644-FBA4-4848-9B95-2934F645D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110" y="2023670"/>
                <a:ext cx="6311779" cy="1323439"/>
              </a:xfrm>
              <a:prstGeom prst="rect">
                <a:avLst/>
              </a:prstGeom>
              <a:blipFill>
                <a:blip r:embed="rId4"/>
                <a:stretch>
                  <a:fillRect l="-965" t="-368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6">
                <a:extLst>
                  <a:ext uri="{FF2B5EF4-FFF2-40B4-BE49-F238E27FC236}">
                    <a16:creationId xmlns:a16="http://schemas.microsoft.com/office/drawing/2014/main" id="{EAEE675B-71B9-4CE3-AB1F-2CEF2FE7E921}"/>
                  </a:ext>
                </a:extLst>
              </p:cNvPr>
              <p:cNvSpPr txBox="1"/>
              <p:nvPr/>
            </p:nvSpPr>
            <p:spPr>
              <a:xfrm>
                <a:off x="1051754" y="3464103"/>
                <a:ext cx="3326464" cy="2057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𝑋</m:t>
                      </m:r>
                      <m:r>
                        <a:rPr lang="bg-BG" sz="240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bg-BG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15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1</m:t>
                              </m:r>
                              <m:r>
                                <a:rPr lang="bg-BG" sz="24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3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3</m:t>
                                      </m:r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bg-BG" sz="24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+</m:t>
                                  </m:r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9</m:t>
                              </m:r>
                            </m:e>
                            <m:e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≥0,</m:t>
                              </m:r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𝑗</m:t>
                              </m:r>
                              <m: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=1…5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5" name="Object 6">
                <a:extLst>
                  <a:ext uri="{FF2B5EF4-FFF2-40B4-BE49-F238E27FC236}">
                    <a16:creationId xmlns:a16="http://schemas.microsoft.com/office/drawing/2014/main" id="{EAEE675B-71B9-4CE3-AB1F-2CEF2FE7E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754" y="3464103"/>
                <a:ext cx="3326464" cy="2057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F8398F4-F7EE-4D00-8740-ABC9EBF2CC90}"/>
                  </a:ext>
                </a:extLst>
              </p:cNvPr>
              <p:cNvSpPr txBox="1"/>
              <p:nvPr/>
            </p:nvSpPr>
            <p:spPr>
              <a:xfrm>
                <a:off x="5206035" y="3954544"/>
                <a:ext cx="328995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2</m:t>
                      </m:r>
                      <m:r>
                        <a:rPr lang="bg-BG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r>
                        <a:rPr lang="bg-BG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3</m:t>
                      </m:r>
                      <m:r>
                        <a:rPr lang="en-US" sz="20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</m:t>
                      </m:r>
                      <m:r>
                        <a:rPr lang="bg-BG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10</m:t>
                      </m:r>
                      <m:r>
                        <a:rPr lang="en-US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r>
                        <a:rPr lang="bg-BG" sz="20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15</m:t>
                      </m:r>
                    </m:oMath>
                  </m:oMathPara>
                </a14:m>
                <a:endParaRPr lang="bg-BG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F8398F4-F7EE-4D00-8740-ABC9EBF2C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6035" y="3954544"/>
                <a:ext cx="3289956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row: Right 20">
            <a:extLst>
              <a:ext uri="{FF2B5EF4-FFF2-40B4-BE49-F238E27FC236}">
                <a16:creationId xmlns:a16="http://schemas.microsoft.com/office/drawing/2014/main" id="{F38D88EF-A71C-4209-905B-36B3FC13EA59}"/>
              </a:ext>
            </a:extLst>
          </p:cNvPr>
          <p:cNvSpPr/>
          <p:nvPr/>
        </p:nvSpPr>
        <p:spPr>
          <a:xfrm>
            <a:off x="4891079" y="4090719"/>
            <a:ext cx="246154" cy="211120"/>
          </a:xfrm>
          <a:prstGeom prst="rightArrow">
            <a:avLst/>
          </a:prstGeom>
          <a:solidFill>
            <a:srgbClr val="AACF20"/>
          </a:solidFill>
          <a:ln>
            <a:solidFill>
              <a:srgbClr val="AAC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5FFCB9-8ADF-4B9B-9FCD-FE6D1AF66EC0}"/>
              </a:ext>
            </a:extLst>
          </p:cNvPr>
          <p:cNvSpPr txBox="1"/>
          <p:nvPr/>
        </p:nvSpPr>
        <p:spPr>
          <a:xfrm>
            <a:off x="5137233" y="4518436"/>
            <a:ext cx="3289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600" dirty="0">
                <a:solidFill>
                  <a:srgbClr val="505670"/>
                </a:solidFill>
                <a:cs typeface="Varela Round"/>
              </a:rPr>
              <a:t>И аналогично проверяваме за останалите ограничения.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8BA5327-BA56-4549-B8A5-B2AA9DA7E02C}"/>
                  </a:ext>
                </a:extLst>
              </p:cNvPr>
              <p:cNvSpPr txBox="1"/>
              <p:nvPr/>
            </p:nvSpPr>
            <p:spPr>
              <a:xfrm>
                <a:off x="1088262" y="5685408"/>
                <a:ext cx="32899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bg-BG" sz="1800" i="1" smtClean="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accPr>
                      <m:e>
                        <m:r>
                          <a:rPr lang="en-US" sz="18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</m:acc>
                  </m:oMath>
                </a14:m>
                <a:r>
                  <a:rPr lang="bg-BG" sz="1800" dirty="0">
                    <a:solidFill>
                      <a:srgbClr val="505670"/>
                    </a:solidFill>
                    <a:cs typeface="Varela Round"/>
                  </a:rPr>
                  <a:t> е план.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8BA5327-BA56-4549-B8A5-B2AA9DA7E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262" y="5685408"/>
                <a:ext cx="3289956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rrow: Right 23">
            <a:extLst>
              <a:ext uri="{FF2B5EF4-FFF2-40B4-BE49-F238E27FC236}">
                <a16:creationId xmlns:a16="http://schemas.microsoft.com/office/drawing/2014/main" id="{C672DB8D-265E-4214-9F93-6CCCF479819C}"/>
              </a:ext>
            </a:extLst>
          </p:cNvPr>
          <p:cNvSpPr/>
          <p:nvPr/>
        </p:nvSpPr>
        <p:spPr>
          <a:xfrm>
            <a:off x="1819512" y="5759458"/>
            <a:ext cx="246154" cy="211120"/>
          </a:xfrm>
          <a:prstGeom prst="rightArrow">
            <a:avLst/>
          </a:prstGeom>
          <a:solidFill>
            <a:srgbClr val="AACF20"/>
          </a:solidFill>
          <a:ln>
            <a:solidFill>
              <a:srgbClr val="AAC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4306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1" grpId="0" animBg="1"/>
      <p:bldP spid="22" grpId="0"/>
      <p:bldP spid="23" grpId="0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EF83D65B-6EE5-498E-AE74-7A8A44C4983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C63C33A-2D67-403F-86B7-FE72C23B7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19" y="205903"/>
            <a:ext cx="6436517" cy="525933"/>
          </a:xfrm>
        </p:spPr>
        <p:txBody>
          <a:bodyPr/>
          <a:lstStyle/>
          <a:p>
            <a:r>
              <a:rPr lang="bg-BG" sz="1800" dirty="0"/>
              <a:t>Зад</a:t>
            </a:r>
            <a:r>
              <a:rPr lang="en-US" sz="1800" dirty="0"/>
              <a:t> </a:t>
            </a:r>
            <a:r>
              <a:rPr lang="bg-BG" sz="1800" dirty="0"/>
              <a:t>15. 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3A221D-DA94-449E-8752-A1F66E83A573}"/>
                  </a:ext>
                </a:extLst>
              </p:cNvPr>
              <p:cNvSpPr txBox="1"/>
              <p:nvPr/>
            </p:nvSpPr>
            <p:spPr>
              <a:xfrm>
                <a:off x="815428" y="774936"/>
                <a:ext cx="7612292" cy="1206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bg-BG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б</a:t>
                </a:r>
                <a:r>
                  <a:rPr lang="en-US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) </a:t>
                </a:r>
                <a:r>
                  <a:rPr lang="bg-BG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Проверете, дали векторът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bg-BG" sz="24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accPr>
                      <m:e>
                        <m:r>
                          <a:rPr lang="en-US" sz="24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</m:acc>
                    <m:r>
                      <a:rPr lang="en-US" sz="240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505670"/>
                                </a:solidFill>
                                <a:latin typeface="Cambria Math" panose="02040503050406030204" pitchFamily="18" charset="0"/>
                                <a:ea typeface="Varela Round"/>
                                <a:cs typeface="Varela Round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5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10</m:t>
                                  </m:r>
                                </m:e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bg-BG" sz="2400" b="0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sz="24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bg-BG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е:</a:t>
                </a:r>
              </a:p>
              <a:p>
                <a:pPr marL="342900" indent="-342900">
                  <a:buFontTx/>
                  <a:buChar char="-"/>
                </a:pPr>
                <a:r>
                  <a:rPr lang="bg-BG" sz="24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Опорен план?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3A221D-DA94-449E-8752-A1F66E83A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28" y="774936"/>
                <a:ext cx="7612292" cy="1206869"/>
              </a:xfrm>
              <a:prstGeom prst="rect">
                <a:avLst/>
              </a:prstGeom>
              <a:blipFill>
                <a:blip r:embed="rId3"/>
                <a:stretch>
                  <a:fillRect l="-1281" t="-4545" b="-1060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8807BA-9070-4614-B374-08F3924EB199}"/>
                  </a:ext>
                </a:extLst>
              </p:cNvPr>
              <p:cNvSpPr txBox="1"/>
              <p:nvPr/>
            </p:nvSpPr>
            <p:spPr>
              <a:xfrm>
                <a:off x="424912" y="2752539"/>
                <a:ext cx="4572000" cy="10665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𝐴</m:t>
                      </m:r>
                      <m:r>
                        <a:rPr lang="en-US" sz="2400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bg-BG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bg-BG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bg-BG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bg-BG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bg-BG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bg-BG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bg-BG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bg-BG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bg-BG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bg-BG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bg-BG" sz="2400" i="1">
                                    <a:solidFill>
                                      <a:srgbClr val="505670"/>
                                    </a:solidFill>
                                    <a:latin typeface="Cambria Math" panose="02040503050406030204" pitchFamily="18" charset="0"/>
                                    <a:ea typeface="Varela Round"/>
                                    <a:cs typeface="Varela Round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bg-BG" sz="2400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8807BA-9070-4614-B374-08F3924EB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12" y="2752539"/>
                <a:ext cx="4572000" cy="10665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Right 11">
            <a:extLst>
              <a:ext uri="{FF2B5EF4-FFF2-40B4-BE49-F238E27FC236}">
                <a16:creationId xmlns:a16="http://schemas.microsoft.com/office/drawing/2014/main" id="{4E5BD740-5A8D-464E-B70E-7C62BDE9C5A4}"/>
              </a:ext>
            </a:extLst>
          </p:cNvPr>
          <p:cNvSpPr/>
          <p:nvPr/>
        </p:nvSpPr>
        <p:spPr>
          <a:xfrm rot="5400000">
            <a:off x="1964370" y="2475409"/>
            <a:ext cx="246154" cy="211120"/>
          </a:xfrm>
          <a:prstGeom prst="rightArrow">
            <a:avLst/>
          </a:prstGeom>
          <a:solidFill>
            <a:srgbClr val="AACF20"/>
          </a:solidFill>
          <a:ln>
            <a:solidFill>
              <a:srgbClr val="AAC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8F64BC9-D4F0-4D60-A911-22EAEA9B21F3}"/>
              </a:ext>
            </a:extLst>
          </p:cNvPr>
          <p:cNvSpPr/>
          <p:nvPr/>
        </p:nvSpPr>
        <p:spPr>
          <a:xfrm rot="5400000">
            <a:off x="2416386" y="2461187"/>
            <a:ext cx="246154" cy="211120"/>
          </a:xfrm>
          <a:prstGeom prst="rightArrow">
            <a:avLst/>
          </a:prstGeom>
          <a:solidFill>
            <a:srgbClr val="AACF20"/>
          </a:solidFill>
          <a:ln>
            <a:solidFill>
              <a:srgbClr val="AAC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0EFB36F-2153-449D-843A-CEA565E12BD6}"/>
              </a:ext>
            </a:extLst>
          </p:cNvPr>
          <p:cNvSpPr/>
          <p:nvPr/>
        </p:nvSpPr>
        <p:spPr>
          <a:xfrm rot="5400000">
            <a:off x="2888722" y="2451689"/>
            <a:ext cx="246154" cy="211120"/>
          </a:xfrm>
          <a:prstGeom prst="rightArrow">
            <a:avLst/>
          </a:prstGeom>
          <a:solidFill>
            <a:srgbClr val="AACF20"/>
          </a:solidFill>
          <a:ln>
            <a:solidFill>
              <a:srgbClr val="AAC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E273E7-D13D-435B-93AA-293C44DD1A48}"/>
                  </a:ext>
                </a:extLst>
              </p:cNvPr>
              <p:cNvSpPr txBox="1"/>
              <p:nvPr/>
            </p:nvSpPr>
            <p:spPr>
              <a:xfrm>
                <a:off x="815428" y="3990683"/>
                <a:ext cx="6678881" cy="11894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funcPr>
                        <m:fName>
                          <m:r>
                            <a:rPr lang="en-US" sz="20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 </m:t>
                          </m:r>
                        </m:fName>
                        <m:e>
                          <m:eqArr>
                            <m:eqArrPr>
                              <m:ctrlPr>
                                <a:rPr lang="en-US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det</m:t>
                              </m:r>
                              <m:r>
                                <a:rPr lang="en-US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000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2</m:t>
                                        </m:r>
                                      </m:e>
                                      <m:e>
                                        <m: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3</m:t>
                                        </m:r>
                                      </m:e>
                                      <m:e>
                                        <m: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3</m:t>
                                        </m:r>
                                      </m:e>
                                      <m:e>
                                        <m:r>
                                          <a:rPr lang="bg-BG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sz="2000" b="0" i="1" smtClean="0">
                                            <a:solidFill>
                                              <a:srgbClr val="505670"/>
                                            </a:solidFill>
                                            <a:latin typeface="Cambria Math" panose="02040503050406030204" pitchFamily="18" charset="0"/>
                                            <a:ea typeface="Varela Round"/>
                                            <a:cs typeface="Varela Round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=1</m:t>
                              </m:r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×</m:t>
                              </m:r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3</m:t>
                              </m:r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×0+1×</m:t>
                              </m:r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0</m:t>
                              </m:r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×3+</m:t>
                              </m:r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2</m:t>
                              </m:r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×1×</m:t>
                              </m:r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1</m:t>
                              </m:r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−3×</m:t>
                              </m:r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3</m:t>
                              </m:r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×</m:t>
                              </m:r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1</m:t>
                              </m:r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−</m:t>
                              </m:r>
                            </m:e>
                            <m:e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−1×2×0−1</m:t>
                              </m:r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×</m:t>
                              </m:r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1</m:t>
                              </m:r>
                              <m:r>
                                <a:rPr lang="bg-BG" sz="20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×</m:t>
                              </m:r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0=−</m:t>
                              </m:r>
                              <m:r>
                                <a:rPr lang="bg-BG" sz="20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</a:rPr>
                                <m:t>7</m:t>
                              </m:r>
                            </m:e>
                          </m:eqArr>
                        </m:e>
                      </m:func>
                    </m:oMath>
                  </m:oMathPara>
                </a14:m>
                <a:endParaRPr lang="bg-BG" sz="20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E273E7-D13D-435B-93AA-293C44DD1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28" y="3990683"/>
                <a:ext cx="6678881" cy="1189493"/>
              </a:xfrm>
              <a:prstGeom prst="rect">
                <a:avLst/>
              </a:prstGeom>
              <a:blipFill>
                <a:blip r:embed="rId5"/>
                <a:stretch>
                  <a:fillRect r="-13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16B00A7-7C56-4AAA-8127-30DE430556DF}"/>
                  </a:ext>
                </a:extLst>
              </p:cNvPr>
              <p:cNvSpPr txBox="1"/>
              <p:nvPr/>
            </p:nvSpPr>
            <p:spPr>
              <a:xfrm>
                <a:off x="1088262" y="5685408"/>
                <a:ext cx="32899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bg-BG" sz="1800" i="1" smtClean="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accPr>
                      <m:e>
                        <m:r>
                          <a:rPr lang="en-US" sz="18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</m:acc>
                  </m:oMath>
                </a14:m>
                <a:r>
                  <a:rPr lang="bg-BG" sz="1800" dirty="0">
                    <a:solidFill>
                      <a:srgbClr val="505670"/>
                    </a:solidFill>
                    <a:cs typeface="Varela Round"/>
                  </a:rPr>
                  <a:t> е опорен план.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16B00A7-7C56-4AAA-8127-30DE43055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262" y="5685408"/>
                <a:ext cx="3289956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rrow: Right 18">
            <a:extLst>
              <a:ext uri="{FF2B5EF4-FFF2-40B4-BE49-F238E27FC236}">
                <a16:creationId xmlns:a16="http://schemas.microsoft.com/office/drawing/2014/main" id="{38F009B9-5167-44C7-B027-7E49260F5471}"/>
              </a:ext>
            </a:extLst>
          </p:cNvPr>
          <p:cNvSpPr/>
          <p:nvPr/>
        </p:nvSpPr>
        <p:spPr>
          <a:xfrm>
            <a:off x="1272757" y="5800824"/>
            <a:ext cx="246154" cy="211120"/>
          </a:xfrm>
          <a:prstGeom prst="rightArrow">
            <a:avLst/>
          </a:prstGeom>
          <a:solidFill>
            <a:srgbClr val="AACF20"/>
          </a:solidFill>
          <a:ln>
            <a:solidFill>
              <a:srgbClr val="AAC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3701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 animBg="1"/>
      <p:bldP spid="14" grpId="0" animBg="1"/>
      <p:bldP spid="16" grpId="0"/>
      <p:bldP spid="15" grpId="0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>
            <a:spLocks noGrp="1"/>
          </p:cNvSpPr>
          <p:nvPr>
            <p:ph type="ctrTitle" idx="4294967295"/>
          </p:nvPr>
        </p:nvSpPr>
        <p:spPr>
          <a:xfrm>
            <a:off x="1669950" y="1332700"/>
            <a:ext cx="5804100" cy="734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4800" dirty="0">
                <a:solidFill>
                  <a:srgbClr val="EA3A68"/>
                </a:solidFill>
              </a:rPr>
              <a:t>Thanks!</a:t>
            </a:r>
          </a:p>
        </p:txBody>
      </p:sp>
      <p:sp>
        <p:nvSpPr>
          <p:cNvPr id="320" name="Shape 320"/>
          <p:cNvSpPr txBox="1">
            <a:spLocks noGrp="1"/>
          </p:cNvSpPr>
          <p:nvPr>
            <p:ph type="subTitle" idx="4294967295"/>
          </p:nvPr>
        </p:nvSpPr>
        <p:spPr>
          <a:xfrm>
            <a:off x="1177800" y="2948587"/>
            <a:ext cx="6788399" cy="104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3600" b="1" dirty="0"/>
              <a:t>Any questions?</a:t>
            </a:r>
          </a:p>
        </p:txBody>
      </p:sp>
      <p:sp>
        <p:nvSpPr>
          <p:cNvPr id="321" name="Shape 321"/>
          <p:cNvSpPr txBox="1">
            <a:spLocks noGrp="1"/>
          </p:cNvSpPr>
          <p:nvPr>
            <p:ph type="body" idx="4294967295"/>
          </p:nvPr>
        </p:nvSpPr>
        <p:spPr>
          <a:xfrm>
            <a:off x="1177800" y="4741850"/>
            <a:ext cx="6788399" cy="104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dirty="0">
                <a:solidFill>
                  <a:srgbClr val="979CB8"/>
                </a:solidFill>
              </a:rPr>
              <a:t>You can find me at: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-US" dirty="0">
                <a:solidFill>
                  <a:srgbClr val="979CB8"/>
                </a:solidFill>
              </a:rPr>
              <a:t>g.</a:t>
            </a:r>
            <a:r>
              <a:rPr lang="en" dirty="0">
                <a:solidFill>
                  <a:srgbClr val="979CB8"/>
                </a:solidFill>
              </a:rPr>
              <a:t>hristova@feb.uni-sofia.bg</a:t>
            </a:r>
          </a:p>
        </p:txBody>
      </p:sp>
      <p:sp>
        <p:nvSpPr>
          <p:cNvPr id="322" name="Shape 322"/>
          <p:cNvSpPr/>
          <p:nvPr/>
        </p:nvSpPr>
        <p:spPr>
          <a:xfrm>
            <a:off x="2076850" y="2456225"/>
            <a:ext cx="4748538" cy="1896499"/>
          </a:xfrm>
          <a:custGeom>
            <a:avLst/>
            <a:gdLst/>
            <a:ahLst/>
            <a:cxnLst/>
            <a:rect l="0" t="0" r="0" b="0"/>
            <a:pathLst>
              <a:path w="163180" h="66288" extrusionOk="0">
                <a:moveTo>
                  <a:pt x="90243" y="4462"/>
                </a:moveTo>
                <a:cubicBezTo>
                  <a:pt x="83153" y="411"/>
                  <a:pt x="74073" y="1064"/>
                  <a:pt x="65923" y="1544"/>
                </a:cubicBezTo>
                <a:cubicBezTo>
                  <a:pt x="51317" y="2403"/>
                  <a:pt x="36068" y="4456"/>
                  <a:pt x="23122" y="11271"/>
                </a:cubicBezTo>
                <a:cubicBezTo>
                  <a:pt x="13017" y="16589"/>
                  <a:pt x="6735" y="34519"/>
                  <a:pt x="13070" y="44021"/>
                </a:cubicBezTo>
                <a:cubicBezTo>
                  <a:pt x="21835" y="57167"/>
                  <a:pt x="41794" y="58763"/>
                  <a:pt x="57493" y="60558"/>
                </a:cubicBezTo>
                <a:cubicBezTo>
                  <a:pt x="73278" y="62362"/>
                  <a:pt x="89298" y="61843"/>
                  <a:pt x="105158" y="60882"/>
                </a:cubicBezTo>
                <a:cubicBezTo>
                  <a:pt x="125659" y="59638"/>
                  <a:pt x="157481" y="50275"/>
                  <a:pt x="158336" y="29754"/>
                </a:cubicBezTo>
                <a:cubicBezTo>
                  <a:pt x="158619" y="22933"/>
                  <a:pt x="156399" y="13869"/>
                  <a:pt x="150230" y="10947"/>
                </a:cubicBezTo>
                <a:cubicBezTo>
                  <a:pt x="140016" y="6108"/>
                  <a:pt x="128254" y="5622"/>
                  <a:pt x="117156" y="3489"/>
                </a:cubicBezTo>
                <a:cubicBezTo>
                  <a:pt x="107058" y="1547"/>
                  <a:pt x="96605" y="2637"/>
                  <a:pt x="86352" y="1868"/>
                </a:cubicBezTo>
                <a:cubicBezTo>
                  <a:pt x="69537" y="606"/>
                  <a:pt x="52188" y="-1639"/>
                  <a:pt x="35768" y="2192"/>
                </a:cubicBezTo>
                <a:cubicBezTo>
                  <a:pt x="28377" y="3916"/>
                  <a:pt x="20506" y="5025"/>
                  <a:pt x="14043" y="9002"/>
                </a:cubicBezTo>
                <a:cubicBezTo>
                  <a:pt x="5849" y="14043"/>
                  <a:pt x="-2454" y="25546"/>
                  <a:pt x="748" y="34618"/>
                </a:cubicBezTo>
                <a:cubicBezTo>
                  <a:pt x="8217" y="55774"/>
                  <a:pt x="39445" y="60369"/>
                  <a:pt x="61708" y="63152"/>
                </a:cubicBezTo>
                <a:cubicBezTo>
                  <a:pt x="92043" y="66943"/>
                  <a:pt x="130197" y="71091"/>
                  <a:pt x="152500" y="50182"/>
                </a:cubicBezTo>
                <a:cubicBezTo>
                  <a:pt x="161822" y="41441"/>
                  <a:pt x="168060" y="20138"/>
                  <a:pt x="158012" y="12244"/>
                </a:cubicBezTo>
                <a:cubicBezTo>
                  <a:pt x="155373" y="10170"/>
                  <a:pt x="151539" y="10463"/>
                  <a:pt x="148284" y="9650"/>
                </a:cubicBezTo>
                <a:cubicBezTo>
                  <a:pt x="134410" y="6181"/>
                  <a:pt x="119783" y="6732"/>
                  <a:pt x="105483" y="6732"/>
                </a:cubicBezTo>
              </a:path>
            </a:pathLst>
          </a:custGeom>
          <a:noFill/>
          <a:ln w="9525" cap="flat" cmpd="sng">
            <a:solidFill>
              <a:srgbClr val="979CB8"/>
            </a:solidFill>
            <a:prstDash val="solid"/>
            <a:round/>
            <a:headEnd type="none" w="lg" len="lg"/>
            <a:tailEnd type="none" w="lg" len="lg"/>
          </a:ln>
        </p:spPr>
      </p:sp>
      <p:cxnSp>
        <p:nvCxnSpPr>
          <p:cNvPr id="323" name="Shape 323"/>
          <p:cNvCxnSpPr/>
          <p:nvPr/>
        </p:nvCxnSpPr>
        <p:spPr>
          <a:xfrm flipH="1">
            <a:off x="6023074" y="2253575"/>
            <a:ext cx="810600" cy="705300"/>
          </a:xfrm>
          <a:prstGeom prst="straightConnector1">
            <a:avLst/>
          </a:prstGeom>
          <a:noFill/>
          <a:ln w="9525" cap="flat" cmpd="sng">
            <a:solidFill>
              <a:srgbClr val="979CB8"/>
            </a:solidFill>
            <a:prstDash val="dash"/>
            <a:round/>
            <a:headEnd type="none" w="lg" len="lg"/>
            <a:tailEnd type="triangle" w="lg" len="lg"/>
          </a:ln>
        </p:spPr>
      </p:cxnSp>
      <p:cxnSp>
        <p:nvCxnSpPr>
          <p:cNvPr id="324" name="Shape 324"/>
          <p:cNvCxnSpPr/>
          <p:nvPr/>
        </p:nvCxnSpPr>
        <p:spPr>
          <a:xfrm>
            <a:off x="3380350" y="2302225"/>
            <a:ext cx="218999" cy="559199"/>
          </a:xfrm>
          <a:prstGeom prst="straightConnector1">
            <a:avLst/>
          </a:prstGeom>
          <a:noFill/>
          <a:ln w="9525" cap="flat" cmpd="sng">
            <a:solidFill>
              <a:srgbClr val="979CB8"/>
            </a:solidFill>
            <a:prstDash val="dash"/>
            <a:round/>
            <a:headEnd type="none" w="lg" len="lg"/>
            <a:tailEnd type="triangle" w="lg" len="lg"/>
          </a:ln>
        </p:spPr>
      </p:cxnSp>
      <p:cxnSp>
        <p:nvCxnSpPr>
          <p:cNvPr id="325" name="Shape 325"/>
          <p:cNvCxnSpPr/>
          <p:nvPr/>
        </p:nvCxnSpPr>
        <p:spPr>
          <a:xfrm rot="10800000" flipH="1">
            <a:off x="2350850" y="3858550"/>
            <a:ext cx="826799" cy="648599"/>
          </a:xfrm>
          <a:prstGeom prst="straightConnector1">
            <a:avLst/>
          </a:prstGeom>
          <a:noFill/>
          <a:ln w="9525" cap="flat" cmpd="sng">
            <a:solidFill>
              <a:srgbClr val="979CB8"/>
            </a:solidFill>
            <a:prstDash val="dash"/>
            <a:round/>
            <a:headEnd type="none" w="lg" len="lg"/>
            <a:tailEnd type="triangle" w="lg" len="lg"/>
          </a:ln>
        </p:spPr>
      </p:cxnSp>
      <p:cxnSp>
        <p:nvCxnSpPr>
          <p:cNvPr id="326" name="Shape 326"/>
          <p:cNvCxnSpPr/>
          <p:nvPr/>
        </p:nvCxnSpPr>
        <p:spPr>
          <a:xfrm rot="10800000">
            <a:off x="5406799" y="3850499"/>
            <a:ext cx="178500" cy="713400"/>
          </a:xfrm>
          <a:prstGeom prst="straightConnector1">
            <a:avLst/>
          </a:prstGeom>
          <a:noFill/>
          <a:ln w="9525" cap="flat" cmpd="sng">
            <a:solidFill>
              <a:srgbClr val="979CB8"/>
            </a:solidFill>
            <a:prstDash val="dash"/>
            <a:round/>
            <a:headEnd type="none" w="lg" len="lg"/>
            <a:tailEnd type="triangle" w="lg" len="lg"/>
          </a:ln>
        </p:spPr>
      </p:cxnSp>
      <p:cxnSp>
        <p:nvCxnSpPr>
          <p:cNvPr id="327" name="Shape 327"/>
          <p:cNvCxnSpPr/>
          <p:nvPr/>
        </p:nvCxnSpPr>
        <p:spPr>
          <a:xfrm rot="10800000">
            <a:off x="5707049" y="3793624"/>
            <a:ext cx="186300" cy="170400"/>
          </a:xfrm>
          <a:prstGeom prst="straightConnector1">
            <a:avLst/>
          </a:prstGeom>
          <a:noFill/>
          <a:ln w="9525" cap="flat" cmpd="sng">
            <a:solidFill>
              <a:srgbClr val="979CB8"/>
            </a:solidFill>
            <a:prstDash val="dash"/>
            <a:round/>
            <a:headEnd type="none" w="lg" len="lg"/>
            <a:tailEnd type="triangle" w="lg" len="lg"/>
          </a:ln>
        </p:spPr>
      </p:cxnSp>
      <p:pic>
        <p:nvPicPr>
          <p:cNvPr id="5" name="Picture 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915D5CEB-F478-426A-A1B1-7A1D91EF3BE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rincul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9644</TotalTime>
  <Words>1125</Words>
  <Application>Microsoft Office PowerPoint</Application>
  <PresentationFormat>On-screen Show (4:3)</PresentationFormat>
  <Paragraphs>166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Varela Round</vt:lpstr>
      <vt:lpstr>Shadows Into Light</vt:lpstr>
      <vt:lpstr>Arial</vt:lpstr>
      <vt:lpstr>Cambria Math</vt:lpstr>
      <vt:lpstr>Trinculo template</vt:lpstr>
      <vt:lpstr>Тема 4:  Симетрична и канонична задача. Свойства</vt:lpstr>
      <vt:lpstr>ПРИВЕДЕТЕ В КАНОНИЧЕН ВИД, зад. 3</vt:lpstr>
      <vt:lpstr>ПРИВЕДЕТЕ В КАНОНИЧЕН ВИД, зад. 3</vt:lpstr>
      <vt:lpstr>ПРИВЕДЕТЕ В КАНОНИЧЕН ВИД, зад. 4</vt:lpstr>
      <vt:lpstr>ПРИВЕДЕТЕ В КАНОНИЧЕН ВИД, зад. 4</vt:lpstr>
      <vt:lpstr>ПРИВЕДЕТЕ В КАНОНИЧЕН ВИД, зад. 5</vt:lpstr>
      <vt:lpstr>ПРИВЕДЕТЕ В КАНОНИЧЕН ВИД, зад. 5</vt:lpstr>
      <vt:lpstr>ПРИВЕДЕТЕ В СИМЕТРИЧЕН ВИД, зад. 6</vt:lpstr>
      <vt:lpstr>ПРИВЕДЕТЕ В СИМЕТРИЧЕН ВИД, зад. 6</vt:lpstr>
      <vt:lpstr>ПРИВЕДЕТЕ В КАНОНИЧЕН ВИД, зад. 7</vt:lpstr>
      <vt:lpstr>ПРИВЕДЕТЕ В КАНОНИЧЕН ВИД, зад. 7</vt:lpstr>
      <vt:lpstr>Зад. 8</vt:lpstr>
      <vt:lpstr>Зад. 9</vt:lpstr>
      <vt:lpstr>Зад. 10 </vt:lpstr>
      <vt:lpstr>Зад. 10 </vt:lpstr>
      <vt:lpstr>Зад. 10 </vt:lpstr>
      <vt:lpstr>Детерминанта от трети ред - пресмятане</vt:lpstr>
      <vt:lpstr>Зад 10. </vt:lpstr>
      <vt:lpstr>Зад. 11 </vt:lpstr>
      <vt:lpstr>Зад. 11 </vt:lpstr>
      <vt:lpstr>Зад 12. </vt:lpstr>
      <vt:lpstr>Зад 12. </vt:lpstr>
      <vt:lpstr>Зад 13. </vt:lpstr>
      <vt:lpstr>Зад 13. </vt:lpstr>
      <vt:lpstr>Системата в базисно представяне ли е?</vt:lpstr>
      <vt:lpstr>Зад. 15 </vt:lpstr>
      <vt:lpstr>Зад. 15 </vt:lpstr>
      <vt:lpstr>Зад 15. 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2:  Графичен метод за решаване на задача с две неизвестни</dc:title>
  <cp:lastModifiedBy>student</cp:lastModifiedBy>
  <cp:revision>202</cp:revision>
  <dcterms:modified xsi:type="dcterms:W3CDTF">2023-04-06T12:18:33Z</dcterms:modified>
</cp:coreProperties>
</file>
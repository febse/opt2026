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8"/>
  </p:notesMasterIdLst>
  <p:sldIdLst>
    <p:sldId id="256" r:id="rId2"/>
    <p:sldId id="273" r:id="rId3"/>
    <p:sldId id="297" r:id="rId4"/>
    <p:sldId id="298" r:id="rId5"/>
    <p:sldId id="287" r:id="rId6"/>
    <p:sldId id="299" r:id="rId7"/>
    <p:sldId id="300" r:id="rId8"/>
    <p:sldId id="292" r:id="rId9"/>
    <p:sldId id="293" r:id="rId10"/>
    <p:sldId id="301" r:id="rId11"/>
    <p:sldId id="302" r:id="rId12"/>
    <p:sldId id="294" r:id="rId13"/>
    <p:sldId id="303" r:id="rId14"/>
    <p:sldId id="304" r:id="rId15"/>
    <p:sldId id="305" r:id="rId16"/>
    <p:sldId id="306" r:id="rId17"/>
    <p:sldId id="309" r:id="rId18"/>
    <p:sldId id="310" r:id="rId19"/>
    <p:sldId id="307" r:id="rId20"/>
    <p:sldId id="311" r:id="rId21"/>
    <p:sldId id="312" r:id="rId22"/>
    <p:sldId id="308" r:id="rId23"/>
    <p:sldId id="313" r:id="rId24"/>
    <p:sldId id="315" r:id="rId25"/>
    <p:sldId id="314" r:id="rId26"/>
    <p:sldId id="280" r:id="rId27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Shadows Into Light" panose="020B0604020202020204" charset="0"/>
      <p:regular r:id="rId30"/>
    </p:embeddedFont>
    <p:embeddedFont>
      <p:font typeface="Varela Round" panose="020B0604020202020204" charset="-79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05D1AB-BAE4-4E3A-A547-ADA6829F2946}">
  <a:tblStyle styleId="{DE05D1AB-BAE4-4E3A-A547-ADA6829F2946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89698" autoAdjust="0"/>
  </p:normalViewPr>
  <p:slideViewPr>
    <p:cSldViewPr snapToGrid="0">
      <p:cViewPr varScale="1">
        <p:scale>
          <a:sx n="77" d="100"/>
          <a:sy n="77" d="100"/>
        </p:scale>
        <p:origin x="1219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64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36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0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975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342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yellow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magenta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1027950" y="689775"/>
            <a:ext cx="7088099" cy="9104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1pPr>
            <a:lvl2pPr lvl="1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2pPr>
            <a:lvl3pPr lvl="2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3pPr>
            <a:lvl4pPr lvl="3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4pPr>
            <a:lvl5pPr lvl="4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5pPr>
            <a:lvl6pPr lvl="5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6pPr>
            <a:lvl7pPr lvl="6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7pPr>
            <a:lvl8pPr lvl="7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8pPr>
            <a:lvl9pPr lvl="8" rtl="0">
              <a:spcBef>
                <a:spcPts val="0"/>
              </a:spcBef>
              <a:buClr>
                <a:srgbClr val="979CB8"/>
              </a:buClr>
              <a:defRPr>
                <a:solidFill>
                  <a:srgbClr val="979CB8"/>
                </a:solidFill>
              </a:defRPr>
            </a:lvl9pPr>
          </a:lstStyle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3120675" y="1533250"/>
            <a:ext cx="3060325" cy="15325"/>
          </a:xfrm>
          <a:custGeom>
            <a:avLst/>
            <a:gdLst/>
            <a:ahLst/>
            <a:cxnLst/>
            <a:rect l="0" t="0" r="0" b="0"/>
            <a:pathLst>
              <a:path w="122413" h="613" extrusionOk="0">
                <a:moveTo>
                  <a:pt x="0" y="317"/>
                </a:moveTo>
                <a:cubicBezTo>
                  <a:pt x="40796" y="1116"/>
                  <a:pt x="81608" y="0"/>
                  <a:pt x="122413" y="0"/>
                </a:cubicBezTo>
              </a:path>
            </a:pathLst>
          </a:custGeom>
          <a:noFill/>
          <a:ln w="9525" cap="flat" cmpd="sng">
            <a:solidFill>
              <a:srgbClr val="979CB8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45" name="Shape 45"/>
          <p:cNvSpPr/>
          <p:nvPr/>
        </p:nvSpPr>
        <p:spPr>
          <a:xfrm>
            <a:off x="3068250" y="1577725"/>
            <a:ext cx="3226850" cy="15875"/>
          </a:xfrm>
          <a:custGeom>
            <a:avLst/>
            <a:gdLst/>
            <a:ahLst/>
            <a:cxnLst/>
            <a:rect l="0" t="0" r="0" b="0"/>
            <a:pathLst>
              <a:path w="129074" h="635" extrusionOk="0">
                <a:moveTo>
                  <a:pt x="0" y="0"/>
                </a:moveTo>
                <a:cubicBezTo>
                  <a:pt x="43025" y="0"/>
                  <a:pt x="86048" y="635"/>
                  <a:pt x="129074" y="635"/>
                </a:cubicBezTo>
              </a:path>
            </a:pathLst>
          </a:custGeom>
          <a:noFill/>
          <a:ln w="9525" cap="flat" cmpd="sng">
            <a:solidFill>
              <a:srgbClr val="979CB8"/>
            </a:solidFill>
            <a:prstDash val="solid"/>
            <a:round/>
            <a:headEnd type="none" w="lg" len="lg"/>
            <a:tailEnd type="none" w="lg" len="lg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206F-8797-4F90-8BB4-9DEC549C5BF7}" type="datetime1">
              <a:rPr lang="en-US" smtClean="0"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BF74-65C3-454B-9F89-FB41B1F2A4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42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69397-D2E5-4769-81A9-A83FAA223747}" type="datetime1">
              <a:rPr lang="en-US" smtClean="0"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BF74-65C3-454B-9F89-FB41B1F2A4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E90C6-07B3-48BA-8D30-5496F346EBD6}" type="datetime1">
              <a:rPr lang="en-US" smtClean="0"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BF74-65C3-454B-9F89-FB41B1F2A4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4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0A5C8-D9B9-40FA-B479-FB1A9E55F28E}" type="datetime1">
              <a:rPr lang="en-US" smtClean="0"/>
              <a:t>3/9/2023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BF74-65C3-454B-9F89-FB41B1F2A4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76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24550" y="689775"/>
            <a:ext cx="7547699" cy="910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070325" y="1918650"/>
            <a:ext cx="7056299" cy="4082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505670"/>
              </a:buClr>
              <a:buSzPct val="100000"/>
              <a:buFont typeface="Varela Round"/>
              <a:buChar char="▧"/>
              <a:defRPr sz="24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480"/>
              </a:spcBef>
              <a:buClr>
                <a:srgbClr val="505670"/>
              </a:buClr>
              <a:buSzPct val="100000"/>
              <a:buFont typeface="Varela Round"/>
              <a:defRPr sz="20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spcBef>
                <a:spcPts val="480"/>
              </a:spcBef>
              <a:buClr>
                <a:srgbClr val="505670"/>
              </a:buClr>
              <a:buSzPct val="100000"/>
              <a:buFont typeface="Varela Round"/>
              <a:defRPr sz="20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9" r:id="rId6"/>
    <p:sldLayoutId id="2147483682" r:id="rId7"/>
    <p:sldLayoutId id="2147483683" r:id="rId8"/>
    <p:sldLayoutId id="2147483684" r:id="rId9"/>
    <p:sldLayoutId id="214748368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gif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/>
        </p:nvSpPr>
        <p:spPr>
          <a:xfrm rot="-4140551">
            <a:off x="2545344" y="1556492"/>
            <a:ext cx="402308" cy="1167266"/>
          </a:xfrm>
          <a:custGeom>
            <a:avLst/>
            <a:gdLst/>
            <a:ahLst/>
            <a:cxnLst/>
            <a:rect l="0" t="0" r="0" b="0"/>
            <a:pathLst>
              <a:path w="30959" h="89819" extrusionOk="0">
                <a:moveTo>
                  <a:pt x="0" y="0"/>
                </a:moveTo>
                <a:cubicBezTo>
                  <a:pt x="5134" y="6917"/>
                  <a:pt x="29561" y="26535"/>
                  <a:pt x="30804" y="41505"/>
                </a:cubicBezTo>
                <a:cubicBezTo>
                  <a:pt x="32047" y="56474"/>
                  <a:pt x="11349" y="81766"/>
                  <a:pt x="7458" y="89819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lg" len="lg"/>
            <a:tailEnd type="stealth" w="lg" len="lg"/>
          </a:ln>
        </p:spPr>
      </p:sp>
      <p:sp>
        <p:nvSpPr>
          <p:cNvPr id="107" name="Shape 107"/>
          <p:cNvSpPr/>
          <p:nvPr/>
        </p:nvSpPr>
        <p:spPr>
          <a:xfrm>
            <a:off x="2496775" y="4255850"/>
            <a:ext cx="3153375" cy="34500"/>
          </a:xfrm>
          <a:custGeom>
            <a:avLst/>
            <a:gdLst/>
            <a:ahLst/>
            <a:cxnLst/>
            <a:rect l="0" t="0" r="0" b="0"/>
            <a:pathLst>
              <a:path w="126135" h="1380" extrusionOk="0">
                <a:moveTo>
                  <a:pt x="0" y="973"/>
                </a:moveTo>
                <a:cubicBezTo>
                  <a:pt x="29074" y="973"/>
                  <a:pt x="58157" y="273"/>
                  <a:pt x="87224" y="973"/>
                </a:cubicBezTo>
                <a:cubicBezTo>
                  <a:pt x="100194" y="1285"/>
                  <a:pt x="113311" y="1974"/>
                  <a:pt x="126135" y="0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108" name="Shape 108"/>
          <p:cNvSpPr/>
          <p:nvPr/>
        </p:nvSpPr>
        <p:spPr>
          <a:xfrm>
            <a:off x="2423800" y="4303603"/>
            <a:ext cx="3177700" cy="41425"/>
          </a:xfrm>
          <a:custGeom>
            <a:avLst/>
            <a:gdLst/>
            <a:ahLst/>
            <a:cxnLst/>
            <a:rect l="0" t="0" r="0" b="0"/>
            <a:pathLst>
              <a:path w="127108" h="1657" extrusionOk="0">
                <a:moveTo>
                  <a:pt x="0" y="1657"/>
                </a:moveTo>
                <a:cubicBezTo>
                  <a:pt x="42249" y="-1531"/>
                  <a:pt x="84738" y="1008"/>
                  <a:pt x="127108" y="1008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sp>
      <p:cxnSp>
        <p:nvCxnSpPr>
          <p:cNvPr id="109" name="Shape 109"/>
          <p:cNvCxnSpPr/>
          <p:nvPr/>
        </p:nvCxnSpPr>
        <p:spPr>
          <a:xfrm rot="10800000" flipH="1">
            <a:off x="3927512" y="2011400"/>
            <a:ext cx="291900" cy="542999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stealth" w="lg" len="lg"/>
            <a:tailEnd type="none" w="lg" len="lg"/>
          </a:ln>
        </p:spPr>
      </p:cxnSp>
      <p:sp>
        <p:nvSpPr>
          <p:cNvPr id="110" name="Shape 110"/>
          <p:cNvSpPr/>
          <p:nvPr/>
        </p:nvSpPr>
        <p:spPr>
          <a:xfrm>
            <a:off x="5064442" y="2448191"/>
            <a:ext cx="1345200" cy="1025100"/>
          </a:xfrm>
          <a:custGeom>
            <a:avLst/>
            <a:gdLst/>
            <a:ahLst/>
            <a:cxnLst/>
            <a:rect l="0" t="0" r="0" b="0"/>
            <a:pathLst>
              <a:path w="53808" h="41004" extrusionOk="0">
                <a:moveTo>
                  <a:pt x="33350" y="2267"/>
                </a:moveTo>
                <a:cubicBezTo>
                  <a:pt x="29864" y="1270"/>
                  <a:pt x="26130" y="-694"/>
                  <a:pt x="22650" y="321"/>
                </a:cubicBezTo>
                <a:cubicBezTo>
                  <a:pt x="10876" y="3755"/>
                  <a:pt x="-4822" y="20012"/>
                  <a:pt x="1573" y="30477"/>
                </a:cubicBezTo>
                <a:cubicBezTo>
                  <a:pt x="7821" y="40700"/>
                  <a:pt x="25332" y="42677"/>
                  <a:pt x="36593" y="38583"/>
                </a:cubicBezTo>
                <a:cubicBezTo>
                  <a:pt x="46488" y="34984"/>
                  <a:pt x="56459" y="21658"/>
                  <a:pt x="53130" y="11670"/>
                </a:cubicBezTo>
                <a:cubicBezTo>
                  <a:pt x="49951" y="2136"/>
                  <a:pt x="34186" y="-1055"/>
                  <a:pt x="24595" y="1943"/>
                </a:cubicBezTo>
                <a:cubicBezTo>
                  <a:pt x="14086" y="5228"/>
                  <a:pt x="2158" y="13741"/>
                  <a:pt x="600" y="24641"/>
                </a:cubicBezTo>
                <a:cubicBezTo>
                  <a:pt x="-77" y="29379"/>
                  <a:pt x="2605" y="35236"/>
                  <a:pt x="6761" y="37611"/>
                </a:cubicBezTo>
                <a:cubicBezTo>
                  <a:pt x="15326" y="42504"/>
                  <a:pt x="29292" y="42316"/>
                  <a:pt x="36268" y="35341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F453B4-0655-437B-87DE-7062F8F8A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674" y="3644097"/>
            <a:ext cx="5882699" cy="1546500"/>
          </a:xfrm>
        </p:spPr>
        <p:txBody>
          <a:bodyPr/>
          <a:lstStyle/>
          <a:p>
            <a:r>
              <a:rPr lang="bg-BG" dirty="0"/>
              <a:t>Тема </a:t>
            </a:r>
            <a:r>
              <a:rPr lang="en-US" dirty="0">
                <a:latin typeface="Shadows Into Light" panose="02000000000000000000" charset="0"/>
              </a:rPr>
              <a:t>1: </a:t>
            </a:r>
            <a:r>
              <a:rPr lang="bg-BG" dirty="0"/>
              <a:t>Съставяне на математически модели</a:t>
            </a:r>
            <a:endParaRPr lang="en-US" dirty="0">
              <a:latin typeface="Shadows Into Light" panose="02000000000000000000" charset="0"/>
            </a:endParaRPr>
          </a:p>
        </p:txBody>
      </p:sp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BADBE02-410B-4A63-9802-AF4A53503EC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title"/>
          </p:nvPr>
        </p:nvSpPr>
        <p:spPr>
          <a:xfrm>
            <a:off x="1027950" y="689775"/>
            <a:ext cx="7088099" cy="9104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bg-BG" sz="2400" dirty="0"/>
              <a:t>Съставяне на математическия модел - процес</a:t>
            </a:r>
            <a:endParaRPr lang="en" sz="2400" dirty="0"/>
          </a:p>
        </p:txBody>
      </p:sp>
      <p:sp>
        <p:nvSpPr>
          <p:cNvPr id="261" name="Shape 261"/>
          <p:cNvSpPr/>
          <p:nvPr/>
        </p:nvSpPr>
        <p:spPr>
          <a:xfrm>
            <a:off x="1134899" y="2545650"/>
            <a:ext cx="2517600" cy="1766700"/>
          </a:xfrm>
          <a:prstGeom prst="homePlate">
            <a:avLst>
              <a:gd name="adj" fmla="val 30129"/>
            </a:avLst>
          </a:prstGeom>
          <a:solidFill>
            <a:srgbClr val="F9AC08"/>
          </a:solidFill>
          <a:ln w="9525" cap="flat" cmpd="sng">
            <a:solidFill>
              <a:srgbClr val="50567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bg-BG" sz="24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Неизвестни</a:t>
            </a:r>
            <a:endParaRPr lang="en" sz="24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2" name="Shape 262"/>
          <p:cNvSpPr/>
          <p:nvPr/>
        </p:nvSpPr>
        <p:spPr>
          <a:xfrm>
            <a:off x="3318246" y="2545650"/>
            <a:ext cx="2566200" cy="1766700"/>
          </a:xfrm>
          <a:prstGeom prst="chevron">
            <a:avLst>
              <a:gd name="adj" fmla="val 29853"/>
            </a:avLst>
          </a:prstGeom>
          <a:solidFill>
            <a:srgbClr val="01ABCF"/>
          </a:solidFill>
          <a:ln w="9525" cap="flat" cmpd="sng">
            <a:solidFill>
              <a:srgbClr val="50567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bg-BG" sz="24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Целева функция</a:t>
            </a:r>
            <a:endParaRPr lang="en" sz="24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3" name="Shape 263"/>
          <p:cNvSpPr/>
          <p:nvPr/>
        </p:nvSpPr>
        <p:spPr>
          <a:xfrm>
            <a:off x="5550008" y="2545650"/>
            <a:ext cx="2566200" cy="1766700"/>
          </a:xfrm>
          <a:prstGeom prst="chevron">
            <a:avLst>
              <a:gd name="adj" fmla="val 29853"/>
            </a:avLst>
          </a:prstGeom>
          <a:solidFill>
            <a:srgbClr val="AACF20"/>
          </a:solidFill>
          <a:ln w="9525" cap="flat" cmpd="sng">
            <a:solidFill>
              <a:srgbClr val="50567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bg-BG" sz="24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Ограни-чения</a:t>
            </a:r>
            <a:endParaRPr lang="en" sz="24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1D5E210-DAFF-4136-B848-27963713ED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 animBg="1"/>
      <p:bldP spid="262" grpId="0" animBg="1"/>
      <p:bldP spid="2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000" y="868523"/>
            <a:ext cx="7470520" cy="5211763"/>
          </a:xfrm>
        </p:spPr>
        <p:txBody>
          <a:bodyPr>
            <a:normAutofit/>
          </a:bodyPr>
          <a:lstStyle/>
          <a:p>
            <a:r>
              <a:rPr lang="bg-BG" sz="2000" dirty="0"/>
              <a:t>Програма за рационално хранене включва сено, смес и царевица. Тези храни са богати на белтъчини, калций и витамини. Количествата хранителни вещества съответно съдържащи се в 1 кг. от съответната храна са зададени в следната таблица:</a:t>
            </a:r>
          </a:p>
          <a:p>
            <a:pPr algn="just"/>
            <a:endParaRPr lang="ru-RU" sz="2000" dirty="0"/>
          </a:p>
          <a:p>
            <a:pPr algn="just"/>
            <a:endParaRPr lang="ru-RU" sz="2100" dirty="0"/>
          </a:p>
          <a:p>
            <a:pPr algn="just"/>
            <a:endParaRPr lang="ru-RU" sz="2100" dirty="0"/>
          </a:p>
          <a:p>
            <a:pPr algn="just"/>
            <a:endParaRPr lang="ru-RU" sz="2100" dirty="0"/>
          </a:p>
          <a:p>
            <a:pPr algn="just"/>
            <a:endParaRPr lang="bg-BG" sz="2000" dirty="0"/>
          </a:p>
          <a:p>
            <a:pPr algn="just"/>
            <a:r>
              <a:rPr lang="bg-BG" sz="2000" dirty="0"/>
              <a:t>Минимално необходимите количества белтъчини, калций и витамини (</a:t>
            </a:r>
            <a:r>
              <a:rPr lang="ru-RU" sz="2000" dirty="0" err="1"/>
              <a:t>нормата</a:t>
            </a:r>
            <a:r>
              <a:rPr lang="ru-RU" sz="2000" dirty="0"/>
              <a:t> на </a:t>
            </a:r>
            <a:r>
              <a:rPr lang="ru-RU" sz="2000" dirty="0" err="1"/>
              <a:t>ден</a:t>
            </a:r>
            <a:r>
              <a:rPr lang="bg-BG" sz="2000" dirty="0"/>
              <a:t>) са съответно 2000, 120 и 40.</a:t>
            </a:r>
            <a:endParaRPr lang="ru-RU" sz="2000" dirty="0"/>
          </a:p>
          <a:p>
            <a:r>
              <a:rPr lang="bg-BG" sz="2000" dirty="0"/>
              <a:t>Съставете модел за определяне на оптималната комбинация от храни, при условие, че цените им са съответно 3, 2, 5. </a:t>
            </a:r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B58ED58-0E1C-4960-BEBE-EC1B7E20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1</a:t>
            </a:r>
            <a:endParaRPr lang="en-US" sz="3600" dirty="0"/>
          </a:p>
        </p:txBody>
      </p:sp>
      <p:graphicFrame>
        <p:nvGraphicFramePr>
          <p:cNvPr id="13" name="Shape 220">
            <a:extLst>
              <a:ext uri="{FF2B5EF4-FFF2-40B4-BE49-F238E27FC236}">
                <a16:creationId xmlns:a16="http://schemas.microsoft.com/office/drawing/2014/main" id="{C4F9FD09-3AD6-4005-80F5-E583DD68E6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943115"/>
              </p:ext>
            </p:extLst>
          </p:nvPr>
        </p:nvGraphicFramePr>
        <p:xfrm>
          <a:off x="1391524" y="2709634"/>
          <a:ext cx="6045594" cy="1438732"/>
        </p:xfrm>
        <a:graphic>
          <a:graphicData uri="http://schemas.openxmlformats.org/drawingml/2006/table">
            <a:tbl>
              <a:tblPr>
                <a:noFill/>
                <a:tableStyleId>{DE05D1AB-BAE4-4E3A-A547-ADA6829F2946}</a:tableStyleId>
              </a:tblPr>
              <a:tblGrid>
                <a:gridCol w="1803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 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Белтъчини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Калций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Витамини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Сено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6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Смес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Царевица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180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3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3F119F8-A952-4347-BF26-D872A497B5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1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1 - решение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/>
              <p:nvPr/>
            </p:nvSpPr>
            <p:spPr>
              <a:xfrm>
                <a:off x="1123933" y="1329159"/>
                <a:ext cx="4853559" cy="455375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dirty="0"/>
              </a:p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Неизвестни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:</a:t>
                </a:r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  <m:t>𝟏</m:t>
                        </m:r>
                      </m:sub>
                    </m:sSub>
                    <m:r>
                      <a:rPr lang="en-US" sz="16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  <a:sym typeface="Varela Round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  <m:t>𝟐</m:t>
                        </m:r>
                      </m:sub>
                    </m:sSub>
                    <m:r>
                      <a:rPr lang="en-US" sz="16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  <a:sym typeface="Varela Round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  <a:sym typeface="Varela Round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 </a:t>
                </a:r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количества храна (в кг.)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33" y="1329159"/>
                <a:ext cx="4853559" cy="455375"/>
              </a:xfrm>
              <a:prstGeom prst="rect">
                <a:avLst/>
              </a:prstGeom>
              <a:blipFill>
                <a:blip r:embed="rId2"/>
                <a:stretch>
                  <a:fillRect l="-375" b="-1266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654624-CFCD-41BF-98B7-B5202FB33B20}"/>
                  </a:ext>
                </a:extLst>
              </p:cNvPr>
              <p:cNvSpPr/>
              <p:nvPr/>
            </p:nvSpPr>
            <p:spPr>
              <a:xfrm>
                <a:off x="1123933" y="3276457"/>
                <a:ext cx="7125987" cy="2714966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Ограничения:</a:t>
                </a:r>
              </a:p>
              <a:p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Ограниченията са от гледна точка на минималното необходимо количество хранителни вещества, получени чрез храната:</a:t>
                </a:r>
              </a:p>
              <a:p>
                <a:endParaRPr lang="bg-BG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1.  Белтъчини </a:t>
                </a:r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Wingdings" panose="05000000000000000000" pitchFamily="2" charset="2"/>
                  </a:rPr>
                  <a:t> </a:t>
                </a:r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 </a:t>
                </a:r>
                <a14:m>
                  <m:oMath xmlns:m="http://schemas.openxmlformats.org/officeDocument/2006/math">
                    <m:r>
                      <a:rPr lang="bg-BG" sz="1600" b="1" i="0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𝟓𝟎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𝟏</m:t>
                        </m:r>
                      </m:sub>
                    </m:sSub>
                    <m:r>
                      <a:rPr lang="en-US" sz="1600" b="1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bg-BG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𝟐𝟎</m:t>
                        </m:r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𝟐</m:t>
                        </m:r>
                      </m:sub>
                    </m:sSub>
                    <m:r>
                      <a:rPr lang="en-US" sz="1600" b="1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r>
                      <a:rPr lang="bg-BG" sz="1600" b="1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𝟏𝟖𝟎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𝟑</m:t>
                        </m:r>
                      </m:sub>
                    </m:sSub>
                    <m:r>
                      <a:rPr lang="en-US" sz="1600" b="1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≥</m:t>
                    </m:r>
                    <m:r>
                      <a:rPr lang="bg-BG" sz="1600" b="1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𝟐𝟎</m:t>
                    </m:r>
                    <m:r>
                      <a:rPr lang="en-US" sz="1600" b="1" i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𝟎𝟎</m:t>
                    </m:r>
                  </m:oMath>
                </a14:m>
                <a:endParaRPr lang="en-US" sz="16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2.  Калций</a:t>
                </a:r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Wingdings" panose="05000000000000000000" pitchFamily="2" charset="2"/>
                  </a:rPr>
                  <a:t>  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 </a:t>
                </a:r>
                <a14:m>
                  <m:oMath xmlns:m="http://schemas.openxmlformats.org/officeDocument/2006/math">
                    <m:r>
                      <a:rPr lang="bg-BG" sz="1600" b="1" i="0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𝟔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𝟏</m:t>
                        </m:r>
                      </m:sub>
                    </m:sSub>
                    <m:r>
                      <a:rPr lang="en-US" sz="1600" b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bg-BG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𝟒</m:t>
                        </m:r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𝟐</m:t>
                        </m:r>
                      </m:sub>
                    </m:sSub>
                    <m:r>
                      <a:rPr lang="en-US" sz="1600" b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r>
                      <a:rPr lang="bg-BG" sz="1600" b="1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𝟑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𝟑</m:t>
                        </m:r>
                      </m:sub>
                    </m:sSub>
                    <m:r>
                      <a:rPr lang="en-US" sz="1600" b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≥</m:t>
                    </m:r>
                    <m:r>
                      <a:rPr lang="bg-BG" sz="1600" b="1" i="0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𝟏𝟐𝟎</m:t>
                    </m:r>
                  </m:oMath>
                </a14:m>
                <a:endParaRPr lang="en-US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r>
                  <a:rPr lang="en-US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3</a:t>
                </a:r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. Витамини </a:t>
                </a:r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Wingdings" panose="05000000000000000000" pitchFamily="2" charset="2"/>
                  </a:rPr>
                  <a:t>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 </a:t>
                </a:r>
                <a14:m>
                  <m:oMath xmlns:m="http://schemas.openxmlformats.org/officeDocument/2006/math">
                    <m:r>
                      <a:rPr lang="bg-BG" sz="1600" b="1" i="0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𝟐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𝟏</m:t>
                        </m:r>
                      </m:sub>
                    </m:sSub>
                    <m:r>
                      <a:rPr lang="en-US" sz="1600" b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𝟐</m:t>
                        </m:r>
                      </m:sub>
                    </m:sSub>
                    <m:r>
                      <a:rPr lang="en-US" sz="1600" b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𝟑</m:t>
                        </m:r>
                      </m:sub>
                    </m:sSub>
                    <m:r>
                      <a:rPr lang="en-US" sz="1600" b="1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≥</m:t>
                    </m:r>
                    <m:r>
                      <a:rPr lang="bg-BG" sz="1600" b="1" i="0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𝟒𝟎</m:t>
                    </m:r>
                  </m:oMath>
                </a14:m>
                <a:endParaRPr lang="en-US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r>
                  <a:rPr lang="en-US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4. </a:t>
                </a:r>
                <a:r>
                  <a:rPr lang="bg-BG" sz="1600" dirty="0" err="1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Неотрицателност</a:t>
                </a:r>
                <a:r>
                  <a:rPr lang="bg-BG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 на неизвестните</a:t>
                </a:r>
                <a:endParaRPr lang="en-US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654624-CFCD-41BF-98B7-B5202FB33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33" y="3276457"/>
                <a:ext cx="7125987" cy="2714966"/>
              </a:xfrm>
              <a:prstGeom prst="rect">
                <a:avLst/>
              </a:prstGeom>
              <a:blipFill>
                <a:blip r:embed="rId3"/>
                <a:stretch>
                  <a:fillRect l="-256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/>
              <p:nvPr/>
            </p:nvSpPr>
            <p:spPr>
              <a:xfrm>
                <a:off x="1123933" y="2019679"/>
                <a:ext cx="6668787" cy="1044430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Целева функция: </a:t>
                </a:r>
              </a:p>
              <a:p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Основната цел е постигане на минимален разход за храна</a:t>
                </a:r>
                <a:endParaRPr lang="en-US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𝒛</m:t>
                    </m:r>
                    <m:d>
                      <m:dPr>
                        <m:ctrlPr>
                          <a:rPr lang="en-US" sz="1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</m:d>
                    <m:r>
                      <a:rPr lang="en-US" sz="16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=</m:t>
                    </m:r>
                    <m:r>
                      <a:rPr lang="bg-BG" sz="1600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3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𝟏</m:t>
                        </m:r>
                      </m:sub>
                    </m:sSub>
                    <m:r>
                      <a:rPr lang="en-US" sz="16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r>
                      <a:rPr lang="bg-BG" sz="1600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2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𝟐</m:t>
                        </m:r>
                      </m:sub>
                    </m:sSub>
                    <m:r>
                      <a:rPr lang="en-US" sz="16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+</m:t>
                    </m:r>
                    <m:r>
                      <a:rPr lang="bg-BG" sz="1600" b="0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5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ea typeface="Varela Round"/>
                            <a:cs typeface="Varela Round"/>
                          </a:rPr>
                          <m:t>𝟑</m:t>
                        </m:r>
                      </m:sub>
                    </m:sSub>
                    <m:r>
                      <a:rPr lang="en-US" sz="1600">
                        <a:solidFill>
                          <a:srgbClr val="505670"/>
                        </a:solidFill>
                        <a:latin typeface="Cambria Math" panose="02040503050406030204" pitchFamily="18" charset="0"/>
                        <a:ea typeface="Varela Round"/>
                        <a:cs typeface="Varela Round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33" y="2019679"/>
                <a:ext cx="6668787" cy="1044430"/>
              </a:xfrm>
              <a:prstGeom prst="rect">
                <a:avLst/>
              </a:prstGeom>
              <a:blipFill>
                <a:blip r:embed="rId4"/>
                <a:stretch>
                  <a:fillRect l="-273" t="-2841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C762DCB-4BAF-481B-BA7B-20046A74485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1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464" y="1239655"/>
            <a:ext cx="4040188" cy="639762"/>
          </a:xfrm>
        </p:spPr>
        <p:txBody>
          <a:bodyPr/>
          <a:lstStyle/>
          <a:p>
            <a:r>
              <a:rPr lang="bg-BG" dirty="0"/>
              <a:t>Математически модел: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028464" y="2040160"/>
                <a:ext cx="4816076" cy="245803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b="1" i="1" smtClean="0">
                          <a:latin typeface="Cambria Math" panose="02040503050406030204" pitchFamily="18" charset="0"/>
                        </a:rPr>
                        <m:t>𝟓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</m:groupCh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𝒎𝒊𝒏</m:t>
                      </m:r>
                    </m:oMath>
                  </m:oMathPara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</m:t>
                      </m:r>
                      <m:d>
                        <m:dPr>
                          <m:begChr m:val="|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𝟏𝟖𝟎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𝟎𝟎</m:t>
                              </m:r>
                              <m:r>
                                <m:rPr>
                                  <m:nor/>
                                </m:rPr>
                                <a:rPr lang="bg-BG" dirty="0"/>
                                <m:t> </m:t>
                              </m:r>
                            </m:e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𝟏𝟐𝟎</m:t>
                              </m:r>
                              <m:r>
                                <m:rPr>
                                  <m:nor/>
                                </m:rPr>
                                <a:rPr lang="bg-BG" dirty="0"/>
                                <m:t> </m:t>
                              </m:r>
                            </m:e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𝟒𝟎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bg-BG" dirty="0"/>
                                <m:t> </m:t>
                              </m:r>
                              <m:sSub>
                                <m:sSubPr>
                                  <m:ctrlPr>
                                    <a:rPr lang="bg-BG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bg-BG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028464" y="2040160"/>
                <a:ext cx="4816076" cy="2458034"/>
              </a:xfrm>
              <a:blipFill>
                <a:blip r:embed="rId2"/>
                <a:stretch>
                  <a:fillRect b="-496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7">
            <a:extLst>
              <a:ext uri="{FF2B5EF4-FFF2-40B4-BE49-F238E27FC236}">
                <a16:creationId xmlns:a16="http://schemas.microsoft.com/office/drawing/2014/main" id="{077F0536-C9FE-4852-B5B5-4A05D3D1DF70}"/>
              </a:ext>
            </a:extLst>
          </p:cNvPr>
          <p:cNvSpPr txBox="1">
            <a:spLocks/>
          </p:cNvSpPr>
          <p:nvPr/>
        </p:nvSpPr>
        <p:spPr>
          <a:xfrm>
            <a:off x="717632" y="1133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3000" b="0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algn="l"/>
            <a:r>
              <a:rPr lang="bg-BG" sz="3200" b="1" dirty="0"/>
              <a:t>Задача </a:t>
            </a:r>
            <a:r>
              <a:rPr lang="en-US" sz="3200" b="1" dirty="0"/>
              <a:t>1 -</a:t>
            </a:r>
            <a:r>
              <a:rPr lang="bg-BG" sz="3200" b="1" dirty="0"/>
              <a:t> математически модел </a:t>
            </a:r>
            <a:endParaRPr lang="en-US" sz="3200" b="1" dirty="0"/>
          </a:p>
        </p:txBody>
      </p:sp>
      <p:pic>
        <p:nvPicPr>
          <p:cNvPr id="13" name="Picture 1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ECF91F4-3A12-4DC5-BF1C-4929CA64B3C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601047F-05E5-4A27-B1F4-D9E99C8A4DA4}"/>
              </a:ext>
            </a:extLst>
          </p:cNvPr>
          <p:cNvGrpSpPr/>
          <p:nvPr/>
        </p:nvGrpSpPr>
        <p:grpSpPr>
          <a:xfrm>
            <a:off x="1008668" y="5242110"/>
            <a:ext cx="4011466" cy="577850"/>
            <a:chOff x="4572000" y="5624511"/>
            <a:chExt cx="4011466" cy="5778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412458-C396-4EDB-9C57-2C1904AB1C5D}"/>
                </a:ext>
              </a:extLst>
            </p:cNvPr>
            <p:cNvSpPr/>
            <p:nvPr/>
          </p:nvSpPr>
          <p:spPr>
            <a:xfrm>
              <a:off x="4582966" y="5624511"/>
              <a:ext cx="4000500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Решете задачата в </a:t>
              </a:r>
              <a:r>
                <a: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Excel.</a:t>
              </a:r>
            </a:p>
          </p:txBody>
        </p:sp>
        <p:sp>
          <p:nvSpPr>
            <p:cNvPr id="14" name="Shape 375">
              <a:extLst>
                <a:ext uri="{FF2B5EF4-FFF2-40B4-BE49-F238E27FC236}">
                  <a16:creationId xmlns:a16="http://schemas.microsoft.com/office/drawing/2014/main" id="{62EFB66C-1250-40D5-A752-36B60FF0E808}"/>
                </a:ext>
              </a:extLst>
            </p:cNvPr>
            <p:cNvSpPr/>
            <p:nvPr/>
          </p:nvSpPr>
          <p:spPr>
            <a:xfrm>
              <a:off x="4572000" y="5671284"/>
              <a:ext cx="387161" cy="402569"/>
            </a:xfrm>
            <a:custGeom>
              <a:avLst/>
              <a:gdLst/>
              <a:ahLst/>
              <a:cxnLst/>
              <a:rect l="0" t="0" r="0" b="0"/>
              <a:pathLst>
                <a:path w="17715" h="18420" extrusionOk="0">
                  <a:moveTo>
                    <a:pt x="14673" y="803"/>
                  </a:moveTo>
                  <a:lnTo>
                    <a:pt x="14746" y="1022"/>
                  </a:lnTo>
                  <a:lnTo>
                    <a:pt x="14794" y="1217"/>
                  </a:lnTo>
                  <a:lnTo>
                    <a:pt x="14843" y="1655"/>
                  </a:lnTo>
                  <a:lnTo>
                    <a:pt x="14892" y="2141"/>
                  </a:lnTo>
                  <a:lnTo>
                    <a:pt x="14916" y="2385"/>
                  </a:lnTo>
                  <a:lnTo>
                    <a:pt x="14940" y="2482"/>
                  </a:lnTo>
                  <a:lnTo>
                    <a:pt x="15013" y="2604"/>
                  </a:lnTo>
                  <a:lnTo>
                    <a:pt x="14770" y="2847"/>
                  </a:lnTo>
                  <a:lnTo>
                    <a:pt x="14697" y="2920"/>
                  </a:lnTo>
                  <a:lnTo>
                    <a:pt x="14648" y="2628"/>
                  </a:lnTo>
                  <a:lnTo>
                    <a:pt x="14600" y="2360"/>
                  </a:lnTo>
                  <a:lnTo>
                    <a:pt x="14527" y="2044"/>
                  </a:lnTo>
                  <a:lnTo>
                    <a:pt x="14405" y="1776"/>
                  </a:lnTo>
                  <a:lnTo>
                    <a:pt x="14308" y="1484"/>
                  </a:lnTo>
                  <a:lnTo>
                    <a:pt x="14210" y="1192"/>
                  </a:lnTo>
                  <a:lnTo>
                    <a:pt x="14673" y="803"/>
                  </a:lnTo>
                  <a:close/>
                  <a:moveTo>
                    <a:pt x="15695" y="2847"/>
                  </a:moveTo>
                  <a:lnTo>
                    <a:pt x="16400" y="2871"/>
                  </a:lnTo>
                  <a:lnTo>
                    <a:pt x="17106" y="2969"/>
                  </a:lnTo>
                  <a:lnTo>
                    <a:pt x="16984" y="3115"/>
                  </a:lnTo>
                  <a:lnTo>
                    <a:pt x="16960" y="3090"/>
                  </a:lnTo>
                  <a:lnTo>
                    <a:pt x="16887" y="3042"/>
                  </a:lnTo>
                  <a:lnTo>
                    <a:pt x="16790" y="2993"/>
                  </a:lnTo>
                  <a:lnTo>
                    <a:pt x="16595" y="2969"/>
                  </a:lnTo>
                  <a:lnTo>
                    <a:pt x="16400" y="2944"/>
                  </a:lnTo>
                  <a:lnTo>
                    <a:pt x="15914" y="2944"/>
                  </a:lnTo>
                  <a:lnTo>
                    <a:pt x="15622" y="2920"/>
                  </a:lnTo>
                  <a:lnTo>
                    <a:pt x="15695" y="2847"/>
                  </a:lnTo>
                  <a:close/>
                  <a:moveTo>
                    <a:pt x="14040" y="1314"/>
                  </a:moveTo>
                  <a:lnTo>
                    <a:pt x="14040" y="1484"/>
                  </a:lnTo>
                  <a:lnTo>
                    <a:pt x="14064" y="1655"/>
                  </a:lnTo>
                  <a:lnTo>
                    <a:pt x="14137" y="2020"/>
                  </a:lnTo>
                  <a:lnTo>
                    <a:pt x="14283" y="2871"/>
                  </a:lnTo>
                  <a:lnTo>
                    <a:pt x="14308" y="3066"/>
                  </a:lnTo>
                  <a:lnTo>
                    <a:pt x="14332" y="3236"/>
                  </a:lnTo>
                  <a:lnTo>
                    <a:pt x="14162" y="3382"/>
                  </a:lnTo>
                  <a:lnTo>
                    <a:pt x="14137" y="3139"/>
                  </a:lnTo>
                  <a:lnTo>
                    <a:pt x="14040" y="2871"/>
                  </a:lnTo>
                  <a:lnTo>
                    <a:pt x="13870" y="2433"/>
                  </a:lnTo>
                  <a:lnTo>
                    <a:pt x="13748" y="2068"/>
                  </a:lnTo>
                  <a:lnTo>
                    <a:pt x="13675" y="1703"/>
                  </a:lnTo>
                  <a:lnTo>
                    <a:pt x="13651" y="1630"/>
                  </a:lnTo>
                  <a:lnTo>
                    <a:pt x="13699" y="1582"/>
                  </a:lnTo>
                  <a:lnTo>
                    <a:pt x="14040" y="1314"/>
                  </a:lnTo>
                  <a:close/>
                  <a:moveTo>
                    <a:pt x="13359" y="1898"/>
                  </a:moveTo>
                  <a:lnTo>
                    <a:pt x="13432" y="2239"/>
                  </a:lnTo>
                  <a:lnTo>
                    <a:pt x="13553" y="2677"/>
                  </a:lnTo>
                  <a:lnTo>
                    <a:pt x="13699" y="3090"/>
                  </a:lnTo>
                  <a:lnTo>
                    <a:pt x="13772" y="3358"/>
                  </a:lnTo>
                  <a:lnTo>
                    <a:pt x="13821" y="3480"/>
                  </a:lnTo>
                  <a:lnTo>
                    <a:pt x="13894" y="3601"/>
                  </a:lnTo>
                  <a:lnTo>
                    <a:pt x="13724" y="3723"/>
                  </a:lnTo>
                  <a:lnTo>
                    <a:pt x="13699" y="3577"/>
                  </a:lnTo>
                  <a:lnTo>
                    <a:pt x="13675" y="3407"/>
                  </a:lnTo>
                  <a:lnTo>
                    <a:pt x="13578" y="3090"/>
                  </a:lnTo>
                  <a:lnTo>
                    <a:pt x="13529" y="2798"/>
                  </a:lnTo>
                  <a:lnTo>
                    <a:pt x="13456" y="2531"/>
                  </a:lnTo>
                  <a:lnTo>
                    <a:pt x="13383" y="2239"/>
                  </a:lnTo>
                  <a:lnTo>
                    <a:pt x="13237" y="1995"/>
                  </a:lnTo>
                  <a:lnTo>
                    <a:pt x="13359" y="1898"/>
                  </a:lnTo>
                  <a:close/>
                  <a:moveTo>
                    <a:pt x="15378" y="3188"/>
                  </a:moveTo>
                  <a:lnTo>
                    <a:pt x="15500" y="3236"/>
                  </a:lnTo>
                  <a:lnTo>
                    <a:pt x="15646" y="3261"/>
                  </a:lnTo>
                  <a:lnTo>
                    <a:pt x="15914" y="3285"/>
                  </a:lnTo>
                  <a:lnTo>
                    <a:pt x="16790" y="3358"/>
                  </a:lnTo>
                  <a:lnTo>
                    <a:pt x="16473" y="3723"/>
                  </a:lnTo>
                  <a:lnTo>
                    <a:pt x="16449" y="3650"/>
                  </a:lnTo>
                  <a:lnTo>
                    <a:pt x="16425" y="3601"/>
                  </a:lnTo>
                  <a:lnTo>
                    <a:pt x="16376" y="3553"/>
                  </a:lnTo>
                  <a:lnTo>
                    <a:pt x="16303" y="3528"/>
                  </a:lnTo>
                  <a:lnTo>
                    <a:pt x="16084" y="3455"/>
                  </a:lnTo>
                  <a:lnTo>
                    <a:pt x="15816" y="3431"/>
                  </a:lnTo>
                  <a:lnTo>
                    <a:pt x="15573" y="3431"/>
                  </a:lnTo>
                  <a:lnTo>
                    <a:pt x="15330" y="3455"/>
                  </a:lnTo>
                  <a:lnTo>
                    <a:pt x="15086" y="3455"/>
                  </a:lnTo>
                  <a:lnTo>
                    <a:pt x="15135" y="3431"/>
                  </a:lnTo>
                  <a:lnTo>
                    <a:pt x="15378" y="3188"/>
                  </a:lnTo>
                  <a:close/>
                  <a:moveTo>
                    <a:pt x="13067" y="2166"/>
                  </a:moveTo>
                  <a:lnTo>
                    <a:pt x="13115" y="2628"/>
                  </a:lnTo>
                  <a:lnTo>
                    <a:pt x="13164" y="3042"/>
                  </a:lnTo>
                  <a:lnTo>
                    <a:pt x="13188" y="3285"/>
                  </a:lnTo>
                  <a:lnTo>
                    <a:pt x="13213" y="3553"/>
                  </a:lnTo>
                  <a:lnTo>
                    <a:pt x="13261" y="3699"/>
                  </a:lnTo>
                  <a:lnTo>
                    <a:pt x="13286" y="3820"/>
                  </a:lnTo>
                  <a:lnTo>
                    <a:pt x="13359" y="3942"/>
                  </a:lnTo>
                  <a:lnTo>
                    <a:pt x="13432" y="4015"/>
                  </a:lnTo>
                  <a:lnTo>
                    <a:pt x="13213" y="4234"/>
                  </a:lnTo>
                  <a:lnTo>
                    <a:pt x="13140" y="3845"/>
                  </a:lnTo>
                  <a:lnTo>
                    <a:pt x="13042" y="3480"/>
                  </a:lnTo>
                  <a:lnTo>
                    <a:pt x="12994" y="3236"/>
                  </a:lnTo>
                  <a:lnTo>
                    <a:pt x="12921" y="2969"/>
                  </a:lnTo>
                  <a:lnTo>
                    <a:pt x="12823" y="2701"/>
                  </a:lnTo>
                  <a:lnTo>
                    <a:pt x="12702" y="2482"/>
                  </a:lnTo>
                  <a:lnTo>
                    <a:pt x="12872" y="2336"/>
                  </a:lnTo>
                  <a:lnTo>
                    <a:pt x="13067" y="2166"/>
                  </a:lnTo>
                  <a:close/>
                  <a:moveTo>
                    <a:pt x="14648" y="3796"/>
                  </a:moveTo>
                  <a:lnTo>
                    <a:pt x="14819" y="3869"/>
                  </a:lnTo>
                  <a:lnTo>
                    <a:pt x="15013" y="3893"/>
                  </a:lnTo>
                  <a:lnTo>
                    <a:pt x="15232" y="3918"/>
                  </a:lnTo>
                  <a:lnTo>
                    <a:pt x="16035" y="3918"/>
                  </a:lnTo>
                  <a:lnTo>
                    <a:pt x="16181" y="3966"/>
                  </a:lnTo>
                  <a:lnTo>
                    <a:pt x="16230" y="3966"/>
                  </a:lnTo>
                  <a:lnTo>
                    <a:pt x="16011" y="4185"/>
                  </a:lnTo>
                  <a:lnTo>
                    <a:pt x="15938" y="4258"/>
                  </a:lnTo>
                  <a:lnTo>
                    <a:pt x="15816" y="4210"/>
                  </a:lnTo>
                  <a:lnTo>
                    <a:pt x="15695" y="4161"/>
                  </a:lnTo>
                  <a:lnTo>
                    <a:pt x="15403" y="4137"/>
                  </a:lnTo>
                  <a:lnTo>
                    <a:pt x="14916" y="4137"/>
                  </a:lnTo>
                  <a:lnTo>
                    <a:pt x="14600" y="4112"/>
                  </a:lnTo>
                  <a:lnTo>
                    <a:pt x="14259" y="4112"/>
                  </a:lnTo>
                  <a:lnTo>
                    <a:pt x="14648" y="3796"/>
                  </a:lnTo>
                  <a:close/>
                  <a:moveTo>
                    <a:pt x="13943" y="4404"/>
                  </a:moveTo>
                  <a:lnTo>
                    <a:pt x="14283" y="4453"/>
                  </a:lnTo>
                  <a:lnTo>
                    <a:pt x="14648" y="4502"/>
                  </a:lnTo>
                  <a:lnTo>
                    <a:pt x="15354" y="4550"/>
                  </a:lnTo>
                  <a:lnTo>
                    <a:pt x="15524" y="4575"/>
                  </a:lnTo>
                  <a:lnTo>
                    <a:pt x="15330" y="4745"/>
                  </a:lnTo>
                  <a:lnTo>
                    <a:pt x="15184" y="4915"/>
                  </a:lnTo>
                  <a:lnTo>
                    <a:pt x="14697" y="4818"/>
                  </a:lnTo>
                  <a:lnTo>
                    <a:pt x="14186" y="4745"/>
                  </a:lnTo>
                  <a:lnTo>
                    <a:pt x="13699" y="4672"/>
                  </a:lnTo>
                  <a:lnTo>
                    <a:pt x="13797" y="4550"/>
                  </a:lnTo>
                  <a:lnTo>
                    <a:pt x="13943" y="4404"/>
                  </a:lnTo>
                  <a:close/>
                  <a:moveTo>
                    <a:pt x="14721" y="0"/>
                  </a:moveTo>
                  <a:lnTo>
                    <a:pt x="14673" y="24"/>
                  </a:lnTo>
                  <a:lnTo>
                    <a:pt x="14600" y="49"/>
                  </a:lnTo>
                  <a:lnTo>
                    <a:pt x="14551" y="97"/>
                  </a:lnTo>
                  <a:lnTo>
                    <a:pt x="14235" y="389"/>
                  </a:lnTo>
                  <a:lnTo>
                    <a:pt x="13894" y="681"/>
                  </a:lnTo>
                  <a:lnTo>
                    <a:pt x="13213" y="1217"/>
                  </a:lnTo>
                  <a:lnTo>
                    <a:pt x="12921" y="1460"/>
                  </a:lnTo>
                  <a:lnTo>
                    <a:pt x="12775" y="1606"/>
                  </a:lnTo>
                  <a:lnTo>
                    <a:pt x="12629" y="1752"/>
                  </a:lnTo>
                  <a:lnTo>
                    <a:pt x="12507" y="1922"/>
                  </a:lnTo>
                  <a:lnTo>
                    <a:pt x="12385" y="2093"/>
                  </a:lnTo>
                  <a:lnTo>
                    <a:pt x="12337" y="2263"/>
                  </a:lnTo>
                  <a:lnTo>
                    <a:pt x="12312" y="2458"/>
                  </a:lnTo>
                  <a:lnTo>
                    <a:pt x="12337" y="2506"/>
                  </a:lnTo>
                  <a:lnTo>
                    <a:pt x="12312" y="2531"/>
                  </a:lnTo>
                  <a:lnTo>
                    <a:pt x="12337" y="2774"/>
                  </a:lnTo>
                  <a:lnTo>
                    <a:pt x="12385" y="3017"/>
                  </a:lnTo>
                  <a:lnTo>
                    <a:pt x="12507" y="3504"/>
                  </a:lnTo>
                  <a:lnTo>
                    <a:pt x="12531" y="3796"/>
                  </a:lnTo>
                  <a:lnTo>
                    <a:pt x="12580" y="4137"/>
                  </a:lnTo>
                  <a:lnTo>
                    <a:pt x="12629" y="4453"/>
                  </a:lnTo>
                  <a:lnTo>
                    <a:pt x="12677" y="4599"/>
                  </a:lnTo>
                  <a:lnTo>
                    <a:pt x="12750" y="4745"/>
                  </a:lnTo>
                  <a:lnTo>
                    <a:pt x="12288" y="5256"/>
                  </a:lnTo>
                  <a:lnTo>
                    <a:pt x="11972" y="5621"/>
                  </a:lnTo>
                  <a:lnTo>
                    <a:pt x="11631" y="5961"/>
                  </a:lnTo>
                  <a:lnTo>
                    <a:pt x="10925" y="6643"/>
                  </a:lnTo>
                  <a:lnTo>
                    <a:pt x="10220" y="7300"/>
                  </a:lnTo>
                  <a:lnTo>
                    <a:pt x="9490" y="7981"/>
                  </a:lnTo>
                  <a:lnTo>
                    <a:pt x="9125" y="8370"/>
                  </a:lnTo>
                  <a:lnTo>
                    <a:pt x="8760" y="8760"/>
                  </a:lnTo>
                  <a:lnTo>
                    <a:pt x="8371" y="9149"/>
                  </a:lnTo>
                  <a:lnTo>
                    <a:pt x="8006" y="9538"/>
                  </a:lnTo>
                  <a:lnTo>
                    <a:pt x="7884" y="9490"/>
                  </a:lnTo>
                  <a:lnTo>
                    <a:pt x="7665" y="9490"/>
                  </a:lnTo>
                  <a:lnTo>
                    <a:pt x="7568" y="9514"/>
                  </a:lnTo>
                  <a:lnTo>
                    <a:pt x="7422" y="9538"/>
                  </a:lnTo>
                  <a:lnTo>
                    <a:pt x="7276" y="9587"/>
                  </a:lnTo>
                  <a:lnTo>
                    <a:pt x="7154" y="9684"/>
                  </a:lnTo>
                  <a:lnTo>
                    <a:pt x="7057" y="9830"/>
                  </a:lnTo>
                  <a:lnTo>
                    <a:pt x="6984" y="9976"/>
                  </a:lnTo>
                  <a:lnTo>
                    <a:pt x="6935" y="10147"/>
                  </a:lnTo>
                  <a:lnTo>
                    <a:pt x="6959" y="10317"/>
                  </a:lnTo>
                  <a:lnTo>
                    <a:pt x="7008" y="10487"/>
                  </a:lnTo>
                  <a:lnTo>
                    <a:pt x="7105" y="10633"/>
                  </a:lnTo>
                  <a:lnTo>
                    <a:pt x="7251" y="10755"/>
                  </a:lnTo>
                  <a:lnTo>
                    <a:pt x="7397" y="10828"/>
                  </a:lnTo>
                  <a:lnTo>
                    <a:pt x="7568" y="10877"/>
                  </a:lnTo>
                  <a:lnTo>
                    <a:pt x="7738" y="10901"/>
                  </a:lnTo>
                  <a:lnTo>
                    <a:pt x="7884" y="10877"/>
                  </a:lnTo>
                  <a:lnTo>
                    <a:pt x="8006" y="10804"/>
                  </a:lnTo>
                  <a:lnTo>
                    <a:pt x="8127" y="10731"/>
                  </a:lnTo>
                  <a:lnTo>
                    <a:pt x="8225" y="10633"/>
                  </a:lnTo>
                  <a:lnTo>
                    <a:pt x="8298" y="10512"/>
                  </a:lnTo>
                  <a:lnTo>
                    <a:pt x="8346" y="10390"/>
                  </a:lnTo>
                  <a:lnTo>
                    <a:pt x="8371" y="10244"/>
                  </a:lnTo>
                  <a:lnTo>
                    <a:pt x="8371" y="10098"/>
                  </a:lnTo>
                  <a:lnTo>
                    <a:pt x="8371" y="10049"/>
                  </a:lnTo>
                  <a:lnTo>
                    <a:pt x="8711" y="9733"/>
                  </a:lnTo>
                  <a:lnTo>
                    <a:pt x="9003" y="9392"/>
                  </a:lnTo>
                  <a:lnTo>
                    <a:pt x="9295" y="9052"/>
                  </a:lnTo>
                  <a:lnTo>
                    <a:pt x="9587" y="8760"/>
                  </a:lnTo>
                  <a:lnTo>
                    <a:pt x="10317" y="8054"/>
                  </a:lnTo>
                  <a:lnTo>
                    <a:pt x="11047" y="7373"/>
                  </a:lnTo>
                  <a:lnTo>
                    <a:pt x="11777" y="6691"/>
                  </a:lnTo>
                  <a:lnTo>
                    <a:pt x="12507" y="5986"/>
                  </a:lnTo>
                  <a:lnTo>
                    <a:pt x="12896" y="5548"/>
                  </a:lnTo>
                  <a:lnTo>
                    <a:pt x="13310" y="5086"/>
                  </a:lnTo>
                  <a:lnTo>
                    <a:pt x="13529" y="5159"/>
                  </a:lnTo>
                  <a:lnTo>
                    <a:pt x="13748" y="5207"/>
                  </a:lnTo>
                  <a:lnTo>
                    <a:pt x="14186" y="5280"/>
                  </a:lnTo>
                  <a:lnTo>
                    <a:pt x="14648" y="5353"/>
                  </a:lnTo>
                  <a:lnTo>
                    <a:pt x="15086" y="5426"/>
                  </a:lnTo>
                  <a:lnTo>
                    <a:pt x="15184" y="5426"/>
                  </a:lnTo>
                  <a:lnTo>
                    <a:pt x="15281" y="5402"/>
                  </a:lnTo>
                  <a:lnTo>
                    <a:pt x="15354" y="5353"/>
                  </a:lnTo>
                  <a:lnTo>
                    <a:pt x="15403" y="5280"/>
                  </a:lnTo>
                  <a:lnTo>
                    <a:pt x="15524" y="5207"/>
                  </a:lnTo>
                  <a:lnTo>
                    <a:pt x="15670" y="5134"/>
                  </a:lnTo>
                  <a:lnTo>
                    <a:pt x="15938" y="4940"/>
                  </a:lnTo>
                  <a:lnTo>
                    <a:pt x="16352" y="4526"/>
                  </a:lnTo>
                  <a:lnTo>
                    <a:pt x="16692" y="4210"/>
                  </a:lnTo>
                  <a:lnTo>
                    <a:pt x="17009" y="3869"/>
                  </a:lnTo>
                  <a:lnTo>
                    <a:pt x="17325" y="3504"/>
                  </a:lnTo>
                  <a:lnTo>
                    <a:pt x="17617" y="3115"/>
                  </a:lnTo>
                  <a:lnTo>
                    <a:pt x="17641" y="3066"/>
                  </a:lnTo>
                  <a:lnTo>
                    <a:pt x="17666" y="3017"/>
                  </a:lnTo>
                  <a:lnTo>
                    <a:pt x="17641" y="2896"/>
                  </a:lnTo>
                  <a:lnTo>
                    <a:pt x="17690" y="2774"/>
                  </a:lnTo>
                  <a:lnTo>
                    <a:pt x="17714" y="2701"/>
                  </a:lnTo>
                  <a:lnTo>
                    <a:pt x="17690" y="2652"/>
                  </a:lnTo>
                  <a:lnTo>
                    <a:pt x="17690" y="2579"/>
                  </a:lnTo>
                  <a:lnTo>
                    <a:pt x="17641" y="2531"/>
                  </a:lnTo>
                  <a:lnTo>
                    <a:pt x="17593" y="2506"/>
                  </a:lnTo>
                  <a:lnTo>
                    <a:pt x="17495" y="2482"/>
                  </a:lnTo>
                  <a:lnTo>
                    <a:pt x="16838" y="2360"/>
                  </a:lnTo>
                  <a:lnTo>
                    <a:pt x="16473" y="2312"/>
                  </a:lnTo>
                  <a:lnTo>
                    <a:pt x="16108" y="2287"/>
                  </a:lnTo>
                  <a:lnTo>
                    <a:pt x="16303" y="2068"/>
                  </a:lnTo>
                  <a:lnTo>
                    <a:pt x="16522" y="1801"/>
                  </a:lnTo>
                  <a:lnTo>
                    <a:pt x="16790" y="1582"/>
                  </a:lnTo>
                  <a:lnTo>
                    <a:pt x="17033" y="1338"/>
                  </a:lnTo>
                  <a:lnTo>
                    <a:pt x="17276" y="1095"/>
                  </a:lnTo>
                  <a:lnTo>
                    <a:pt x="17325" y="1022"/>
                  </a:lnTo>
                  <a:lnTo>
                    <a:pt x="17374" y="949"/>
                  </a:lnTo>
                  <a:lnTo>
                    <a:pt x="17374" y="876"/>
                  </a:lnTo>
                  <a:lnTo>
                    <a:pt x="17374" y="803"/>
                  </a:lnTo>
                  <a:lnTo>
                    <a:pt x="17325" y="681"/>
                  </a:lnTo>
                  <a:lnTo>
                    <a:pt x="17252" y="560"/>
                  </a:lnTo>
                  <a:lnTo>
                    <a:pt x="17155" y="487"/>
                  </a:lnTo>
                  <a:lnTo>
                    <a:pt x="17009" y="438"/>
                  </a:lnTo>
                  <a:lnTo>
                    <a:pt x="16960" y="462"/>
                  </a:lnTo>
                  <a:lnTo>
                    <a:pt x="16887" y="462"/>
                  </a:lnTo>
                  <a:lnTo>
                    <a:pt x="16838" y="511"/>
                  </a:lnTo>
                  <a:lnTo>
                    <a:pt x="16765" y="560"/>
                  </a:lnTo>
                  <a:lnTo>
                    <a:pt x="16571" y="803"/>
                  </a:lnTo>
                  <a:lnTo>
                    <a:pt x="16352" y="1022"/>
                  </a:lnTo>
                  <a:lnTo>
                    <a:pt x="16133" y="1241"/>
                  </a:lnTo>
                  <a:lnTo>
                    <a:pt x="15914" y="1460"/>
                  </a:lnTo>
                  <a:lnTo>
                    <a:pt x="15500" y="1971"/>
                  </a:lnTo>
                  <a:lnTo>
                    <a:pt x="15427" y="1436"/>
                  </a:lnTo>
                  <a:lnTo>
                    <a:pt x="15354" y="1095"/>
                  </a:lnTo>
                  <a:lnTo>
                    <a:pt x="15281" y="779"/>
                  </a:lnTo>
                  <a:lnTo>
                    <a:pt x="15184" y="462"/>
                  </a:lnTo>
                  <a:lnTo>
                    <a:pt x="15111" y="292"/>
                  </a:lnTo>
                  <a:lnTo>
                    <a:pt x="15013" y="146"/>
                  </a:lnTo>
                  <a:lnTo>
                    <a:pt x="14965" y="97"/>
                  </a:lnTo>
                  <a:lnTo>
                    <a:pt x="14916" y="49"/>
                  </a:lnTo>
                  <a:lnTo>
                    <a:pt x="14794" y="24"/>
                  </a:lnTo>
                  <a:lnTo>
                    <a:pt x="14721" y="0"/>
                  </a:lnTo>
                  <a:close/>
                  <a:moveTo>
                    <a:pt x="7543" y="6691"/>
                  </a:moveTo>
                  <a:lnTo>
                    <a:pt x="7203" y="6716"/>
                  </a:lnTo>
                  <a:lnTo>
                    <a:pt x="6886" y="6789"/>
                  </a:lnTo>
                  <a:lnTo>
                    <a:pt x="6570" y="6862"/>
                  </a:lnTo>
                  <a:lnTo>
                    <a:pt x="6254" y="6983"/>
                  </a:lnTo>
                  <a:lnTo>
                    <a:pt x="5962" y="7105"/>
                  </a:lnTo>
                  <a:lnTo>
                    <a:pt x="5670" y="7275"/>
                  </a:lnTo>
                  <a:lnTo>
                    <a:pt x="5402" y="7470"/>
                  </a:lnTo>
                  <a:lnTo>
                    <a:pt x="5159" y="7713"/>
                  </a:lnTo>
                  <a:lnTo>
                    <a:pt x="4940" y="7957"/>
                  </a:lnTo>
                  <a:lnTo>
                    <a:pt x="4745" y="8249"/>
                  </a:lnTo>
                  <a:lnTo>
                    <a:pt x="4599" y="8565"/>
                  </a:lnTo>
                  <a:lnTo>
                    <a:pt x="4477" y="8857"/>
                  </a:lnTo>
                  <a:lnTo>
                    <a:pt x="4380" y="9149"/>
                  </a:lnTo>
                  <a:lnTo>
                    <a:pt x="4307" y="9441"/>
                  </a:lnTo>
                  <a:lnTo>
                    <a:pt x="4258" y="9733"/>
                  </a:lnTo>
                  <a:lnTo>
                    <a:pt x="4234" y="10025"/>
                  </a:lnTo>
                  <a:lnTo>
                    <a:pt x="4234" y="10317"/>
                  </a:lnTo>
                  <a:lnTo>
                    <a:pt x="4258" y="10609"/>
                  </a:lnTo>
                  <a:lnTo>
                    <a:pt x="4307" y="10901"/>
                  </a:lnTo>
                  <a:lnTo>
                    <a:pt x="4356" y="11193"/>
                  </a:lnTo>
                  <a:lnTo>
                    <a:pt x="4453" y="11461"/>
                  </a:lnTo>
                  <a:lnTo>
                    <a:pt x="4550" y="11728"/>
                  </a:lnTo>
                  <a:lnTo>
                    <a:pt x="4696" y="11996"/>
                  </a:lnTo>
                  <a:lnTo>
                    <a:pt x="4842" y="12239"/>
                  </a:lnTo>
                  <a:lnTo>
                    <a:pt x="5013" y="12458"/>
                  </a:lnTo>
                  <a:lnTo>
                    <a:pt x="5207" y="12677"/>
                  </a:lnTo>
                  <a:lnTo>
                    <a:pt x="5426" y="12872"/>
                  </a:lnTo>
                  <a:lnTo>
                    <a:pt x="5670" y="13067"/>
                  </a:lnTo>
                  <a:lnTo>
                    <a:pt x="5913" y="13213"/>
                  </a:lnTo>
                  <a:lnTo>
                    <a:pt x="6181" y="13334"/>
                  </a:lnTo>
                  <a:lnTo>
                    <a:pt x="6473" y="13456"/>
                  </a:lnTo>
                  <a:lnTo>
                    <a:pt x="6740" y="13529"/>
                  </a:lnTo>
                  <a:lnTo>
                    <a:pt x="7032" y="13602"/>
                  </a:lnTo>
                  <a:lnTo>
                    <a:pt x="7324" y="13650"/>
                  </a:lnTo>
                  <a:lnTo>
                    <a:pt x="7933" y="13650"/>
                  </a:lnTo>
                  <a:lnTo>
                    <a:pt x="8225" y="13626"/>
                  </a:lnTo>
                  <a:lnTo>
                    <a:pt x="8541" y="13577"/>
                  </a:lnTo>
                  <a:lnTo>
                    <a:pt x="8833" y="13505"/>
                  </a:lnTo>
                  <a:lnTo>
                    <a:pt x="9125" y="13407"/>
                  </a:lnTo>
                  <a:lnTo>
                    <a:pt x="9393" y="13310"/>
                  </a:lnTo>
                  <a:lnTo>
                    <a:pt x="9660" y="13164"/>
                  </a:lnTo>
                  <a:lnTo>
                    <a:pt x="9903" y="12994"/>
                  </a:lnTo>
                  <a:lnTo>
                    <a:pt x="10147" y="12823"/>
                  </a:lnTo>
                  <a:lnTo>
                    <a:pt x="10390" y="12604"/>
                  </a:lnTo>
                  <a:lnTo>
                    <a:pt x="10585" y="12361"/>
                  </a:lnTo>
                  <a:lnTo>
                    <a:pt x="10779" y="12118"/>
                  </a:lnTo>
                  <a:lnTo>
                    <a:pt x="10925" y="11826"/>
                  </a:lnTo>
                  <a:lnTo>
                    <a:pt x="11071" y="11558"/>
                  </a:lnTo>
                  <a:lnTo>
                    <a:pt x="11193" y="11242"/>
                  </a:lnTo>
                  <a:lnTo>
                    <a:pt x="11266" y="10950"/>
                  </a:lnTo>
                  <a:lnTo>
                    <a:pt x="11339" y="10633"/>
                  </a:lnTo>
                  <a:lnTo>
                    <a:pt x="11388" y="10317"/>
                  </a:lnTo>
                  <a:lnTo>
                    <a:pt x="11388" y="9976"/>
                  </a:lnTo>
                  <a:lnTo>
                    <a:pt x="11363" y="9660"/>
                  </a:lnTo>
                  <a:lnTo>
                    <a:pt x="11315" y="9368"/>
                  </a:lnTo>
                  <a:lnTo>
                    <a:pt x="11242" y="9052"/>
                  </a:lnTo>
                  <a:lnTo>
                    <a:pt x="11120" y="8760"/>
                  </a:lnTo>
                  <a:lnTo>
                    <a:pt x="10974" y="8492"/>
                  </a:lnTo>
                  <a:lnTo>
                    <a:pt x="10147" y="9295"/>
                  </a:lnTo>
                  <a:lnTo>
                    <a:pt x="9733" y="9733"/>
                  </a:lnTo>
                  <a:lnTo>
                    <a:pt x="9636" y="9855"/>
                  </a:lnTo>
                  <a:lnTo>
                    <a:pt x="9636" y="9879"/>
                  </a:lnTo>
                  <a:lnTo>
                    <a:pt x="9636" y="10244"/>
                  </a:lnTo>
                  <a:lnTo>
                    <a:pt x="9587" y="10609"/>
                  </a:lnTo>
                  <a:lnTo>
                    <a:pt x="9539" y="10779"/>
                  </a:lnTo>
                  <a:lnTo>
                    <a:pt x="9466" y="10950"/>
                  </a:lnTo>
                  <a:lnTo>
                    <a:pt x="9393" y="11096"/>
                  </a:lnTo>
                  <a:lnTo>
                    <a:pt x="9295" y="11242"/>
                  </a:lnTo>
                  <a:lnTo>
                    <a:pt x="9149" y="11363"/>
                  </a:lnTo>
                  <a:lnTo>
                    <a:pt x="9003" y="11485"/>
                  </a:lnTo>
                  <a:lnTo>
                    <a:pt x="8882" y="11582"/>
                  </a:lnTo>
                  <a:lnTo>
                    <a:pt x="8736" y="11655"/>
                  </a:lnTo>
                  <a:lnTo>
                    <a:pt x="8590" y="11704"/>
                  </a:lnTo>
                  <a:lnTo>
                    <a:pt x="8444" y="11728"/>
                  </a:lnTo>
                  <a:lnTo>
                    <a:pt x="8127" y="11777"/>
                  </a:lnTo>
                  <a:lnTo>
                    <a:pt x="7811" y="11777"/>
                  </a:lnTo>
                  <a:lnTo>
                    <a:pt x="7470" y="11728"/>
                  </a:lnTo>
                  <a:lnTo>
                    <a:pt x="7178" y="11631"/>
                  </a:lnTo>
                  <a:lnTo>
                    <a:pt x="6886" y="11509"/>
                  </a:lnTo>
                  <a:lnTo>
                    <a:pt x="6643" y="11339"/>
                  </a:lnTo>
                  <a:lnTo>
                    <a:pt x="6521" y="11217"/>
                  </a:lnTo>
                  <a:lnTo>
                    <a:pt x="6400" y="11096"/>
                  </a:lnTo>
                  <a:lnTo>
                    <a:pt x="6327" y="10974"/>
                  </a:lnTo>
                  <a:lnTo>
                    <a:pt x="6254" y="10852"/>
                  </a:lnTo>
                  <a:lnTo>
                    <a:pt x="6132" y="10560"/>
                  </a:lnTo>
                  <a:lnTo>
                    <a:pt x="6059" y="10244"/>
                  </a:lnTo>
                  <a:lnTo>
                    <a:pt x="6059" y="9928"/>
                  </a:lnTo>
                  <a:lnTo>
                    <a:pt x="6083" y="9636"/>
                  </a:lnTo>
                  <a:lnTo>
                    <a:pt x="6181" y="9319"/>
                  </a:lnTo>
                  <a:lnTo>
                    <a:pt x="6302" y="9052"/>
                  </a:lnTo>
                  <a:lnTo>
                    <a:pt x="6400" y="8906"/>
                  </a:lnTo>
                  <a:lnTo>
                    <a:pt x="6497" y="8808"/>
                  </a:lnTo>
                  <a:lnTo>
                    <a:pt x="6594" y="8687"/>
                  </a:lnTo>
                  <a:lnTo>
                    <a:pt x="6716" y="8614"/>
                  </a:lnTo>
                  <a:lnTo>
                    <a:pt x="6984" y="8468"/>
                  </a:lnTo>
                  <a:lnTo>
                    <a:pt x="7276" y="8370"/>
                  </a:lnTo>
                  <a:lnTo>
                    <a:pt x="7495" y="8322"/>
                  </a:lnTo>
                  <a:lnTo>
                    <a:pt x="7689" y="8322"/>
                  </a:lnTo>
                  <a:lnTo>
                    <a:pt x="8054" y="8370"/>
                  </a:lnTo>
                  <a:lnTo>
                    <a:pt x="8200" y="8200"/>
                  </a:lnTo>
                  <a:lnTo>
                    <a:pt x="8565" y="7811"/>
                  </a:lnTo>
                  <a:lnTo>
                    <a:pt x="8955" y="7421"/>
                  </a:lnTo>
                  <a:lnTo>
                    <a:pt x="9344" y="7032"/>
                  </a:lnTo>
                  <a:lnTo>
                    <a:pt x="9295" y="6983"/>
                  </a:lnTo>
                  <a:lnTo>
                    <a:pt x="9247" y="6959"/>
                  </a:lnTo>
                  <a:lnTo>
                    <a:pt x="8906" y="6862"/>
                  </a:lnTo>
                  <a:lnTo>
                    <a:pt x="8565" y="6764"/>
                  </a:lnTo>
                  <a:lnTo>
                    <a:pt x="8225" y="6716"/>
                  </a:lnTo>
                  <a:lnTo>
                    <a:pt x="7884" y="6691"/>
                  </a:lnTo>
                  <a:close/>
                  <a:moveTo>
                    <a:pt x="13407" y="15621"/>
                  </a:moveTo>
                  <a:lnTo>
                    <a:pt x="13505" y="15694"/>
                  </a:lnTo>
                  <a:lnTo>
                    <a:pt x="13310" y="15865"/>
                  </a:lnTo>
                  <a:lnTo>
                    <a:pt x="13213" y="15962"/>
                  </a:lnTo>
                  <a:lnTo>
                    <a:pt x="13115" y="16059"/>
                  </a:lnTo>
                  <a:lnTo>
                    <a:pt x="12969" y="16278"/>
                  </a:lnTo>
                  <a:lnTo>
                    <a:pt x="12969" y="16303"/>
                  </a:lnTo>
                  <a:lnTo>
                    <a:pt x="12969" y="16351"/>
                  </a:lnTo>
                  <a:lnTo>
                    <a:pt x="12994" y="16400"/>
                  </a:lnTo>
                  <a:lnTo>
                    <a:pt x="13067" y="16424"/>
                  </a:lnTo>
                  <a:lnTo>
                    <a:pt x="13115" y="16424"/>
                  </a:lnTo>
                  <a:lnTo>
                    <a:pt x="13140" y="16400"/>
                  </a:lnTo>
                  <a:lnTo>
                    <a:pt x="13237" y="16327"/>
                  </a:lnTo>
                  <a:lnTo>
                    <a:pt x="13334" y="16254"/>
                  </a:lnTo>
                  <a:lnTo>
                    <a:pt x="13553" y="16132"/>
                  </a:lnTo>
                  <a:lnTo>
                    <a:pt x="13699" y="16035"/>
                  </a:lnTo>
                  <a:lnTo>
                    <a:pt x="13845" y="15938"/>
                  </a:lnTo>
                  <a:lnTo>
                    <a:pt x="13918" y="15986"/>
                  </a:lnTo>
                  <a:lnTo>
                    <a:pt x="13772" y="16132"/>
                  </a:lnTo>
                  <a:lnTo>
                    <a:pt x="13651" y="16254"/>
                  </a:lnTo>
                  <a:lnTo>
                    <a:pt x="13553" y="16351"/>
                  </a:lnTo>
                  <a:lnTo>
                    <a:pt x="13456" y="16497"/>
                  </a:lnTo>
                  <a:lnTo>
                    <a:pt x="13407" y="16570"/>
                  </a:lnTo>
                  <a:lnTo>
                    <a:pt x="13383" y="16643"/>
                  </a:lnTo>
                  <a:lnTo>
                    <a:pt x="13383" y="16692"/>
                  </a:lnTo>
                  <a:lnTo>
                    <a:pt x="13432" y="16741"/>
                  </a:lnTo>
                  <a:lnTo>
                    <a:pt x="13553" y="16741"/>
                  </a:lnTo>
                  <a:lnTo>
                    <a:pt x="13675" y="16668"/>
                  </a:lnTo>
                  <a:lnTo>
                    <a:pt x="13870" y="16497"/>
                  </a:lnTo>
                  <a:lnTo>
                    <a:pt x="14137" y="16278"/>
                  </a:lnTo>
                  <a:lnTo>
                    <a:pt x="14186" y="16230"/>
                  </a:lnTo>
                  <a:lnTo>
                    <a:pt x="14283" y="16351"/>
                  </a:lnTo>
                  <a:lnTo>
                    <a:pt x="13967" y="16643"/>
                  </a:lnTo>
                  <a:lnTo>
                    <a:pt x="13821" y="16862"/>
                  </a:lnTo>
                  <a:lnTo>
                    <a:pt x="13675" y="17057"/>
                  </a:lnTo>
                  <a:lnTo>
                    <a:pt x="13675" y="17106"/>
                  </a:lnTo>
                  <a:lnTo>
                    <a:pt x="13724" y="17106"/>
                  </a:lnTo>
                  <a:lnTo>
                    <a:pt x="13967" y="16984"/>
                  </a:lnTo>
                  <a:lnTo>
                    <a:pt x="14210" y="16887"/>
                  </a:lnTo>
                  <a:lnTo>
                    <a:pt x="14381" y="16789"/>
                  </a:lnTo>
                  <a:lnTo>
                    <a:pt x="14527" y="16668"/>
                  </a:lnTo>
                  <a:lnTo>
                    <a:pt x="14600" y="16765"/>
                  </a:lnTo>
                  <a:lnTo>
                    <a:pt x="14575" y="16789"/>
                  </a:lnTo>
                  <a:lnTo>
                    <a:pt x="14259" y="17033"/>
                  </a:lnTo>
                  <a:lnTo>
                    <a:pt x="14113" y="17154"/>
                  </a:lnTo>
                  <a:lnTo>
                    <a:pt x="13991" y="17300"/>
                  </a:lnTo>
                  <a:lnTo>
                    <a:pt x="13991" y="17349"/>
                  </a:lnTo>
                  <a:lnTo>
                    <a:pt x="14016" y="17349"/>
                  </a:lnTo>
                  <a:lnTo>
                    <a:pt x="14210" y="17300"/>
                  </a:lnTo>
                  <a:lnTo>
                    <a:pt x="14356" y="17252"/>
                  </a:lnTo>
                  <a:lnTo>
                    <a:pt x="14551" y="17154"/>
                  </a:lnTo>
                  <a:lnTo>
                    <a:pt x="14721" y="17057"/>
                  </a:lnTo>
                  <a:lnTo>
                    <a:pt x="14746" y="17203"/>
                  </a:lnTo>
                  <a:lnTo>
                    <a:pt x="14624" y="17252"/>
                  </a:lnTo>
                  <a:lnTo>
                    <a:pt x="14478" y="17300"/>
                  </a:lnTo>
                  <a:lnTo>
                    <a:pt x="14332" y="17373"/>
                  </a:lnTo>
                  <a:lnTo>
                    <a:pt x="14259" y="17422"/>
                  </a:lnTo>
                  <a:lnTo>
                    <a:pt x="14186" y="17471"/>
                  </a:lnTo>
                  <a:lnTo>
                    <a:pt x="14137" y="17544"/>
                  </a:lnTo>
                  <a:lnTo>
                    <a:pt x="14162" y="17641"/>
                  </a:lnTo>
                  <a:lnTo>
                    <a:pt x="14210" y="17690"/>
                  </a:lnTo>
                  <a:lnTo>
                    <a:pt x="14283" y="17714"/>
                  </a:lnTo>
                  <a:lnTo>
                    <a:pt x="14429" y="17714"/>
                  </a:lnTo>
                  <a:lnTo>
                    <a:pt x="14575" y="17665"/>
                  </a:lnTo>
                  <a:lnTo>
                    <a:pt x="14697" y="17617"/>
                  </a:lnTo>
                  <a:lnTo>
                    <a:pt x="14697" y="17641"/>
                  </a:lnTo>
                  <a:lnTo>
                    <a:pt x="14600" y="17738"/>
                  </a:lnTo>
                  <a:lnTo>
                    <a:pt x="14502" y="17811"/>
                  </a:lnTo>
                  <a:lnTo>
                    <a:pt x="14405" y="17860"/>
                  </a:lnTo>
                  <a:lnTo>
                    <a:pt x="14283" y="17884"/>
                  </a:lnTo>
                  <a:lnTo>
                    <a:pt x="14162" y="17909"/>
                  </a:lnTo>
                  <a:lnTo>
                    <a:pt x="14040" y="17884"/>
                  </a:lnTo>
                  <a:lnTo>
                    <a:pt x="13772" y="17836"/>
                  </a:lnTo>
                  <a:lnTo>
                    <a:pt x="13529" y="17738"/>
                  </a:lnTo>
                  <a:lnTo>
                    <a:pt x="13261" y="17592"/>
                  </a:lnTo>
                  <a:lnTo>
                    <a:pt x="13067" y="17471"/>
                  </a:lnTo>
                  <a:lnTo>
                    <a:pt x="12896" y="17349"/>
                  </a:lnTo>
                  <a:lnTo>
                    <a:pt x="12726" y="17179"/>
                  </a:lnTo>
                  <a:lnTo>
                    <a:pt x="12556" y="16984"/>
                  </a:lnTo>
                  <a:lnTo>
                    <a:pt x="12337" y="16765"/>
                  </a:lnTo>
                  <a:lnTo>
                    <a:pt x="12239" y="16692"/>
                  </a:lnTo>
                  <a:lnTo>
                    <a:pt x="12118" y="16668"/>
                  </a:lnTo>
                  <a:lnTo>
                    <a:pt x="12458" y="16424"/>
                  </a:lnTo>
                  <a:lnTo>
                    <a:pt x="12799" y="16181"/>
                  </a:lnTo>
                  <a:lnTo>
                    <a:pt x="13115" y="15913"/>
                  </a:lnTo>
                  <a:lnTo>
                    <a:pt x="13407" y="15621"/>
                  </a:lnTo>
                  <a:close/>
                  <a:moveTo>
                    <a:pt x="2287" y="15548"/>
                  </a:moveTo>
                  <a:lnTo>
                    <a:pt x="2579" y="15840"/>
                  </a:lnTo>
                  <a:lnTo>
                    <a:pt x="2871" y="16084"/>
                  </a:lnTo>
                  <a:lnTo>
                    <a:pt x="3188" y="16351"/>
                  </a:lnTo>
                  <a:lnTo>
                    <a:pt x="3504" y="16570"/>
                  </a:lnTo>
                  <a:lnTo>
                    <a:pt x="3382" y="16765"/>
                  </a:lnTo>
                  <a:lnTo>
                    <a:pt x="3358" y="16741"/>
                  </a:lnTo>
                  <a:lnTo>
                    <a:pt x="3309" y="16668"/>
                  </a:lnTo>
                  <a:lnTo>
                    <a:pt x="3261" y="16619"/>
                  </a:lnTo>
                  <a:lnTo>
                    <a:pt x="3115" y="16522"/>
                  </a:lnTo>
                  <a:lnTo>
                    <a:pt x="2944" y="16449"/>
                  </a:lnTo>
                  <a:lnTo>
                    <a:pt x="2823" y="16351"/>
                  </a:lnTo>
                  <a:lnTo>
                    <a:pt x="2774" y="16351"/>
                  </a:lnTo>
                  <a:lnTo>
                    <a:pt x="2774" y="16376"/>
                  </a:lnTo>
                  <a:lnTo>
                    <a:pt x="2823" y="16522"/>
                  </a:lnTo>
                  <a:lnTo>
                    <a:pt x="2944" y="16668"/>
                  </a:lnTo>
                  <a:lnTo>
                    <a:pt x="2969" y="16692"/>
                  </a:lnTo>
                  <a:lnTo>
                    <a:pt x="2725" y="16546"/>
                  </a:lnTo>
                  <a:lnTo>
                    <a:pt x="2604" y="16497"/>
                  </a:lnTo>
                  <a:lnTo>
                    <a:pt x="2458" y="16473"/>
                  </a:lnTo>
                  <a:lnTo>
                    <a:pt x="2433" y="16473"/>
                  </a:lnTo>
                  <a:lnTo>
                    <a:pt x="2433" y="16522"/>
                  </a:lnTo>
                  <a:lnTo>
                    <a:pt x="2482" y="16619"/>
                  </a:lnTo>
                  <a:lnTo>
                    <a:pt x="2555" y="16692"/>
                  </a:lnTo>
                  <a:lnTo>
                    <a:pt x="2725" y="16862"/>
                  </a:lnTo>
                  <a:lnTo>
                    <a:pt x="2896" y="17008"/>
                  </a:lnTo>
                  <a:lnTo>
                    <a:pt x="3090" y="17130"/>
                  </a:lnTo>
                  <a:lnTo>
                    <a:pt x="2920" y="17300"/>
                  </a:lnTo>
                  <a:lnTo>
                    <a:pt x="2871" y="17276"/>
                  </a:lnTo>
                  <a:lnTo>
                    <a:pt x="2774" y="17203"/>
                  </a:lnTo>
                  <a:lnTo>
                    <a:pt x="2701" y="17106"/>
                  </a:lnTo>
                  <a:lnTo>
                    <a:pt x="2604" y="17008"/>
                  </a:lnTo>
                  <a:lnTo>
                    <a:pt x="2506" y="16935"/>
                  </a:lnTo>
                  <a:lnTo>
                    <a:pt x="2385" y="16887"/>
                  </a:lnTo>
                  <a:lnTo>
                    <a:pt x="2336" y="16862"/>
                  </a:lnTo>
                  <a:lnTo>
                    <a:pt x="2263" y="16887"/>
                  </a:lnTo>
                  <a:lnTo>
                    <a:pt x="2239" y="16911"/>
                  </a:lnTo>
                  <a:lnTo>
                    <a:pt x="2239" y="16960"/>
                  </a:lnTo>
                  <a:lnTo>
                    <a:pt x="2287" y="17057"/>
                  </a:lnTo>
                  <a:lnTo>
                    <a:pt x="2336" y="17179"/>
                  </a:lnTo>
                  <a:lnTo>
                    <a:pt x="2433" y="17300"/>
                  </a:lnTo>
                  <a:lnTo>
                    <a:pt x="2506" y="17422"/>
                  </a:lnTo>
                  <a:lnTo>
                    <a:pt x="2652" y="17544"/>
                  </a:lnTo>
                  <a:lnTo>
                    <a:pt x="2531" y="17617"/>
                  </a:lnTo>
                  <a:lnTo>
                    <a:pt x="2336" y="17519"/>
                  </a:lnTo>
                  <a:lnTo>
                    <a:pt x="2166" y="17398"/>
                  </a:lnTo>
                  <a:lnTo>
                    <a:pt x="2068" y="17325"/>
                  </a:lnTo>
                  <a:lnTo>
                    <a:pt x="1995" y="17300"/>
                  </a:lnTo>
                  <a:lnTo>
                    <a:pt x="1898" y="17252"/>
                  </a:lnTo>
                  <a:lnTo>
                    <a:pt x="1777" y="17227"/>
                  </a:lnTo>
                  <a:lnTo>
                    <a:pt x="1752" y="17252"/>
                  </a:lnTo>
                  <a:lnTo>
                    <a:pt x="1728" y="17276"/>
                  </a:lnTo>
                  <a:lnTo>
                    <a:pt x="1777" y="17398"/>
                  </a:lnTo>
                  <a:lnTo>
                    <a:pt x="1825" y="17519"/>
                  </a:lnTo>
                  <a:lnTo>
                    <a:pt x="1898" y="17641"/>
                  </a:lnTo>
                  <a:lnTo>
                    <a:pt x="1995" y="17738"/>
                  </a:lnTo>
                  <a:lnTo>
                    <a:pt x="2117" y="17860"/>
                  </a:lnTo>
                  <a:lnTo>
                    <a:pt x="1874" y="17763"/>
                  </a:lnTo>
                  <a:lnTo>
                    <a:pt x="1679" y="17665"/>
                  </a:lnTo>
                  <a:lnTo>
                    <a:pt x="1582" y="17617"/>
                  </a:lnTo>
                  <a:lnTo>
                    <a:pt x="1485" y="17592"/>
                  </a:lnTo>
                  <a:lnTo>
                    <a:pt x="1436" y="17592"/>
                  </a:lnTo>
                  <a:lnTo>
                    <a:pt x="1363" y="17641"/>
                  </a:lnTo>
                  <a:lnTo>
                    <a:pt x="1339" y="17690"/>
                  </a:lnTo>
                  <a:lnTo>
                    <a:pt x="1339" y="17738"/>
                  </a:lnTo>
                  <a:lnTo>
                    <a:pt x="1412" y="17860"/>
                  </a:lnTo>
                  <a:lnTo>
                    <a:pt x="1509" y="17957"/>
                  </a:lnTo>
                  <a:lnTo>
                    <a:pt x="1363" y="17909"/>
                  </a:lnTo>
                  <a:lnTo>
                    <a:pt x="1266" y="17836"/>
                  </a:lnTo>
                  <a:lnTo>
                    <a:pt x="1168" y="17738"/>
                  </a:lnTo>
                  <a:lnTo>
                    <a:pt x="1095" y="17592"/>
                  </a:lnTo>
                  <a:lnTo>
                    <a:pt x="1071" y="17422"/>
                  </a:lnTo>
                  <a:lnTo>
                    <a:pt x="1095" y="17227"/>
                  </a:lnTo>
                  <a:lnTo>
                    <a:pt x="1144" y="17057"/>
                  </a:lnTo>
                  <a:lnTo>
                    <a:pt x="1217" y="16887"/>
                  </a:lnTo>
                  <a:lnTo>
                    <a:pt x="1436" y="16522"/>
                  </a:lnTo>
                  <a:lnTo>
                    <a:pt x="1631" y="16254"/>
                  </a:lnTo>
                  <a:lnTo>
                    <a:pt x="1777" y="16059"/>
                  </a:lnTo>
                  <a:lnTo>
                    <a:pt x="1947" y="15889"/>
                  </a:lnTo>
                  <a:lnTo>
                    <a:pt x="2117" y="15719"/>
                  </a:lnTo>
                  <a:lnTo>
                    <a:pt x="2287" y="15548"/>
                  </a:lnTo>
                  <a:close/>
                  <a:moveTo>
                    <a:pt x="7689" y="2336"/>
                  </a:moveTo>
                  <a:lnTo>
                    <a:pt x="7203" y="2360"/>
                  </a:lnTo>
                  <a:lnTo>
                    <a:pt x="6716" y="2409"/>
                  </a:lnTo>
                  <a:lnTo>
                    <a:pt x="6205" y="2482"/>
                  </a:lnTo>
                  <a:lnTo>
                    <a:pt x="5718" y="2604"/>
                  </a:lnTo>
                  <a:lnTo>
                    <a:pt x="5256" y="2725"/>
                  </a:lnTo>
                  <a:lnTo>
                    <a:pt x="4794" y="2896"/>
                  </a:lnTo>
                  <a:lnTo>
                    <a:pt x="4404" y="3066"/>
                  </a:lnTo>
                  <a:lnTo>
                    <a:pt x="4015" y="3261"/>
                  </a:lnTo>
                  <a:lnTo>
                    <a:pt x="3626" y="3480"/>
                  </a:lnTo>
                  <a:lnTo>
                    <a:pt x="3261" y="3723"/>
                  </a:lnTo>
                  <a:lnTo>
                    <a:pt x="2896" y="3966"/>
                  </a:lnTo>
                  <a:lnTo>
                    <a:pt x="2555" y="4258"/>
                  </a:lnTo>
                  <a:lnTo>
                    <a:pt x="2214" y="4526"/>
                  </a:lnTo>
                  <a:lnTo>
                    <a:pt x="1923" y="4842"/>
                  </a:lnTo>
                  <a:lnTo>
                    <a:pt x="1655" y="5134"/>
                  </a:lnTo>
                  <a:lnTo>
                    <a:pt x="1412" y="5451"/>
                  </a:lnTo>
                  <a:lnTo>
                    <a:pt x="1217" y="5791"/>
                  </a:lnTo>
                  <a:lnTo>
                    <a:pt x="1071" y="6156"/>
                  </a:lnTo>
                  <a:lnTo>
                    <a:pt x="657" y="7105"/>
                  </a:lnTo>
                  <a:lnTo>
                    <a:pt x="463" y="7592"/>
                  </a:lnTo>
                  <a:lnTo>
                    <a:pt x="292" y="8078"/>
                  </a:lnTo>
                  <a:lnTo>
                    <a:pt x="171" y="8565"/>
                  </a:lnTo>
                  <a:lnTo>
                    <a:pt x="73" y="9052"/>
                  </a:lnTo>
                  <a:lnTo>
                    <a:pt x="25" y="9563"/>
                  </a:lnTo>
                  <a:lnTo>
                    <a:pt x="0" y="10074"/>
                  </a:lnTo>
                  <a:lnTo>
                    <a:pt x="25" y="10585"/>
                  </a:lnTo>
                  <a:lnTo>
                    <a:pt x="49" y="11096"/>
                  </a:lnTo>
                  <a:lnTo>
                    <a:pt x="122" y="11607"/>
                  </a:lnTo>
                  <a:lnTo>
                    <a:pt x="195" y="12093"/>
                  </a:lnTo>
                  <a:lnTo>
                    <a:pt x="268" y="12531"/>
                  </a:lnTo>
                  <a:lnTo>
                    <a:pt x="414" y="12945"/>
                  </a:lnTo>
                  <a:lnTo>
                    <a:pt x="584" y="13359"/>
                  </a:lnTo>
                  <a:lnTo>
                    <a:pt x="779" y="13723"/>
                  </a:lnTo>
                  <a:lnTo>
                    <a:pt x="1022" y="14088"/>
                  </a:lnTo>
                  <a:lnTo>
                    <a:pt x="1290" y="14453"/>
                  </a:lnTo>
                  <a:lnTo>
                    <a:pt x="1558" y="14794"/>
                  </a:lnTo>
                  <a:lnTo>
                    <a:pt x="1850" y="15135"/>
                  </a:lnTo>
                  <a:lnTo>
                    <a:pt x="1995" y="15281"/>
                  </a:lnTo>
                  <a:lnTo>
                    <a:pt x="1850" y="15378"/>
                  </a:lnTo>
                  <a:lnTo>
                    <a:pt x="1704" y="15500"/>
                  </a:lnTo>
                  <a:lnTo>
                    <a:pt x="1582" y="15621"/>
                  </a:lnTo>
                  <a:lnTo>
                    <a:pt x="1460" y="15767"/>
                  </a:lnTo>
                  <a:lnTo>
                    <a:pt x="1217" y="16084"/>
                  </a:lnTo>
                  <a:lnTo>
                    <a:pt x="1047" y="16351"/>
                  </a:lnTo>
                  <a:lnTo>
                    <a:pt x="925" y="16546"/>
                  </a:lnTo>
                  <a:lnTo>
                    <a:pt x="828" y="16741"/>
                  </a:lnTo>
                  <a:lnTo>
                    <a:pt x="730" y="16960"/>
                  </a:lnTo>
                  <a:lnTo>
                    <a:pt x="682" y="17179"/>
                  </a:lnTo>
                  <a:lnTo>
                    <a:pt x="633" y="17398"/>
                  </a:lnTo>
                  <a:lnTo>
                    <a:pt x="657" y="17617"/>
                  </a:lnTo>
                  <a:lnTo>
                    <a:pt x="706" y="17836"/>
                  </a:lnTo>
                  <a:lnTo>
                    <a:pt x="828" y="18055"/>
                  </a:lnTo>
                  <a:lnTo>
                    <a:pt x="901" y="18152"/>
                  </a:lnTo>
                  <a:lnTo>
                    <a:pt x="974" y="18225"/>
                  </a:lnTo>
                  <a:lnTo>
                    <a:pt x="1144" y="18322"/>
                  </a:lnTo>
                  <a:lnTo>
                    <a:pt x="1339" y="18395"/>
                  </a:lnTo>
                  <a:lnTo>
                    <a:pt x="1558" y="18420"/>
                  </a:lnTo>
                  <a:lnTo>
                    <a:pt x="1777" y="18420"/>
                  </a:lnTo>
                  <a:lnTo>
                    <a:pt x="1995" y="18371"/>
                  </a:lnTo>
                  <a:lnTo>
                    <a:pt x="2190" y="18322"/>
                  </a:lnTo>
                  <a:lnTo>
                    <a:pt x="2385" y="18249"/>
                  </a:lnTo>
                  <a:lnTo>
                    <a:pt x="2604" y="18128"/>
                  </a:lnTo>
                  <a:lnTo>
                    <a:pt x="2823" y="18006"/>
                  </a:lnTo>
                  <a:lnTo>
                    <a:pt x="3042" y="17836"/>
                  </a:lnTo>
                  <a:lnTo>
                    <a:pt x="3236" y="17665"/>
                  </a:lnTo>
                  <a:lnTo>
                    <a:pt x="3431" y="17471"/>
                  </a:lnTo>
                  <a:lnTo>
                    <a:pt x="3601" y="17276"/>
                  </a:lnTo>
                  <a:lnTo>
                    <a:pt x="3893" y="16838"/>
                  </a:lnTo>
                  <a:lnTo>
                    <a:pt x="4258" y="17081"/>
                  </a:lnTo>
                  <a:lnTo>
                    <a:pt x="4648" y="17276"/>
                  </a:lnTo>
                  <a:lnTo>
                    <a:pt x="4867" y="17398"/>
                  </a:lnTo>
                  <a:lnTo>
                    <a:pt x="5110" y="17495"/>
                  </a:lnTo>
                  <a:lnTo>
                    <a:pt x="5353" y="17568"/>
                  </a:lnTo>
                  <a:lnTo>
                    <a:pt x="5597" y="17641"/>
                  </a:lnTo>
                  <a:lnTo>
                    <a:pt x="6083" y="17738"/>
                  </a:lnTo>
                  <a:lnTo>
                    <a:pt x="6594" y="17811"/>
                  </a:lnTo>
                  <a:lnTo>
                    <a:pt x="7057" y="17884"/>
                  </a:lnTo>
                  <a:lnTo>
                    <a:pt x="7519" y="17909"/>
                  </a:lnTo>
                  <a:lnTo>
                    <a:pt x="8006" y="17909"/>
                  </a:lnTo>
                  <a:lnTo>
                    <a:pt x="8492" y="17860"/>
                  </a:lnTo>
                  <a:lnTo>
                    <a:pt x="8541" y="17884"/>
                  </a:lnTo>
                  <a:lnTo>
                    <a:pt x="8590" y="17860"/>
                  </a:lnTo>
                  <a:lnTo>
                    <a:pt x="8736" y="17811"/>
                  </a:lnTo>
                  <a:lnTo>
                    <a:pt x="8906" y="17787"/>
                  </a:lnTo>
                  <a:lnTo>
                    <a:pt x="9222" y="17738"/>
                  </a:lnTo>
                  <a:lnTo>
                    <a:pt x="9514" y="17690"/>
                  </a:lnTo>
                  <a:lnTo>
                    <a:pt x="9782" y="17592"/>
                  </a:lnTo>
                  <a:lnTo>
                    <a:pt x="10317" y="17398"/>
                  </a:lnTo>
                  <a:lnTo>
                    <a:pt x="11120" y="17130"/>
                  </a:lnTo>
                  <a:lnTo>
                    <a:pt x="11509" y="16984"/>
                  </a:lnTo>
                  <a:lnTo>
                    <a:pt x="11899" y="16789"/>
                  </a:lnTo>
                  <a:lnTo>
                    <a:pt x="11899" y="16814"/>
                  </a:lnTo>
                  <a:lnTo>
                    <a:pt x="11996" y="17033"/>
                  </a:lnTo>
                  <a:lnTo>
                    <a:pt x="12118" y="17227"/>
                  </a:lnTo>
                  <a:lnTo>
                    <a:pt x="12288" y="17446"/>
                  </a:lnTo>
                  <a:lnTo>
                    <a:pt x="12483" y="17641"/>
                  </a:lnTo>
                  <a:lnTo>
                    <a:pt x="12702" y="17811"/>
                  </a:lnTo>
                  <a:lnTo>
                    <a:pt x="12921" y="17957"/>
                  </a:lnTo>
                  <a:lnTo>
                    <a:pt x="13115" y="18079"/>
                  </a:lnTo>
                  <a:lnTo>
                    <a:pt x="13334" y="18176"/>
                  </a:lnTo>
                  <a:lnTo>
                    <a:pt x="13529" y="18249"/>
                  </a:lnTo>
                  <a:lnTo>
                    <a:pt x="13748" y="18298"/>
                  </a:lnTo>
                  <a:lnTo>
                    <a:pt x="13991" y="18347"/>
                  </a:lnTo>
                  <a:lnTo>
                    <a:pt x="14259" y="18347"/>
                  </a:lnTo>
                  <a:lnTo>
                    <a:pt x="14478" y="18322"/>
                  </a:lnTo>
                  <a:lnTo>
                    <a:pt x="14721" y="18249"/>
                  </a:lnTo>
                  <a:lnTo>
                    <a:pt x="14819" y="18176"/>
                  </a:lnTo>
                  <a:lnTo>
                    <a:pt x="14892" y="18103"/>
                  </a:lnTo>
                  <a:lnTo>
                    <a:pt x="14989" y="18030"/>
                  </a:lnTo>
                  <a:lnTo>
                    <a:pt x="15038" y="17933"/>
                  </a:lnTo>
                  <a:lnTo>
                    <a:pt x="15135" y="17763"/>
                  </a:lnTo>
                  <a:lnTo>
                    <a:pt x="15159" y="17568"/>
                  </a:lnTo>
                  <a:lnTo>
                    <a:pt x="15184" y="17373"/>
                  </a:lnTo>
                  <a:lnTo>
                    <a:pt x="15159" y="17203"/>
                  </a:lnTo>
                  <a:lnTo>
                    <a:pt x="15111" y="17008"/>
                  </a:lnTo>
                  <a:lnTo>
                    <a:pt x="15062" y="16838"/>
                  </a:lnTo>
                  <a:lnTo>
                    <a:pt x="14965" y="16643"/>
                  </a:lnTo>
                  <a:lnTo>
                    <a:pt x="14867" y="16473"/>
                  </a:lnTo>
                  <a:lnTo>
                    <a:pt x="14600" y="16132"/>
                  </a:lnTo>
                  <a:lnTo>
                    <a:pt x="14308" y="15792"/>
                  </a:lnTo>
                  <a:lnTo>
                    <a:pt x="13991" y="15524"/>
                  </a:lnTo>
                  <a:lnTo>
                    <a:pt x="13675" y="15281"/>
                  </a:lnTo>
                  <a:lnTo>
                    <a:pt x="13967" y="14916"/>
                  </a:lnTo>
                  <a:lnTo>
                    <a:pt x="14235" y="14551"/>
                  </a:lnTo>
                  <a:lnTo>
                    <a:pt x="14478" y="14137"/>
                  </a:lnTo>
                  <a:lnTo>
                    <a:pt x="14673" y="13748"/>
                  </a:lnTo>
                  <a:lnTo>
                    <a:pt x="14916" y="13237"/>
                  </a:lnTo>
                  <a:lnTo>
                    <a:pt x="15111" y="12677"/>
                  </a:lnTo>
                  <a:lnTo>
                    <a:pt x="15257" y="12118"/>
                  </a:lnTo>
                  <a:lnTo>
                    <a:pt x="15378" y="11534"/>
                  </a:lnTo>
                  <a:lnTo>
                    <a:pt x="15476" y="10950"/>
                  </a:lnTo>
                  <a:lnTo>
                    <a:pt x="15524" y="10366"/>
                  </a:lnTo>
                  <a:lnTo>
                    <a:pt x="15549" y="9782"/>
                  </a:lnTo>
                  <a:lnTo>
                    <a:pt x="15549" y="9222"/>
                  </a:lnTo>
                  <a:lnTo>
                    <a:pt x="15524" y="8979"/>
                  </a:lnTo>
                  <a:lnTo>
                    <a:pt x="15476" y="8735"/>
                  </a:lnTo>
                  <a:lnTo>
                    <a:pt x="15354" y="8249"/>
                  </a:lnTo>
                  <a:lnTo>
                    <a:pt x="15208" y="7786"/>
                  </a:lnTo>
                  <a:lnTo>
                    <a:pt x="15038" y="7348"/>
                  </a:lnTo>
                  <a:lnTo>
                    <a:pt x="14867" y="6910"/>
                  </a:lnTo>
                  <a:lnTo>
                    <a:pt x="14794" y="6691"/>
                  </a:lnTo>
                  <a:lnTo>
                    <a:pt x="14697" y="6472"/>
                  </a:lnTo>
                  <a:lnTo>
                    <a:pt x="14575" y="6278"/>
                  </a:lnTo>
                  <a:lnTo>
                    <a:pt x="14429" y="6107"/>
                  </a:lnTo>
                  <a:lnTo>
                    <a:pt x="14381" y="6107"/>
                  </a:lnTo>
                  <a:lnTo>
                    <a:pt x="13991" y="6034"/>
                  </a:lnTo>
                  <a:lnTo>
                    <a:pt x="13578" y="5961"/>
                  </a:lnTo>
                  <a:lnTo>
                    <a:pt x="13042" y="6521"/>
                  </a:lnTo>
                  <a:lnTo>
                    <a:pt x="12458" y="7105"/>
                  </a:lnTo>
                  <a:lnTo>
                    <a:pt x="12580" y="7202"/>
                  </a:lnTo>
                  <a:lnTo>
                    <a:pt x="12702" y="7324"/>
                  </a:lnTo>
                  <a:lnTo>
                    <a:pt x="12799" y="7470"/>
                  </a:lnTo>
                  <a:lnTo>
                    <a:pt x="12872" y="7616"/>
                  </a:lnTo>
                  <a:lnTo>
                    <a:pt x="13018" y="7957"/>
                  </a:lnTo>
                  <a:lnTo>
                    <a:pt x="13140" y="8249"/>
                  </a:lnTo>
                  <a:lnTo>
                    <a:pt x="13213" y="8468"/>
                  </a:lnTo>
                  <a:lnTo>
                    <a:pt x="13286" y="8687"/>
                  </a:lnTo>
                  <a:lnTo>
                    <a:pt x="13383" y="9173"/>
                  </a:lnTo>
                  <a:lnTo>
                    <a:pt x="13407" y="9684"/>
                  </a:lnTo>
                  <a:lnTo>
                    <a:pt x="13407" y="10147"/>
                  </a:lnTo>
                  <a:lnTo>
                    <a:pt x="13383" y="10585"/>
                  </a:lnTo>
                  <a:lnTo>
                    <a:pt x="13310" y="11023"/>
                  </a:lnTo>
                  <a:lnTo>
                    <a:pt x="13188" y="11436"/>
                  </a:lnTo>
                  <a:lnTo>
                    <a:pt x="13042" y="11850"/>
                  </a:lnTo>
                  <a:lnTo>
                    <a:pt x="12872" y="12264"/>
                  </a:lnTo>
                  <a:lnTo>
                    <a:pt x="12677" y="12653"/>
                  </a:lnTo>
                  <a:lnTo>
                    <a:pt x="12458" y="13018"/>
                  </a:lnTo>
                  <a:lnTo>
                    <a:pt x="12239" y="13383"/>
                  </a:lnTo>
                  <a:lnTo>
                    <a:pt x="11923" y="13748"/>
                  </a:lnTo>
                  <a:lnTo>
                    <a:pt x="11582" y="14088"/>
                  </a:lnTo>
                  <a:lnTo>
                    <a:pt x="11217" y="14380"/>
                  </a:lnTo>
                  <a:lnTo>
                    <a:pt x="10828" y="14648"/>
                  </a:lnTo>
                  <a:lnTo>
                    <a:pt x="10414" y="14867"/>
                  </a:lnTo>
                  <a:lnTo>
                    <a:pt x="9976" y="15062"/>
                  </a:lnTo>
                  <a:lnTo>
                    <a:pt x="9539" y="15256"/>
                  </a:lnTo>
                  <a:lnTo>
                    <a:pt x="9101" y="15427"/>
                  </a:lnTo>
                  <a:lnTo>
                    <a:pt x="8809" y="15524"/>
                  </a:lnTo>
                  <a:lnTo>
                    <a:pt x="8517" y="15597"/>
                  </a:lnTo>
                  <a:lnTo>
                    <a:pt x="8225" y="15646"/>
                  </a:lnTo>
                  <a:lnTo>
                    <a:pt x="7957" y="15670"/>
                  </a:lnTo>
                  <a:lnTo>
                    <a:pt x="7397" y="15670"/>
                  </a:lnTo>
                  <a:lnTo>
                    <a:pt x="7130" y="15646"/>
                  </a:lnTo>
                  <a:lnTo>
                    <a:pt x="6862" y="15597"/>
                  </a:lnTo>
                  <a:lnTo>
                    <a:pt x="6594" y="15548"/>
                  </a:lnTo>
                  <a:lnTo>
                    <a:pt x="6327" y="15475"/>
                  </a:lnTo>
                  <a:lnTo>
                    <a:pt x="5816" y="15281"/>
                  </a:lnTo>
                  <a:lnTo>
                    <a:pt x="5280" y="15062"/>
                  </a:lnTo>
                  <a:lnTo>
                    <a:pt x="4769" y="14770"/>
                  </a:lnTo>
                  <a:lnTo>
                    <a:pt x="4015" y="14307"/>
                  </a:lnTo>
                  <a:lnTo>
                    <a:pt x="3918" y="14259"/>
                  </a:lnTo>
                  <a:lnTo>
                    <a:pt x="3820" y="14161"/>
                  </a:lnTo>
                  <a:lnTo>
                    <a:pt x="3674" y="13991"/>
                  </a:lnTo>
                  <a:lnTo>
                    <a:pt x="3382" y="13602"/>
                  </a:lnTo>
                  <a:lnTo>
                    <a:pt x="3066" y="13164"/>
                  </a:lnTo>
                  <a:lnTo>
                    <a:pt x="2774" y="12726"/>
                  </a:lnTo>
                  <a:lnTo>
                    <a:pt x="2652" y="12483"/>
                  </a:lnTo>
                  <a:lnTo>
                    <a:pt x="2555" y="12239"/>
                  </a:lnTo>
                  <a:lnTo>
                    <a:pt x="2458" y="11972"/>
                  </a:lnTo>
                  <a:lnTo>
                    <a:pt x="2360" y="11728"/>
                  </a:lnTo>
                  <a:lnTo>
                    <a:pt x="2263" y="11242"/>
                  </a:lnTo>
                  <a:lnTo>
                    <a:pt x="2214" y="10731"/>
                  </a:lnTo>
                  <a:lnTo>
                    <a:pt x="2214" y="10220"/>
                  </a:lnTo>
                  <a:lnTo>
                    <a:pt x="2239" y="9684"/>
                  </a:lnTo>
                  <a:lnTo>
                    <a:pt x="2336" y="9149"/>
                  </a:lnTo>
                  <a:lnTo>
                    <a:pt x="2433" y="8662"/>
                  </a:lnTo>
                  <a:lnTo>
                    <a:pt x="2604" y="8151"/>
                  </a:lnTo>
                  <a:lnTo>
                    <a:pt x="2774" y="7713"/>
                  </a:lnTo>
                  <a:lnTo>
                    <a:pt x="2969" y="7324"/>
                  </a:lnTo>
                  <a:lnTo>
                    <a:pt x="3188" y="6959"/>
                  </a:lnTo>
                  <a:lnTo>
                    <a:pt x="3431" y="6618"/>
                  </a:lnTo>
                  <a:lnTo>
                    <a:pt x="3699" y="6302"/>
                  </a:lnTo>
                  <a:lnTo>
                    <a:pt x="4015" y="6010"/>
                  </a:lnTo>
                  <a:lnTo>
                    <a:pt x="4331" y="5742"/>
                  </a:lnTo>
                  <a:lnTo>
                    <a:pt x="4648" y="5499"/>
                  </a:lnTo>
                  <a:lnTo>
                    <a:pt x="5013" y="5280"/>
                  </a:lnTo>
                  <a:lnTo>
                    <a:pt x="5378" y="5086"/>
                  </a:lnTo>
                  <a:lnTo>
                    <a:pt x="5767" y="4915"/>
                  </a:lnTo>
                  <a:lnTo>
                    <a:pt x="6156" y="4794"/>
                  </a:lnTo>
                  <a:lnTo>
                    <a:pt x="6570" y="4672"/>
                  </a:lnTo>
                  <a:lnTo>
                    <a:pt x="6984" y="4599"/>
                  </a:lnTo>
                  <a:lnTo>
                    <a:pt x="7397" y="4550"/>
                  </a:lnTo>
                  <a:lnTo>
                    <a:pt x="7811" y="4526"/>
                  </a:lnTo>
                  <a:lnTo>
                    <a:pt x="8225" y="4526"/>
                  </a:lnTo>
                  <a:lnTo>
                    <a:pt x="8614" y="4575"/>
                  </a:lnTo>
                  <a:lnTo>
                    <a:pt x="8979" y="4623"/>
                  </a:lnTo>
                  <a:lnTo>
                    <a:pt x="9344" y="4696"/>
                  </a:lnTo>
                  <a:lnTo>
                    <a:pt x="9685" y="4794"/>
                  </a:lnTo>
                  <a:lnTo>
                    <a:pt x="10049" y="4940"/>
                  </a:lnTo>
                  <a:lnTo>
                    <a:pt x="10390" y="5086"/>
                  </a:lnTo>
                  <a:lnTo>
                    <a:pt x="10706" y="5280"/>
                  </a:lnTo>
                  <a:lnTo>
                    <a:pt x="10998" y="5499"/>
                  </a:lnTo>
                  <a:lnTo>
                    <a:pt x="11363" y="5134"/>
                  </a:lnTo>
                  <a:lnTo>
                    <a:pt x="11704" y="4745"/>
                  </a:lnTo>
                  <a:lnTo>
                    <a:pt x="11874" y="4575"/>
                  </a:lnTo>
                  <a:lnTo>
                    <a:pt x="11801" y="4258"/>
                  </a:lnTo>
                  <a:lnTo>
                    <a:pt x="11777" y="3942"/>
                  </a:lnTo>
                  <a:lnTo>
                    <a:pt x="11728" y="3650"/>
                  </a:lnTo>
                  <a:lnTo>
                    <a:pt x="11680" y="3382"/>
                  </a:lnTo>
                  <a:lnTo>
                    <a:pt x="11169" y="3042"/>
                  </a:lnTo>
                  <a:lnTo>
                    <a:pt x="10925" y="2871"/>
                  </a:lnTo>
                  <a:lnTo>
                    <a:pt x="10633" y="2750"/>
                  </a:lnTo>
                  <a:lnTo>
                    <a:pt x="10147" y="2579"/>
                  </a:lnTo>
                  <a:lnTo>
                    <a:pt x="9685" y="2458"/>
                  </a:lnTo>
                  <a:lnTo>
                    <a:pt x="9174" y="2385"/>
                  </a:lnTo>
                  <a:lnTo>
                    <a:pt x="8687" y="23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1717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3F321DA-860E-49E8-95A7-5E46ABC4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2</a:t>
            </a:r>
            <a:endParaRPr lang="en-US" sz="36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A39C6CD-3D14-448D-B051-EA639BECFC69}"/>
              </a:ext>
            </a:extLst>
          </p:cNvPr>
          <p:cNvSpPr txBox="1">
            <a:spLocks/>
          </p:cNvSpPr>
          <p:nvPr/>
        </p:nvSpPr>
        <p:spPr>
          <a:xfrm>
            <a:off x="881000" y="959963"/>
            <a:ext cx="7470520" cy="52117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Char char="▧"/>
              <a:defRPr sz="24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20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18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R="0" lvl="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16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R="0" lvl="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16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16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16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16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Varela Round"/>
              <a:buNone/>
              <a:defRPr sz="1600" b="0" i="0" u="none" strike="noStrike" cap="none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>
              <a:buNone/>
            </a:pPr>
            <a:r>
              <a:rPr lang="bg-BG" sz="2000" dirty="0"/>
              <a:t>Да предположим, че току-що сте наследили 6000 лв. и искате да ги инвестирате. Двама ваши приятели ви предлагат следните алтернативни варианти на инвестиции:</a:t>
            </a:r>
          </a:p>
          <a:p>
            <a:pPr marL="342900" indent="-342900"/>
            <a:r>
              <a:rPr lang="bg-BG" sz="2000" dirty="0"/>
              <a:t>Да станете партньор на единия приятел като участвате с 5000 лв. и 400 часа работа и като резултат ще получите печалба в размер на 4500 лв.</a:t>
            </a:r>
          </a:p>
          <a:p>
            <a:pPr marL="342900" indent="-342900"/>
            <a:r>
              <a:rPr lang="bg-BG" sz="2000" dirty="0"/>
              <a:t>Вторият ви приятел предлага алтернативен вариант за участие с 4000 лв. и 500 часа работа, като отново очакваната печалба е 4500 лв.</a:t>
            </a:r>
          </a:p>
          <a:p>
            <a:pPr>
              <a:buNone/>
            </a:pPr>
            <a:r>
              <a:rPr lang="bg-BG" sz="2000" dirty="0"/>
              <a:t>Като допълнителни условия са поставени следните изисквания:</a:t>
            </a:r>
          </a:p>
          <a:p>
            <a:pPr marL="342900" indent="-342900"/>
            <a:r>
              <a:rPr lang="bg-BG" sz="2000" dirty="0"/>
              <a:t>И в двата случая се предполага лично участие с труд.</a:t>
            </a:r>
          </a:p>
          <a:p>
            <a:pPr marL="342900" indent="-342900"/>
            <a:r>
              <a:rPr lang="bg-BG" sz="2000" dirty="0"/>
              <a:t>Приятелите ви са склонни да приемат и частично участие в начинанията, като печалбата ще бъде пропорционална на процента участие.</a:t>
            </a:r>
          </a:p>
          <a:p>
            <a:pPr marL="342900" indent="-342900"/>
            <a:r>
              <a:rPr lang="bg-BG" sz="2000" dirty="0"/>
              <a:t>За летния период вие така или иначе сте предвидили да работите максимум 600 часа.</a:t>
            </a:r>
          </a:p>
          <a:p>
            <a:pPr>
              <a:buNone/>
            </a:pPr>
            <a:r>
              <a:rPr lang="bg-BG" sz="2000" dirty="0"/>
              <a:t>Съставете математически модел, с помощта на който да изберете участие с такава комбинация, че да максимизирате печалбата си.</a:t>
            </a:r>
            <a:endParaRPr lang="en-US" dirty="0"/>
          </a:p>
        </p:txBody>
      </p:sp>
      <p:pic>
        <p:nvPicPr>
          <p:cNvPr id="9" name="Picture 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DFC5509-F7B8-4D03-AFAD-17636935D29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9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2 - решение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/>
              <p:nvPr/>
            </p:nvSpPr>
            <p:spPr>
              <a:xfrm>
                <a:off x="1123933" y="1381760"/>
                <a:ext cx="4853559" cy="531745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dirty="0"/>
              </a:p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Неизвестни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 </a:t>
                </a:r>
                <a:r>
                  <a:rPr lang="ru-RU" sz="1600" b="1" dirty="0" err="1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дялово</a:t>
                </a:r>
                <a:r>
                  <a:rPr lang="ru-RU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участие във вариант I</a:t>
                </a:r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(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процент</a:t>
                </a:r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)</a:t>
                </a:r>
                <a:endParaRPr lang="bg-BG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 </a:t>
                </a:r>
                <a:r>
                  <a:rPr lang="ru-RU" sz="1600" b="1" dirty="0" err="1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дялово</a:t>
                </a:r>
                <a:r>
                  <a:rPr lang="ru-RU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участие във вариант I</a:t>
                </a:r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I</a:t>
                </a:r>
                <a:r>
                  <a:rPr lang="ru-RU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(процент)</a:t>
                </a:r>
                <a:endParaRPr lang="bg-BG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endParaRP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33" y="1381760"/>
                <a:ext cx="4853559" cy="531745"/>
              </a:xfrm>
              <a:prstGeom prst="rect">
                <a:avLst/>
              </a:prstGeom>
              <a:blipFill>
                <a:blip r:embed="rId2"/>
                <a:stretch>
                  <a:fillRect l="-375" t="-51648" b="-16484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0E654624-CFCD-41BF-98B7-B5202FB33B20}"/>
              </a:ext>
            </a:extLst>
          </p:cNvPr>
          <p:cNvSpPr/>
          <p:nvPr/>
        </p:nvSpPr>
        <p:spPr>
          <a:xfrm>
            <a:off x="1123933" y="3586481"/>
            <a:ext cx="7125987" cy="2404943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g-BG" sz="16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Ограничения:</a:t>
            </a:r>
          </a:p>
          <a:p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Ограниченията са от гледна точка на финансите с които разполагаме и часовете труд, които можем да изработим:</a:t>
            </a: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  <a:p>
            <a:endParaRPr lang="bg-BG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/>
              <p:nvPr/>
            </p:nvSpPr>
            <p:spPr>
              <a:xfrm>
                <a:off x="1123933" y="2063743"/>
                <a:ext cx="6668787" cy="123825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Целева функция: </a:t>
                </a:r>
              </a:p>
              <a:p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Основната цел е да инвестираме така, че да максимизираме печалбата си.</a:t>
                </a:r>
                <a:endParaRPr lang="en-US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𝒛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16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4500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𝟏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r>
                        <a:rPr lang="bg-BG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4500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33" y="2063743"/>
                <a:ext cx="6668787" cy="1238257"/>
              </a:xfrm>
              <a:prstGeom prst="rect">
                <a:avLst/>
              </a:prstGeom>
              <a:blipFill>
                <a:blip r:embed="rId3"/>
                <a:stretch>
                  <a:fillRect l="-273" t="-4348" b="-1449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Shape 220">
            <a:extLst>
              <a:ext uri="{FF2B5EF4-FFF2-40B4-BE49-F238E27FC236}">
                <a16:creationId xmlns:a16="http://schemas.microsoft.com/office/drawing/2014/main" id="{CBD63713-4617-46D3-9E97-40D6BB49F2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4267081"/>
              </p:ext>
            </p:extLst>
          </p:nvPr>
        </p:nvGraphicFramePr>
        <p:xfrm>
          <a:off x="1205675" y="4668839"/>
          <a:ext cx="6814392" cy="1097280"/>
        </p:xfrm>
        <a:graphic>
          <a:graphicData uri="http://schemas.openxmlformats.org/drawingml/2006/table">
            <a:tbl>
              <a:tblPr>
                <a:noFill/>
                <a:tableStyleId>{DE05D1AB-BAE4-4E3A-A547-ADA6829F2946}</a:tableStyleId>
              </a:tblPr>
              <a:tblGrid>
                <a:gridCol w="20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675">
                  <a:extLst>
                    <a:ext uri="{9D8B030D-6E8A-4147-A177-3AD203B41FA5}">
                      <a16:colId xmlns:a16="http://schemas.microsoft.com/office/drawing/2014/main" val="1652854237"/>
                    </a:ext>
                  </a:extLst>
                </a:gridCol>
              </a:tblGrid>
              <a:tr h="4800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 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1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Вариант </a:t>
                      </a:r>
                      <a:r>
                        <a:rPr lang="en-US" sz="1800" b="1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I</a:t>
                      </a: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1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Вариант </a:t>
                      </a:r>
                      <a:r>
                        <a:rPr lang="en-US" sz="1800" b="1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II</a:t>
                      </a: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1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Ограничения</a:t>
                      </a: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10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Финансов разход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5000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4000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6000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10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Часове труд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600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Picture 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FCD20124-933D-47C2-A55E-77B2CD137A8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8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909686" y="1038040"/>
                <a:ext cx="5887039" cy="49831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𝒛</m:t>
                    </m:r>
                    <m:d>
                      <m:dPr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5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bg-BG" sz="2800" b="1" i="1">
                        <a:latin typeface="Cambria Math" panose="02040503050406030204" pitchFamily="18" charset="0"/>
                      </a:rPr>
                      <m:t>𝟒𝟓𝟎𝟎</m:t>
                    </m:r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bg-BG" sz="2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bg-BG" sz="2800" b="1" i="1">
                        <a:latin typeface="Cambria Math" panose="02040503050406030204" pitchFamily="18" charset="0"/>
                      </a:rPr>
                      <m:t>𝟒𝟓𝟎𝟎</m:t>
                    </m:r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bg-BG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groupChr>
                    <m:r>
                      <a:rPr lang="en-US" sz="25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500" b="1" i="1">
                        <a:latin typeface="Cambria Math" panose="02040503050406030204" pitchFamily="18" charset="0"/>
                      </a:rPr>
                      <m:t>𝒎𝒂𝒙</m:t>
                    </m:r>
                  </m:oMath>
                </a14:m>
                <a:r>
                  <a:rPr lang="en-US" sz="2500" b="1" dirty="0"/>
                  <a:t> </a:t>
                </a:r>
                <a:endParaRPr lang="bg-BG" sz="2500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5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500" b="1" i="1">
                        <a:latin typeface="Cambria Math" panose="02040503050406030204" pitchFamily="18" charset="0"/>
                      </a:rPr>
                      <m:t>: </m:t>
                    </m:r>
                    <m:d>
                      <m:dPr>
                        <m:begChr m:val="|"/>
                        <m:endChr m:val=""/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  <m:t>𝟓𝟎𝟎𝟎</m:t>
                            </m:r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  <m:t>𝟒𝟎𝟎𝟎</m:t>
                            </m:r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  <m:t>𝟔𝟎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𝟎𝟎</m:t>
                            </m:r>
                          </m:e>
                          <m:e>
                            <m: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  <m:t>𝟒𝟎𝟎</m:t>
                            </m:r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  <m:t>𝟓𝟎𝟎</m:t>
                            </m:r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𝟎𝟎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500" dirty="0"/>
                  <a:t> </a:t>
                </a:r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9686" y="1038040"/>
                <a:ext cx="5887039" cy="49831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03E2A7B-2365-45E5-8516-EA074875AE81}"/>
              </a:ext>
            </a:extLst>
          </p:cNvPr>
          <p:cNvGrpSpPr/>
          <p:nvPr/>
        </p:nvGrpSpPr>
        <p:grpSpPr>
          <a:xfrm>
            <a:off x="1008668" y="5242110"/>
            <a:ext cx="4011466" cy="577850"/>
            <a:chOff x="4572000" y="5624511"/>
            <a:chExt cx="4011466" cy="577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BA33DD-329F-4A62-901F-41AD626D75E5}"/>
                </a:ext>
              </a:extLst>
            </p:cNvPr>
            <p:cNvSpPr/>
            <p:nvPr/>
          </p:nvSpPr>
          <p:spPr>
            <a:xfrm>
              <a:off x="4582966" y="5624511"/>
              <a:ext cx="4000500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Решете задачата в </a:t>
              </a:r>
              <a:r>
                <a: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Excel.</a:t>
              </a:r>
            </a:p>
          </p:txBody>
        </p:sp>
        <p:sp>
          <p:nvSpPr>
            <p:cNvPr id="12" name="Shape 375">
              <a:extLst>
                <a:ext uri="{FF2B5EF4-FFF2-40B4-BE49-F238E27FC236}">
                  <a16:creationId xmlns:a16="http://schemas.microsoft.com/office/drawing/2014/main" id="{0F88CE7F-4E26-42FC-9CD4-F61D124D3297}"/>
                </a:ext>
              </a:extLst>
            </p:cNvPr>
            <p:cNvSpPr/>
            <p:nvPr/>
          </p:nvSpPr>
          <p:spPr>
            <a:xfrm>
              <a:off x="4572000" y="5671284"/>
              <a:ext cx="387161" cy="402569"/>
            </a:xfrm>
            <a:custGeom>
              <a:avLst/>
              <a:gdLst/>
              <a:ahLst/>
              <a:cxnLst/>
              <a:rect l="0" t="0" r="0" b="0"/>
              <a:pathLst>
                <a:path w="17715" h="18420" extrusionOk="0">
                  <a:moveTo>
                    <a:pt x="14673" y="803"/>
                  </a:moveTo>
                  <a:lnTo>
                    <a:pt x="14746" y="1022"/>
                  </a:lnTo>
                  <a:lnTo>
                    <a:pt x="14794" y="1217"/>
                  </a:lnTo>
                  <a:lnTo>
                    <a:pt x="14843" y="1655"/>
                  </a:lnTo>
                  <a:lnTo>
                    <a:pt x="14892" y="2141"/>
                  </a:lnTo>
                  <a:lnTo>
                    <a:pt x="14916" y="2385"/>
                  </a:lnTo>
                  <a:lnTo>
                    <a:pt x="14940" y="2482"/>
                  </a:lnTo>
                  <a:lnTo>
                    <a:pt x="15013" y="2604"/>
                  </a:lnTo>
                  <a:lnTo>
                    <a:pt x="14770" y="2847"/>
                  </a:lnTo>
                  <a:lnTo>
                    <a:pt x="14697" y="2920"/>
                  </a:lnTo>
                  <a:lnTo>
                    <a:pt x="14648" y="2628"/>
                  </a:lnTo>
                  <a:lnTo>
                    <a:pt x="14600" y="2360"/>
                  </a:lnTo>
                  <a:lnTo>
                    <a:pt x="14527" y="2044"/>
                  </a:lnTo>
                  <a:lnTo>
                    <a:pt x="14405" y="1776"/>
                  </a:lnTo>
                  <a:lnTo>
                    <a:pt x="14308" y="1484"/>
                  </a:lnTo>
                  <a:lnTo>
                    <a:pt x="14210" y="1192"/>
                  </a:lnTo>
                  <a:lnTo>
                    <a:pt x="14673" y="803"/>
                  </a:lnTo>
                  <a:close/>
                  <a:moveTo>
                    <a:pt x="15695" y="2847"/>
                  </a:moveTo>
                  <a:lnTo>
                    <a:pt x="16400" y="2871"/>
                  </a:lnTo>
                  <a:lnTo>
                    <a:pt x="17106" y="2969"/>
                  </a:lnTo>
                  <a:lnTo>
                    <a:pt x="16984" y="3115"/>
                  </a:lnTo>
                  <a:lnTo>
                    <a:pt x="16960" y="3090"/>
                  </a:lnTo>
                  <a:lnTo>
                    <a:pt x="16887" y="3042"/>
                  </a:lnTo>
                  <a:lnTo>
                    <a:pt x="16790" y="2993"/>
                  </a:lnTo>
                  <a:lnTo>
                    <a:pt x="16595" y="2969"/>
                  </a:lnTo>
                  <a:lnTo>
                    <a:pt x="16400" y="2944"/>
                  </a:lnTo>
                  <a:lnTo>
                    <a:pt x="15914" y="2944"/>
                  </a:lnTo>
                  <a:lnTo>
                    <a:pt x="15622" y="2920"/>
                  </a:lnTo>
                  <a:lnTo>
                    <a:pt x="15695" y="2847"/>
                  </a:lnTo>
                  <a:close/>
                  <a:moveTo>
                    <a:pt x="14040" y="1314"/>
                  </a:moveTo>
                  <a:lnTo>
                    <a:pt x="14040" y="1484"/>
                  </a:lnTo>
                  <a:lnTo>
                    <a:pt x="14064" y="1655"/>
                  </a:lnTo>
                  <a:lnTo>
                    <a:pt x="14137" y="2020"/>
                  </a:lnTo>
                  <a:lnTo>
                    <a:pt x="14283" y="2871"/>
                  </a:lnTo>
                  <a:lnTo>
                    <a:pt x="14308" y="3066"/>
                  </a:lnTo>
                  <a:lnTo>
                    <a:pt x="14332" y="3236"/>
                  </a:lnTo>
                  <a:lnTo>
                    <a:pt x="14162" y="3382"/>
                  </a:lnTo>
                  <a:lnTo>
                    <a:pt x="14137" y="3139"/>
                  </a:lnTo>
                  <a:lnTo>
                    <a:pt x="14040" y="2871"/>
                  </a:lnTo>
                  <a:lnTo>
                    <a:pt x="13870" y="2433"/>
                  </a:lnTo>
                  <a:lnTo>
                    <a:pt x="13748" y="2068"/>
                  </a:lnTo>
                  <a:lnTo>
                    <a:pt x="13675" y="1703"/>
                  </a:lnTo>
                  <a:lnTo>
                    <a:pt x="13651" y="1630"/>
                  </a:lnTo>
                  <a:lnTo>
                    <a:pt x="13699" y="1582"/>
                  </a:lnTo>
                  <a:lnTo>
                    <a:pt x="14040" y="1314"/>
                  </a:lnTo>
                  <a:close/>
                  <a:moveTo>
                    <a:pt x="13359" y="1898"/>
                  </a:moveTo>
                  <a:lnTo>
                    <a:pt x="13432" y="2239"/>
                  </a:lnTo>
                  <a:lnTo>
                    <a:pt x="13553" y="2677"/>
                  </a:lnTo>
                  <a:lnTo>
                    <a:pt x="13699" y="3090"/>
                  </a:lnTo>
                  <a:lnTo>
                    <a:pt x="13772" y="3358"/>
                  </a:lnTo>
                  <a:lnTo>
                    <a:pt x="13821" y="3480"/>
                  </a:lnTo>
                  <a:lnTo>
                    <a:pt x="13894" y="3601"/>
                  </a:lnTo>
                  <a:lnTo>
                    <a:pt x="13724" y="3723"/>
                  </a:lnTo>
                  <a:lnTo>
                    <a:pt x="13699" y="3577"/>
                  </a:lnTo>
                  <a:lnTo>
                    <a:pt x="13675" y="3407"/>
                  </a:lnTo>
                  <a:lnTo>
                    <a:pt x="13578" y="3090"/>
                  </a:lnTo>
                  <a:lnTo>
                    <a:pt x="13529" y="2798"/>
                  </a:lnTo>
                  <a:lnTo>
                    <a:pt x="13456" y="2531"/>
                  </a:lnTo>
                  <a:lnTo>
                    <a:pt x="13383" y="2239"/>
                  </a:lnTo>
                  <a:lnTo>
                    <a:pt x="13237" y="1995"/>
                  </a:lnTo>
                  <a:lnTo>
                    <a:pt x="13359" y="1898"/>
                  </a:lnTo>
                  <a:close/>
                  <a:moveTo>
                    <a:pt x="15378" y="3188"/>
                  </a:moveTo>
                  <a:lnTo>
                    <a:pt x="15500" y="3236"/>
                  </a:lnTo>
                  <a:lnTo>
                    <a:pt x="15646" y="3261"/>
                  </a:lnTo>
                  <a:lnTo>
                    <a:pt x="15914" y="3285"/>
                  </a:lnTo>
                  <a:lnTo>
                    <a:pt x="16790" y="3358"/>
                  </a:lnTo>
                  <a:lnTo>
                    <a:pt x="16473" y="3723"/>
                  </a:lnTo>
                  <a:lnTo>
                    <a:pt x="16449" y="3650"/>
                  </a:lnTo>
                  <a:lnTo>
                    <a:pt x="16425" y="3601"/>
                  </a:lnTo>
                  <a:lnTo>
                    <a:pt x="16376" y="3553"/>
                  </a:lnTo>
                  <a:lnTo>
                    <a:pt x="16303" y="3528"/>
                  </a:lnTo>
                  <a:lnTo>
                    <a:pt x="16084" y="3455"/>
                  </a:lnTo>
                  <a:lnTo>
                    <a:pt x="15816" y="3431"/>
                  </a:lnTo>
                  <a:lnTo>
                    <a:pt x="15573" y="3431"/>
                  </a:lnTo>
                  <a:lnTo>
                    <a:pt x="15330" y="3455"/>
                  </a:lnTo>
                  <a:lnTo>
                    <a:pt x="15086" y="3455"/>
                  </a:lnTo>
                  <a:lnTo>
                    <a:pt x="15135" y="3431"/>
                  </a:lnTo>
                  <a:lnTo>
                    <a:pt x="15378" y="3188"/>
                  </a:lnTo>
                  <a:close/>
                  <a:moveTo>
                    <a:pt x="13067" y="2166"/>
                  </a:moveTo>
                  <a:lnTo>
                    <a:pt x="13115" y="2628"/>
                  </a:lnTo>
                  <a:lnTo>
                    <a:pt x="13164" y="3042"/>
                  </a:lnTo>
                  <a:lnTo>
                    <a:pt x="13188" y="3285"/>
                  </a:lnTo>
                  <a:lnTo>
                    <a:pt x="13213" y="3553"/>
                  </a:lnTo>
                  <a:lnTo>
                    <a:pt x="13261" y="3699"/>
                  </a:lnTo>
                  <a:lnTo>
                    <a:pt x="13286" y="3820"/>
                  </a:lnTo>
                  <a:lnTo>
                    <a:pt x="13359" y="3942"/>
                  </a:lnTo>
                  <a:lnTo>
                    <a:pt x="13432" y="4015"/>
                  </a:lnTo>
                  <a:lnTo>
                    <a:pt x="13213" y="4234"/>
                  </a:lnTo>
                  <a:lnTo>
                    <a:pt x="13140" y="3845"/>
                  </a:lnTo>
                  <a:lnTo>
                    <a:pt x="13042" y="3480"/>
                  </a:lnTo>
                  <a:lnTo>
                    <a:pt x="12994" y="3236"/>
                  </a:lnTo>
                  <a:lnTo>
                    <a:pt x="12921" y="2969"/>
                  </a:lnTo>
                  <a:lnTo>
                    <a:pt x="12823" y="2701"/>
                  </a:lnTo>
                  <a:lnTo>
                    <a:pt x="12702" y="2482"/>
                  </a:lnTo>
                  <a:lnTo>
                    <a:pt x="12872" y="2336"/>
                  </a:lnTo>
                  <a:lnTo>
                    <a:pt x="13067" y="2166"/>
                  </a:lnTo>
                  <a:close/>
                  <a:moveTo>
                    <a:pt x="14648" y="3796"/>
                  </a:moveTo>
                  <a:lnTo>
                    <a:pt x="14819" y="3869"/>
                  </a:lnTo>
                  <a:lnTo>
                    <a:pt x="15013" y="3893"/>
                  </a:lnTo>
                  <a:lnTo>
                    <a:pt x="15232" y="3918"/>
                  </a:lnTo>
                  <a:lnTo>
                    <a:pt x="16035" y="3918"/>
                  </a:lnTo>
                  <a:lnTo>
                    <a:pt x="16181" y="3966"/>
                  </a:lnTo>
                  <a:lnTo>
                    <a:pt x="16230" y="3966"/>
                  </a:lnTo>
                  <a:lnTo>
                    <a:pt x="16011" y="4185"/>
                  </a:lnTo>
                  <a:lnTo>
                    <a:pt x="15938" y="4258"/>
                  </a:lnTo>
                  <a:lnTo>
                    <a:pt x="15816" y="4210"/>
                  </a:lnTo>
                  <a:lnTo>
                    <a:pt x="15695" y="4161"/>
                  </a:lnTo>
                  <a:lnTo>
                    <a:pt x="15403" y="4137"/>
                  </a:lnTo>
                  <a:lnTo>
                    <a:pt x="14916" y="4137"/>
                  </a:lnTo>
                  <a:lnTo>
                    <a:pt x="14600" y="4112"/>
                  </a:lnTo>
                  <a:lnTo>
                    <a:pt x="14259" y="4112"/>
                  </a:lnTo>
                  <a:lnTo>
                    <a:pt x="14648" y="3796"/>
                  </a:lnTo>
                  <a:close/>
                  <a:moveTo>
                    <a:pt x="13943" y="4404"/>
                  </a:moveTo>
                  <a:lnTo>
                    <a:pt x="14283" y="4453"/>
                  </a:lnTo>
                  <a:lnTo>
                    <a:pt x="14648" y="4502"/>
                  </a:lnTo>
                  <a:lnTo>
                    <a:pt x="15354" y="4550"/>
                  </a:lnTo>
                  <a:lnTo>
                    <a:pt x="15524" y="4575"/>
                  </a:lnTo>
                  <a:lnTo>
                    <a:pt x="15330" y="4745"/>
                  </a:lnTo>
                  <a:lnTo>
                    <a:pt x="15184" y="4915"/>
                  </a:lnTo>
                  <a:lnTo>
                    <a:pt x="14697" y="4818"/>
                  </a:lnTo>
                  <a:lnTo>
                    <a:pt x="14186" y="4745"/>
                  </a:lnTo>
                  <a:lnTo>
                    <a:pt x="13699" y="4672"/>
                  </a:lnTo>
                  <a:lnTo>
                    <a:pt x="13797" y="4550"/>
                  </a:lnTo>
                  <a:lnTo>
                    <a:pt x="13943" y="4404"/>
                  </a:lnTo>
                  <a:close/>
                  <a:moveTo>
                    <a:pt x="14721" y="0"/>
                  </a:moveTo>
                  <a:lnTo>
                    <a:pt x="14673" y="24"/>
                  </a:lnTo>
                  <a:lnTo>
                    <a:pt x="14600" y="49"/>
                  </a:lnTo>
                  <a:lnTo>
                    <a:pt x="14551" y="97"/>
                  </a:lnTo>
                  <a:lnTo>
                    <a:pt x="14235" y="389"/>
                  </a:lnTo>
                  <a:lnTo>
                    <a:pt x="13894" y="681"/>
                  </a:lnTo>
                  <a:lnTo>
                    <a:pt x="13213" y="1217"/>
                  </a:lnTo>
                  <a:lnTo>
                    <a:pt x="12921" y="1460"/>
                  </a:lnTo>
                  <a:lnTo>
                    <a:pt x="12775" y="1606"/>
                  </a:lnTo>
                  <a:lnTo>
                    <a:pt x="12629" y="1752"/>
                  </a:lnTo>
                  <a:lnTo>
                    <a:pt x="12507" y="1922"/>
                  </a:lnTo>
                  <a:lnTo>
                    <a:pt x="12385" y="2093"/>
                  </a:lnTo>
                  <a:lnTo>
                    <a:pt x="12337" y="2263"/>
                  </a:lnTo>
                  <a:lnTo>
                    <a:pt x="12312" y="2458"/>
                  </a:lnTo>
                  <a:lnTo>
                    <a:pt x="12337" y="2506"/>
                  </a:lnTo>
                  <a:lnTo>
                    <a:pt x="12312" y="2531"/>
                  </a:lnTo>
                  <a:lnTo>
                    <a:pt x="12337" y="2774"/>
                  </a:lnTo>
                  <a:lnTo>
                    <a:pt x="12385" y="3017"/>
                  </a:lnTo>
                  <a:lnTo>
                    <a:pt x="12507" y="3504"/>
                  </a:lnTo>
                  <a:lnTo>
                    <a:pt x="12531" y="3796"/>
                  </a:lnTo>
                  <a:lnTo>
                    <a:pt x="12580" y="4137"/>
                  </a:lnTo>
                  <a:lnTo>
                    <a:pt x="12629" y="4453"/>
                  </a:lnTo>
                  <a:lnTo>
                    <a:pt x="12677" y="4599"/>
                  </a:lnTo>
                  <a:lnTo>
                    <a:pt x="12750" y="4745"/>
                  </a:lnTo>
                  <a:lnTo>
                    <a:pt x="12288" y="5256"/>
                  </a:lnTo>
                  <a:lnTo>
                    <a:pt x="11972" y="5621"/>
                  </a:lnTo>
                  <a:lnTo>
                    <a:pt x="11631" y="5961"/>
                  </a:lnTo>
                  <a:lnTo>
                    <a:pt x="10925" y="6643"/>
                  </a:lnTo>
                  <a:lnTo>
                    <a:pt x="10220" y="7300"/>
                  </a:lnTo>
                  <a:lnTo>
                    <a:pt x="9490" y="7981"/>
                  </a:lnTo>
                  <a:lnTo>
                    <a:pt x="9125" y="8370"/>
                  </a:lnTo>
                  <a:lnTo>
                    <a:pt x="8760" y="8760"/>
                  </a:lnTo>
                  <a:lnTo>
                    <a:pt x="8371" y="9149"/>
                  </a:lnTo>
                  <a:lnTo>
                    <a:pt x="8006" y="9538"/>
                  </a:lnTo>
                  <a:lnTo>
                    <a:pt x="7884" y="9490"/>
                  </a:lnTo>
                  <a:lnTo>
                    <a:pt x="7665" y="9490"/>
                  </a:lnTo>
                  <a:lnTo>
                    <a:pt x="7568" y="9514"/>
                  </a:lnTo>
                  <a:lnTo>
                    <a:pt x="7422" y="9538"/>
                  </a:lnTo>
                  <a:lnTo>
                    <a:pt x="7276" y="9587"/>
                  </a:lnTo>
                  <a:lnTo>
                    <a:pt x="7154" y="9684"/>
                  </a:lnTo>
                  <a:lnTo>
                    <a:pt x="7057" y="9830"/>
                  </a:lnTo>
                  <a:lnTo>
                    <a:pt x="6984" y="9976"/>
                  </a:lnTo>
                  <a:lnTo>
                    <a:pt x="6935" y="10147"/>
                  </a:lnTo>
                  <a:lnTo>
                    <a:pt x="6959" y="10317"/>
                  </a:lnTo>
                  <a:lnTo>
                    <a:pt x="7008" y="10487"/>
                  </a:lnTo>
                  <a:lnTo>
                    <a:pt x="7105" y="10633"/>
                  </a:lnTo>
                  <a:lnTo>
                    <a:pt x="7251" y="10755"/>
                  </a:lnTo>
                  <a:lnTo>
                    <a:pt x="7397" y="10828"/>
                  </a:lnTo>
                  <a:lnTo>
                    <a:pt x="7568" y="10877"/>
                  </a:lnTo>
                  <a:lnTo>
                    <a:pt x="7738" y="10901"/>
                  </a:lnTo>
                  <a:lnTo>
                    <a:pt x="7884" y="10877"/>
                  </a:lnTo>
                  <a:lnTo>
                    <a:pt x="8006" y="10804"/>
                  </a:lnTo>
                  <a:lnTo>
                    <a:pt x="8127" y="10731"/>
                  </a:lnTo>
                  <a:lnTo>
                    <a:pt x="8225" y="10633"/>
                  </a:lnTo>
                  <a:lnTo>
                    <a:pt x="8298" y="10512"/>
                  </a:lnTo>
                  <a:lnTo>
                    <a:pt x="8346" y="10390"/>
                  </a:lnTo>
                  <a:lnTo>
                    <a:pt x="8371" y="10244"/>
                  </a:lnTo>
                  <a:lnTo>
                    <a:pt x="8371" y="10098"/>
                  </a:lnTo>
                  <a:lnTo>
                    <a:pt x="8371" y="10049"/>
                  </a:lnTo>
                  <a:lnTo>
                    <a:pt x="8711" y="9733"/>
                  </a:lnTo>
                  <a:lnTo>
                    <a:pt x="9003" y="9392"/>
                  </a:lnTo>
                  <a:lnTo>
                    <a:pt x="9295" y="9052"/>
                  </a:lnTo>
                  <a:lnTo>
                    <a:pt x="9587" y="8760"/>
                  </a:lnTo>
                  <a:lnTo>
                    <a:pt x="10317" y="8054"/>
                  </a:lnTo>
                  <a:lnTo>
                    <a:pt x="11047" y="7373"/>
                  </a:lnTo>
                  <a:lnTo>
                    <a:pt x="11777" y="6691"/>
                  </a:lnTo>
                  <a:lnTo>
                    <a:pt x="12507" y="5986"/>
                  </a:lnTo>
                  <a:lnTo>
                    <a:pt x="12896" y="5548"/>
                  </a:lnTo>
                  <a:lnTo>
                    <a:pt x="13310" y="5086"/>
                  </a:lnTo>
                  <a:lnTo>
                    <a:pt x="13529" y="5159"/>
                  </a:lnTo>
                  <a:lnTo>
                    <a:pt x="13748" y="5207"/>
                  </a:lnTo>
                  <a:lnTo>
                    <a:pt x="14186" y="5280"/>
                  </a:lnTo>
                  <a:lnTo>
                    <a:pt x="14648" y="5353"/>
                  </a:lnTo>
                  <a:lnTo>
                    <a:pt x="15086" y="5426"/>
                  </a:lnTo>
                  <a:lnTo>
                    <a:pt x="15184" y="5426"/>
                  </a:lnTo>
                  <a:lnTo>
                    <a:pt x="15281" y="5402"/>
                  </a:lnTo>
                  <a:lnTo>
                    <a:pt x="15354" y="5353"/>
                  </a:lnTo>
                  <a:lnTo>
                    <a:pt x="15403" y="5280"/>
                  </a:lnTo>
                  <a:lnTo>
                    <a:pt x="15524" y="5207"/>
                  </a:lnTo>
                  <a:lnTo>
                    <a:pt x="15670" y="5134"/>
                  </a:lnTo>
                  <a:lnTo>
                    <a:pt x="15938" y="4940"/>
                  </a:lnTo>
                  <a:lnTo>
                    <a:pt x="16352" y="4526"/>
                  </a:lnTo>
                  <a:lnTo>
                    <a:pt x="16692" y="4210"/>
                  </a:lnTo>
                  <a:lnTo>
                    <a:pt x="17009" y="3869"/>
                  </a:lnTo>
                  <a:lnTo>
                    <a:pt x="17325" y="3504"/>
                  </a:lnTo>
                  <a:lnTo>
                    <a:pt x="17617" y="3115"/>
                  </a:lnTo>
                  <a:lnTo>
                    <a:pt x="17641" y="3066"/>
                  </a:lnTo>
                  <a:lnTo>
                    <a:pt x="17666" y="3017"/>
                  </a:lnTo>
                  <a:lnTo>
                    <a:pt x="17641" y="2896"/>
                  </a:lnTo>
                  <a:lnTo>
                    <a:pt x="17690" y="2774"/>
                  </a:lnTo>
                  <a:lnTo>
                    <a:pt x="17714" y="2701"/>
                  </a:lnTo>
                  <a:lnTo>
                    <a:pt x="17690" y="2652"/>
                  </a:lnTo>
                  <a:lnTo>
                    <a:pt x="17690" y="2579"/>
                  </a:lnTo>
                  <a:lnTo>
                    <a:pt x="17641" y="2531"/>
                  </a:lnTo>
                  <a:lnTo>
                    <a:pt x="17593" y="2506"/>
                  </a:lnTo>
                  <a:lnTo>
                    <a:pt x="17495" y="2482"/>
                  </a:lnTo>
                  <a:lnTo>
                    <a:pt x="16838" y="2360"/>
                  </a:lnTo>
                  <a:lnTo>
                    <a:pt x="16473" y="2312"/>
                  </a:lnTo>
                  <a:lnTo>
                    <a:pt x="16108" y="2287"/>
                  </a:lnTo>
                  <a:lnTo>
                    <a:pt x="16303" y="2068"/>
                  </a:lnTo>
                  <a:lnTo>
                    <a:pt x="16522" y="1801"/>
                  </a:lnTo>
                  <a:lnTo>
                    <a:pt x="16790" y="1582"/>
                  </a:lnTo>
                  <a:lnTo>
                    <a:pt x="17033" y="1338"/>
                  </a:lnTo>
                  <a:lnTo>
                    <a:pt x="17276" y="1095"/>
                  </a:lnTo>
                  <a:lnTo>
                    <a:pt x="17325" y="1022"/>
                  </a:lnTo>
                  <a:lnTo>
                    <a:pt x="17374" y="949"/>
                  </a:lnTo>
                  <a:lnTo>
                    <a:pt x="17374" y="876"/>
                  </a:lnTo>
                  <a:lnTo>
                    <a:pt x="17374" y="803"/>
                  </a:lnTo>
                  <a:lnTo>
                    <a:pt x="17325" y="681"/>
                  </a:lnTo>
                  <a:lnTo>
                    <a:pt x="17252" y="560"/>
                  </a:lnTo>
                  <a:lnTo>
                    <a:pt x="17155" y="487"/>
                  </a:lnTo>
                  <a:lnTo>
                    <a:pt x="17009" y="438"/>
                  </a:lnTo>
                  <a:lnTo>
                    <a:pt x="16960" y="462"/>
                  </a:lnTo>
                  <a:lnTo>
                    <a:pt x="16887" y="462"/>
                  </a:lnTo>
                  <a:lnTo>
                    <a:pt x="16838" y="511"/>
                  </a:lnTo>
                  <a:lnTo>
                    <a:pt x="16765" y="560"/>
                  </a:lnTo>
                  <a:lnTo>
                    <a:pt x="16571" y="803"/>
                  </a:lnTo>
                  <a:lnTo>
                    <a:pt x="16352" y="1022"/>
                  </a:lnTo>
                  <a:lnTo>
                    <a:pt x="16133" y="1241"/>
                  </a:lnTo>
                  <a:lnTo>
                    <a:pt x="15914" y="1460"/>
                  </a:lnTo>
                  <a:lnTo>
                    <a:pt x="15500" y="1971"/>
                  </a:lnTo>
                  <a:lnTo>
                    <a:pt x="15427" y="1436"/>
                  </a:lnTo>
                  <a:lnTo>
                    <a:pt x="15354" y="1095"/>
                  </a:lnTo>
                  <a:lnTo>
                    <a:pt x="15281" y="779"/>
                  </a:lnTo>
                  <a:lnTo>
                    <a:pt x="15184" y="462"/>
                  </a:lnTo>
                  <a:lnTo>
                    <a:pt x="15111" y="292"/>
                  </a:lnTo>
                  <a:lnTo>
                    <a:pt x="15013" y="146"/>
                  </a:lnTo>
                  <a:lnTo>
                    <a:pt x="14965" y="97"/>
                  </a:lnTo>
                  <a:lnTo>
                    <a:pt x="14916" y="49"/>
                  </a:lnTo>
                  <a:lnTo>
                    <a:pt x="14794" y="24"/>
                  </a:lnTo>
                  <a:lnTo>
                    <a:pt x="14721" y="0"/>
                  </a:lnTo>
                  <a:close/>
                  <a:moveTo>
                    <a:pt x="7543" y="6691"/>
                  </a:moveTo>
                  <a:lnTo>
                    <a:pt x="7203" y="6716"/>
                  </a:lnTo>
                  <a:lnTo>
                    <a:pt x="6886" y="6789"/>
                  </a:lnTo>
                  <a:lnTo>
                    <a:pt x="6570" y="6862"/>
                  </a:lnTo>
                  <a:lnTo>
                    <a:pt x="6254" y="6983"/>
                  </a:lnTo>
                  <a:lnTo>
                    <a:pt x="5962" y="7105"/>
                  </a:lnTo>
                  <a:lnTo>
                    <a:pt x="5670" y="7275"/>
                  </a:lnTo>
                  <a:lnTo>
                    <a:pt x="5402" y="7470"/>
                  </a:lnTo>
                  <a:lnTo>
                    <a:pt x="5159" y="7713"/>
                  </a:lnTo>
                  <a:lnTo>
                    <a:pt x="4940" y="7957"/>
                  </a:lnTo>
                  <a:lnTo>
                    <a:pt x="4745" y="8249"/>
                  </a:lnTo>
                  <a:lnTo>
                    <a:pt x="4599" y="8565"/>
                  </a:lnTo>
                  <a:lnTo>
                    <a:pt x="4477" y="8857"/>
                  </a:lnTo>
                  <a:lnTo>
                    <a:pt x="4380" y="9149"/>
                  </a:lnTo>
                  <a:lnTo>
                    <a:pt x="4307" y="9441"/>
                  </a:lnTo>
                  <a:lnTo>
                    <a:pt x="4258" y="9733"/>
                  </a:lnTo>
                  <a:lnTo>
                    <a:pt x="4234" y="10025"/>
                  </a:lnTo>
                  <a:lnTo>
                    <a:pt x="4234" y="10317"/>
                  </a:lnTo>
                  <a:lnTo>
                    <a:pt x="4258" y="10609"/>
                  </a:lnTo>
                  <a:lnTo>
                    <a:pt x="4307" y="10901"/>
                  </a:lnTo>
                  <a:lnTo>
                    <a:pt x="4356" y="11193"/>
                  </a:lnTo>
                  <a:lnTo>
                    <a:pt x="4453" y="11461"/>
                  </a:lnTo>
                  <a:lnTo>
                    <a:pt x="4550" y="11728"/>
                  </a:lnTo>
                  <a:lnTo>
                    <a:pt x="4696" y="11996"/>
                  </a:lnTo>
                  <a:lnTo>
                    <a:pt x="4842" y="12239"/>
                  </a:lnTo>
                  <a:lnTo>
                    <a:pt x="5013" y="12458"/>
                  </a:lnTo>
                  <a:lnTo>
                    <a:pt x="5207" y="12677"/>
                  </a:lnTo>
                  <a:lnTo>
                    <a:pt x="5426" y="12872"/>
                  </a:lnTo>
                  <a:lnTo>
                    <a:pt x="5670" y="13067"/>
                  </a:lnTo>
                  <a:lnTo>
                    <a:pt x="5913" y="13213"/>
                  </a:lnTo>
                  <a:lnTo>
                    <a:pt x="6181" y="13334"/>
                  </a:lnTo>
                  <a:lnTo>
                    <a:pt x="6473" y="13456"/>
                  </a:lnTo>
                  <a:lnTo>
                    <a:pt x="6740" y="13529"/>
                  </a:lnTo>
                  <a:lnTo>
                    <a:pt x="7032" y="13602"/>
                  </a:lnTo>
                  <a:lnTo>
                    <a:pt x="7324" y="13650"/>
                  </a:lnTo>
                  <a:lnTo>
                    <a:pt x="7933" y="13650"/>
                  </a:lnTo>
                  <a:lnTo>
                    <a:pt x="8225" y="13626"/>
                  </a:lnTo>
                  <a:lnTo>
                    <a:pt x="8541" y="13577"/>
                  </a:lnTo>
                  <a:lnTo>
                    <a:pt x="8833" y="13505"/>
                  </a:lnTo>
                  <a:lnTo>
                    <a:pt x="9125" y="13407"/>
                  </a:lnTo>
                  <a:lnTo>
                    <a:pt x="9393" y="13310"/>
                  </a:lnTo>
                  <a:lnTo>
                    <a:pt x="9660" y="13164"/>
                  </a:lnTo>
                  <a:lnTo>
                    <a:pt x="9903" y="12994"/>
                  </a:lnTo>
                  <a:lnTo>
                    <a:pt x="10147" y="12823"/>
                  </a:lnTo>
                  <a:lnTo>
                    <a:pt x="10390" y="12604"/>
                  </a:lnTo>
                  <a:lnTo>
                    <a:pt x="10585" y="12361"/>
                  </a:lnTo>
                  <a:lnTo>
                    <a:pt x="10779" y="12118"/>
                  </a:lnTo>
                  <a:lnTo>
                    <a:pt x="10925" y="11826"/>
                  </a:lnTo>
                  <a:lnTo>
                    <a:pt x="11071" y="11558"/>
                  </a:lnTo>
                  <a:lnTo>
                    <a:pt x="11193" y="11242"/>
                  </a:lnTo>
                  <a:lnTo>
                    <a:pt x="11266" y="10950"/>
                  </a:lnTo>
                  <a:lnTo>
                    <a:pt x="11339" y="10633"/>
                  </a:lnTo>
                  <a:lnTo>
                    <a:pt x="11388" y="10317"/>
                  </a:lnTo>
                  <a:lnTo>
                    <a:pt x="11388" y="9976"/>
                  </a:lnTo>
                  <a:lnTo>
                    <a:pt x="11363" y="9660"/>
                  </a:lnTo>
                  <a:lnTo>
                    <a:pt x="11315" y="9368"/>
                  </a:lnTo>
                  <a:lnTo>
                    <a:pt x="11242" y="9052"/>
                  </a:lnTo>
                  <a:lnTo>
                    <a:pt x="11120" y="8760"/>
                  </a:lnTo>
                  <a:lnTo>
                    <a:pt x="10974" y="8492"/>
                  </a:lnTo>
                  <a:lnTo>
                    <a:pt x="10147" y="9295"/>
                  </a:lnTo>
                  <a:lnTo>
                    <a:pt x="9733" y="9733"/>
                  </a:lnTo>
                  <a:lnTo>
                    <a:pt x="9636" y="9855"/>
                  </a:lnTo>
                  <a:lnTo>
                    <a:pt x="9636" y="9879"/>
                  </a:lnTo>
                  <a:lnTo>
                    <a:pt x="9636" y="10244"/>
                  </a:lnTo>
                  <a:lnTo>
                    <a:pt x="9587" y="10609"/>
                  </a:lnTo>
                  <a:lnTo>
                    <a:pt x="9539" y="10779"/>
                  </a:lnTo>
                  <a:lnTo>
                    <a:pt x="9466" y="10950"/>
                  </a:lnTo>
                  <a:lnTo>
                    <a:pt x="9393" y="11096"/>
                  </a:lnTo>
                  <a:lnTo>
                    <a:pt x="9295" y="11242"/>
                  </a:lnTo>
                  <a:lnTo>
                    <a:pt x="9149" y="11363"/>
                  </a:lnTo>
                  <a:lnTo>
                    <a:pt x="9003" y="11485"/>
                  </a:lnTo>
                  <a:lnTo>
                    <a:pt x="8882" y="11582"/>
                  </a:lnTo>
                  <a:lnTo>
                    <a:pt x="8736" y="11655"/>
                  </a:lnTo>
                  <a:lnTo>
                    <a:pt x="8590" y="11704"/>
                  </a:lnTo>
                  <a:lnTo>
                    <a:pt x="8444" y="11728"/>
                  </a:lnTo>
                  <a:lnTo>
                    <a:pt x="8127" y="11777"/>
                  </a:lnTo>
                  <a:lnTo>
                    <a:pt x="7811" y="11777"/>
                  </a:lnTo>
                  <a:lnTo>
                    <a:pt x="7470" y="11728"/>
                  </a:lnTo>
                  <a:lnTo>
                    <a:pt x="7178" y="11631"/>
                  </a:lnTo>
                  <a:lnTo>
                    <a:pt x="6886" y="11509"/>
                  </a:lnTo>
                  <a:lnTo>
                    <a:pt x="6643" y="11339"/>
                  </a:lnTo>
                  <a:lnTo>
                    <a:pt x="6521" y="11217"/>
                  </a:lnTo>
                  <a:lnTo>
                    <a:pt x="6400" y="11096"/>
                  </a:lnTo>
                  <a:lnTo>
                    <a:pt x="6327" y="10974"/>
                  </a:lnTo>
                  <a:lnTo>
                    <a:pt x="6254" y="10852"/>
                  </a:lnTo>
                  <a:lnTo>
                    <a:pt x="6132" y="10560"/>
                  </a:lnTo>
                  <a:lnTo>
                    <a:pt x="6059" y="10244"/>
                  </a:lnTo>
                  <a:lnTo>
                    <a:pt x="6059" y="9928"/>
                  </a:lnTo>
                  <a:lnTo>
                    <a:pt x="6083" y="9636"/>
                  </a:lnTo>
                  <a:lnTo>
                    <a:pt x="6181" y="9319"/>
                  </a:lnTo>
                  <a:lnTo>
                    <a:pt x="6302" y="9052"/>
                  </a:lnTo>
                  <a:lnTo>
                    <a:pt x="6400" y="8906"/>
                  </a:lnTo>
                  <a:lnTo>
                    <a:pt x="6497" y="8808"/>
                  </a:lnTo>
                  <a:lnTo>
                    <a:pt x="6594" y="8687"/>
                  </a:lnTo>
                  <a:lnTo>
                    <a:pt x="6716" y="8614"/>
                  </a:lnTo>
                  <a:lnTo>
                    <a:pt x="6984" y="8468"/>
                  </a:lnTo>
                  <a:lnTo>
                    <a:pt x="7276" y="8370"/>
                  </a:lnTo>
                  <a:lnTo>
                    <a:pt x="7495" y="8322"/>
                  </a:lnTo>
                  <a:lnTo>
                    <a:pt x="7689" y="8322"/>
                  </a:lnTo>
                  <a:lnTo>
                    <a:pt x="8054" y="8370"/>
                  </a:lnTo>
                  <a:lnTo>
                    <a:pt x="8200" y="8200"/>
                  </a:lnTo>
                  <a:lnTo>
                    <a:pt x="8565" y="7811"/>
                  </a:lnTo>
                  <a:lnTo>
                    <a:pt x="8955" y="7421"/>
                  </a:lnTo>
                  <a:lnTo>
                    <a:pt x="9344" y="7032"/>
                  </a:lnTo>
                  <a:lnTo>
                    <a:pt x="9295" y="6983"/>
                  </a:lnTo>
                  <a:lnTo>
                    <a:pt x="9247" y="6959"/>
                  </a:lnTo>
                  <a:lnTo>
                    <a:pt x="8906" y="6862"/>
                  </a:lnTo>
                  <a:lnTo>
                    <a:pt x="8565" y="6764"/>
                  </a:lnTo>
                  <a:lnTo>
                    <a:pt x="8225" y="6716"/>
                  </a:lnTo>
                  <a:lnTo>
                    <a:pt x="7884" y="6691"/>
                  </a:lnTo>
                  <a:close/>
                  <a:moveTo>
                    <a:pt x="13407" y="15621"/>
                  </a:moveTo>
                  <a:lnTo>
                    <a:pt x="13505" y="15694"/>
                  </a:lnTo>
                  <a:lnTo>
                    <a:pt x="13310" y="15865"/>
                  </a:lnTo>
                  <a:lnTo>
                    <a:pt x="13213" y="15962"/>
                  </a:lnTo>
                  <a:lnTo>
                    <a:pt x="13115" y="16059"/>
                  </a:lnTo>
                  <a:lnTo>
                    <a:pt x="12969" y="16278"/>
                  </a:lnTo>
                  <a:lnTo>
                    <a:pt x="12969" y="16303"/>
                  </a:lnTo>
                  <a:lnTo>
                    <a:pt x="12969" y="16351"/>
                  </a:lnTo>
                  <a:lnTo>
                    <a:pt x="12994" y="16400"/>
                  </a:lnTo>
                  <a:lnTo>
                    <a:pt x="13067" y="16424"/>
                  </a:lnTo>
                  <a:lnTo>
                    <a:pt x="13115" y="16424"/>
                  </a:lnTo>
                  <a:lnTo>
                    <a:pt x="13140" y="16400"/>
                  </a:lnTo>
                  <a:lnTo>
                    <a:pt x="13237" y="16327"/>
                  </a:lnTo>
                  <a:lnTo>
                    <a:pt x="13334" y="16254"/>
                  </a:lnTo>
                  <a:lnTo>
                    <a:pt x="13553" y="16132"/>
                  </a:lnTo>
                  <a:lnTo>
                    <a:pt x="13699" y="16035"/>
                  </a:lnTo>
                  <a:lnTo>
                    <a:pt x="13845" y="15938"/>
                  </a:lnTo>
                  <a:lnTo>
                    <a:pt x="13918" y="15986"/>
                  </a:lnTo>
                  <a:lnTo>
                    <a:pt x="13772" y="16132"/>
                  </a:lnTo>
                  <a:lnTo>
                    <a:pt x="13651" y="16254"/>
                  </a:lnTo>
                  <a:lnTo>
                    <a:pt x="13553" y="16351"/>
                  </a:lnTo>
                  <a:lnTo>
                    <a:pt x="13456" y="16497"/>
                  </a:lnTo>
                  <a:lnTo>
                    <a:pt x="13407" y="16570"/>
                  </a:lnTo>
                  <a:lnTo>
                    <a:pt x="13383" y="16643"/>
                  </a:lnTo>
                  <a:lnTo>
                    <a:pt x="13383" y="16692"/>
                  </a:lnTo>
                  <a:lnTo>
                    <a:pt x="13432" y="16741"/>
                  </a:lnTo>
                  <a:lnTo>
                    <a:pt x="13553" y="16741"/>
                  </a:lnTo>
                  <a:lnTo>
                    <a:pt x="13675" y="16668"/>
                  </a:lnTo>
                  <a:lnTo>
                    <a:pt x="13870" y="16497"/>
                  </a:lnTo>
                  <a:lnTo>
                    <a:pt x="14137" y="16278"/>
                  </a:lnTo>
                  <a:lnTo>
                    <a:pt x="14186" y="16230"/>
                  </a:lnTo>
                  <a:lnTo>
                    <a:pt x="14283" y="16351"/>
                  </a:lnTo>
                  <a:lnTo>
                    <a:pt x="13967" y="16643"/>
                  </a:lnTo>
                  <a:lnTo>
                    <a:pt x="13821" y="16862"/>
                  </a:lnTo>
                  <a:lnTo>
                    <a:pt x="13675" y="17057"/>
                  </a:lnTo>
                  <a:lnTo>
                    <a:pt x="13675" y="17106"/>
                  </a:lnTo>
                  <a:lnTo>
                    <a:pt x="13724" y="17106"/>
                  </a:lnTo>
                  <a:lnTo>
                    <a:pt x="13967" y="16984"/>
                  </a:lnTo>
                  <a:lnTo>
                    <a:pt x="14210" y="16887"/>
                  </a:lnTo>
                  <a:lnTo>
                    <a:pt x="14381" y="16789"/>
                  </a:lnTo>
                  <a:lnTo>
                    <a:pt x="14527" y="16668"/>
                  </a:lnTo>
                  <a:lnTo>
                    <a:pt x="14600" y="16765"/>
                  </a:lnTo>
                  <a:lnTo>
                    <a:pt x="14575" y="16789"/>
                  </a:lnTo>
                  <a:lnTo>
                    <a:pt x="14259" y="17033"/>
                  </a:lnTo>
                  <a:lnTo>
                    <a:pt x="14113" y="17154"/>
                  </a:lnTo>
                  <a:lnTo>
                    <a:pt x="13991" y="17300"/>
                  </a:lnTo>
                  <a:lnTo>
                    <a:pt x="13991" y="17349"/>
                  </a:lnTo>
                  <a:lnTo>
                    <a:pt x="14016" y="17349"/>
                  </a:lnTo>
                  <a:lnTo>
                    <a:pt x="14210" y="17300"/>
                  </a:lnTo>
                  <a:lnTo>
                    <a:pt x="14356" y="17252"/>
                  </a:lnTo>
                  <a:lnTo>
                    <a:pt x="14551" y="17154"/>
                  </a:lnTo>
                  <a:lnTo>
                    <a:pt x="14721" y="17057"/>
                  </a:lnTo>
                  <a:lnTo>
                    <a:pt x="14746" y="17203"/>
                  </a:lnTo>
                  <a:lnTo>
                    <a:pt x="14624" y="17252"/>
                  </a:lnTo>
                  <a:lnTo>
                    <a:pt x="14478" y="17300"/>
                  </a:lnTo>
                  <a:lnTo>
                    <a:pt x="14332" y="17373"/>
                  </a:lnTo>
                  <a:lnTo>
                    <a:pt x="14259" y="17422"/>
                  </a:lnTo>
                  <a:lnTo>
                    <a:pt x="14186" y="17471"/>
                  </a:lnTo>
                  <a:lnTo>
                    <a:pt x="14137" y="17544"/>
                  </a:lnTo>
                  <a:lnTo>
                    <a:pt x="14162" y="17641"/>
                  </a:lnTo>
                  <a:lnTo>
                    <a:pt x="14210" y="17690"/>
                  </a:lnTo>
                  <a:lnTo>
                    <a:pt x="14283" y="17714"/>
                  </a:lnTo>
                  <a:lnTo>
                    <a:pt x="14429" y="17714"/>
                  </a:lnTo>
                  <a:lnTo>
                    <a:pt x="14575" y="17665"/>
                  </a:lnTo>
                  <a:lnTo>
                    <a:pt x="14697" y="17617"/>
                  </a:lnTo>
                  <a:lnTo>
                    <a:pt x="14697" y="17641"/>
                  </a:lnTo>
                  <a:lnTo>
                    <a:pt x="14600" y="17738"/>
                  </a:lnTo>
                  <a:lnTo>
                    <a:pt x="14502" y="17811"/>
                  </a:lnTo>
                  <a:lnTo>
                    <a:pt x="14405" y="17860"/>
                  </a:lnTo>
                  <a:lnTo>
                    <a:pt x="14283" y="17884"/>
                  </a:lnTo>
                  <a:lnTo>
                    <a:pt x="14162" y="17909"/>
                  </a:lnTo>
                  <a:lnTo>
                    <a:pt x="14040" y="17884"/>
                  </a:lnTo>
                  <a:lnTo>
                    <a:pt x="13772" y="17836"/>
                  </a:lnTo>
                  <a:lnTo>
                    <a:pt x="13529" y="17738"/>
                  </a:lnTo>
                  <a:lnTo>
                    <a:pt x="13261" y="17592"/>
                  </a:lnTo>
                  <a:lnTo>
                    <a:pt x="13067" y="17471"/>
                  </a:lnTo>
                  <a:lnTo>
                    <a:pt x="12896" y="17349"/>
                  </a:lnTo>
                  <a:lnTo>
                    <a:pt x="12726" y="17179"/>
                  </a:lnTo>
                  <a:lnTo>
                    <a:pt x="12556" y="16984"/>
                  </a:lnTo>
                  <a:lnTo>
                    <a:pt x="12337" y="16765"/>
                  </a:lnTo>
                  <a:lnTo>
                    <a:pt x="12239" y="16692"/>
                  </a:lnTo>
                  <a:lnTo>
                    <a:pt x="12118" y="16668"/>
                  </a:lnTo>
                  <a:lnTo>
                    <a:pt x="12458" y="16424"/>
                  </a:lnTo>
                  <a:lnTo>
                    <a:pt x="12799" y="16181"/>
                  </a:lnTo>
                  <a:lnTo>
                    <a:pt x="13115" y="15913"/>
                  </a:lnTo>
                  <a:lnTo>
                    <a:pt x="13407" y="15621"/>
                  </a:lnTo>
                  <a:close/>
                  <a:moveTo>
                    <a:pt x="2287" y="15548"/>
                  </a:moveTo>
                  <a:lnTo>
                    <a:pt x="2579" y="15840"/>
                  </a:lnTo>
                  <a:lnTo>
                    <a:pt x="2871" y="16084"/>
                  </a:lnTo>
                  <a:lnTo>
                    <a:pt x="3188" y="16351"/>
                  </a:lnTo>
                  <a:lnTo>
                    <a:pt x="3504" y="16570"/>
                  </a:lnTo>
                  <a:lnTo>
                    <a:pt x="3382" y="16765"/>
                  </a:lnTo>
                  <a:lnTo>
                    <a:pt x="3358" y="16741"/>
                  </a:lnTo>
                  <a:lnTo>
                    <a:pt x="3309" y="16668"/>
                  </a:lnTo>
                  <a:lnTo>
                    <a:pt x="3261" y="16619"/>
                  </a:lnTo>
                  <a:lnTo>
                    <a:pt x="3115" y="16522"/>
                  </a:lnTo>
                  <a:lnTo>
                    <a:pt x="2944" y="16449"/>
                  </a:lnTo>
                  <a:lnTo>
                    <a:pt x="2823" y="16351"/>
                  </a:lnTo>
                  <a:lnTo>
                    <a:pt x="2774" y="16351"/>
                  </a:lnTo>
                  <a:lnTo>
                    <a:pt x="2774" y="16376"/>
                  </a:lnTo>
                  <a:lnTo>
                    <a:pt x="2823" y="16522"/>
                  </a:lnTo>
                  <a:lnTo>
                    <a:pt x="2944" y="16668"/>
                  </a:lnTo>
                  <a:lnTo>
                    <a:pt x="2969" y="16692"/>
                  </a:lnTo>
                  <a:lnTo>
                    <a:pt x="2725" y="16546"/>
                  </a:lnTo>
                  <a:lnTo>
                    <a:pt x="2604" y="16497"/>
                  </a:lnTo>
                  <a:lnTo>
                    <a:pt x="2458" y="16473"/>
                  </a:lnTo>
                  <a:lnTo>
                    <a:pt x="2433" y="16473"/>
                  </a:lnTo>
                  <a:lnTo>
                    <a:pt x="2433" y="16522"/>
                  </a:lnTo>
                  <a:lnTo>
                    <a:pt x="2482" y="16619"/>
                  </a:lnTo>
                  <a:lnTo>
                    <a:pt x="2555" y="16692"/>
                  </a:lnTo>
                  <a:lnTo>
                    <a:pt x="2725" y="16862"/>
                  </a:lnTo>
                  <a:lnTo>
                    <a:pt x="2896" y="17008"/>
                  </a:lnTo>
                  <a:lnTo>
                    <a:pt x="3090" y="17130"/>
                  </a:lnTo>
                  <a:lnTo>
                    <a:pt x="2920" y="17300"/>
                  </a:lnTo>
                  <a:lnTo>
                    <a:pt x="2871" y="17276"/>
                  </a:lnTo>
                  <a:lnTo>
                    <a:pt x="2774" y="17203"/>
                  </a:lnTo>
                  <a:lnTo>
                    <a:pt x="2701" y="17106"/>
                  </a:lnTo>
                  <a:lnTo>
                    <a:pt x="2604" y="17008"/>
                  </a:lnTo>
                  <a:lnTo>
                    <a:pt x="2506" y="16935"/>
                  </a:lnTo>
                  <a:lnTo>
                    <a:pt x="2385" y="16887"/>
                  </a:lnTo>
                  <a:lnTo>
                    <a:pt x="2336" y="16862"/>
                  </a:lnTo>
                  <a:lnTo>
                    <a:pt x="2263" y="16887"/>
                  </a:lnTo>
                  <a:lnTo>
                    <a:pt x="2239" y="16911"/>
                  </a:lnTo>
                  <a:lnTo>
                    <a:pt x="2239" y="16960"/>
                  </a:lnTo>
                  <a:lnTo>
                    <a:pt x="2287" y="17057"/>
                  </a:lnTo>
                  <a:lnTo>
                    <a:pt x="2336" y="17179"/>
                  </a:lnTo>
                  <a:lnTo>
                    <a:pt x="2433" y="17300"/>
                  </a:lnTo>
                  <a:lnTo>
                    <a:pt x="2506" y="17422"/>
                  </a:lnTo>
                  <a:lnTo>
                    <a:pt x="2652" y="17544"/>
                  </a:lnTo>
                  <a:lnTo>
                    <a:pt x="2531" y="17617"/>
                  </a:lnTo>
                  <a:lnTo>
                    <a:pt x="2336" y="17519"/>
                  </a:lnTo>
                  <a:lnTo>
                    <a:pt x="2166" y="17398"/>
                  </a:lnTo>
                  <a:lnTo>
                    <a:pt x="2068" y="17325"/>
                  </a:lnTo>
                  <a:lnTo>
                    <a:pt x="1995" y="17300"/>
                  </a:lnTo>
                  <a:lnTo>
                    <a:pt x="1898" y="17252"/>
                  </a:lnTo>
                  <a:lnTo>
                    <a:pt x="1777" y="17227"/>
                  </a:lnTo>
                  <a:lnTo>
                    <a:pt x="1752" y="17252"/>
                  </a:lnTo>
                  <a:lnTo>
                    <a:pt x="1728" y="17276"/>
                  </a:lnTo>
                  <a:lnTo>
                    <a:pt x="1777" y="17398"/>
                  </a:lnTo>
                  <a:lnTo>
                    <a:pt x="1825" y="17519"/>
                  </a:lnTo>
                  <a:lnTo>
                    <a:pt x="1898" y="17641"/>
                  </a:lnTo>
                  <a:lnTo>
                    <a:pt x="1995" y="17738"/>
                  </a:lnTo>
                  <a:lnTo>
                    <a:pt x="2117" y="17860"/>
                  </a:lnTo>
                  <a:lnTo>
                    <a:pt x="1874" y="17763"/>
                  </a:lnTo>
                  <a:lnTo>
                    <a:pt x="1679" y="17665"/>
                  </a:lnTo>
                  <a:lnTo>
                    <a:pt x="1582" y="17617"/>
                  </a:lnTo>
                  <a:lnTo>
                    <a:pt x="1485" y="17592"/>
                  </a:lnTo>
                  <a:lnTo>
                    <a:pt x="1436" y="17592"/>
                  </a:lnTo>
                  <a:lnTo>
                    <a:pt x="1363" y="17641"/>
                  </a:lnTo>
                  <a:lnTo>
                    <a:pt x="1339" y="17690"/>
                  </a:lnTo>
                  <a:lnTo>
                    <a:pt x="1339" y="17738"/>
                  </a:lnTo>
                  <a:lnTo>
                    <a:pt x="1412" y="17860"/>
                  </a:lnTo>
                  <a:lnTo>
                    <a:pt x="1509" y="17957"/>
                  </a:lnTo>
                  <a:lnTo>
                    <a:pt x="1363" y="17909"/>
                  </a:lnTo>
                  <a:lnTo>
                    <a:pt x="1266" y="17836"/>
                  </a:lnTo>
                  <a:lnTo>
                    <a:pt x="1168" y="17738"/>
                  </a:lnTo>
                  <a:lnTo>
                    <a:pt x="1095" y="17592"/>
                  </a:lnTo>
                  <a:lnTo>
                    <a:pt x="1071" y="17422"/>
                  </a:lnTo>
                  <a:lnTo>
                    <a:pt x="1095" y="17227"/>
                  </a:lnTo>
                  <a:lnTo>
                    <a:pt x="1144" y="17057"/>
                  </a:lnTo>
                  <a:lnTo>
                    <a:pt x="1217" y="16887"/>
                  </a:lnTo>
                  <a:lnTo>
                    <a:pt x="1436" y="16522"/>
                  </a:lnTo>
                  <a:lnTo>
                    <a:pt x="1631" y="16254"/>
                  </a:lnTo>
                  <a:lnTo>
                    <a:pt x="1777" y="16059"/>
                  </a:lnTo>
                  <a:lnTo>
                    <a:pt x="1947" y="15889"/>
                  </a:lnTo>
                  <a:lnTo>
                    <a:pt x="2117" y="15719"/>
                  </a:lnTo>
                  <a:lnTo>
                    <a:pt x="2287" y="15548"/>
                  </a:lnTo>
                  <a:close/>
                  <a:moveTo>
                    <a:pt x="7689" y="2336"/>
                  </a:moveTo>
                  <a:lnTo>
                    <a:pt x="7203" y="2360"/>
                  </a:lnTo>
                  <a:lnTo>
                    <a:pt x="6716" y="2409"/>
                  </a:lnTo>
                  <a:lnTo>
                    <a:pt x="6205" y="2482"/>
                  </a:lnTo>
                  <a:lnTo>
                    <a:pt x="5718" y="2604"/>
                  </a:lnTo>
                  <a:lnTo>
                    <a:pt x="5256" y="2725"/>
                  </a:lnTo>
                  <a:lnTo>
                    <a:pt x="4794" y="2896"/>
                  </a:lnTo>
                  <a:lnTo>
                    <a:pt x="4404" y="3066"/>
                  </a:lnTo>
                  <a:lnTo>
                    <a:pt x="4015" y="3261"/>
                  </a:lnTo>
                  <a:lnTo>
                    <a:pt x="3626" y="3480"/>
                  </a:lnTo>
                  <a:lnTo>
                    <a:pt x="3261" y="3723"/>
                  </a:lnTo>
                  <a:lnTo>
                    <a:pt x="2896" y="3966"/>
                  </a:lnTo>
                  <a:lnTo>
                    <a:pt x="2555" y="4258"/>
                  </a:lnTo>
                  <a:lnTo>
                    <a:pt x="2214" y="4526"/>
                  </a:lnTo>
                  <a:lnTo>
                    <a:pt x="1923" y="4842"/>
                  </a:lnTo>
                  <a:lnTo>
                    <a:pt x="1655" y="5134"/>
                  </a:lnTo>
                  <a:lnTo>
                    <a:pt x="1412" y="5451"/>
                  </a:lnTo>
                  <a:lnTo>
                    <a:pt x="1217" y="5791"/>
                  </a:lnTo>
                  <a:lnTo>
                    <a:pt x="1071" y="6156"/>
                  </a:lnTo>
                  <a:lnTo>
                    <a:pt x="657" y="7105"/>
                  </a:lnTo>
                  <a:lnTo>
                    <a:pt x="463" y="7592"/>
                  </a:lnTo>
                  <a:lnTo>
                    <a:pt x="292" y="8078"/>
                  </a:lnTo>
                  <a:lnTo>
                    <a:pt x="171" y="8565"/>
                  </a:lnTo>
                  <a:lnTo>
                    <a:pt x="73" y="9052"/>
                  </a:lnTo>
                  <a:lnTo>
                    <a:pt x="25" y="9563"/>
                  </a:lnTo>
                  <a:lnTo>
                    <a:pt x="0" y="10074"/>
                  </a:lnTo>
                  <a:lnTo>
                    <a:pt x="25" y="10585"/>
                  </a:lnTo>
                  <a:lnTo>
                    <a:pt x="49" y="11096"/>
                  </a:lnTo>
                  <a:lnTo>
                    <a:pt x="122" y="11607"/>
                  </a:lnTo>
                  <a:lnTo>
                    <a:pt x="195" y="12093"/>
                  </a:lnTo>
                  <a:lnTo>
                    <a:pt x="268" y="12531"/>
                  </a:lnTo>
                  <a:lnTo>
                    <a:pt x="414" y="12945"/>
                  </a:lnTo>
                  <a:lnTo>
                    <a:pt x="584" y="13359"/>
                  </a:lnTo>
                  <a:lnTo>
                    <a:pt x="779" y="13723"/>
                  </a:lnTo>
                  <a:lnTo>
                    <a:pt x="1022" y="14088"/>
                  </a:lnTo>
                  <a:lnTo>
                    <a:pt x="1290" y="14453"/>
                  </a:lnTo>
                  <a:lnTo>
                    <a:pt x="1558" y="14794"/>
                  </a:lnTo>
                  <a:lnTo>
                    <a:pt x="1850" y="15135"/>
                  </a:lnTo>
                  <a:lnTo>
                    <a:pt x="1995" y="15281"/>
                  </a:lnTo>
                  <a:lnTo>
                    <a:pt x="1850" y="15378"/>
                  </a:lnTo>
                  <a:lnTo>
                    <a:pt x="1704" y="15500"/>
                  </a:lnTo>
                  <a:lnTo>
                    <a:pt x="1582" y="15621"/>
                  </a:lnTo>
                  <a:lnTo>
                    <a:pt x="1460" y="15767"/>
                  </a:lnTo>
                  <a:lnTo>
                    <a:pt x="1217" y="16084"/>
                  </a:lnTo>
                  <a:lnTo>
                    <a:pt x="1047" y="16351"/>
                  </a:lnTo>
                  <a:lnTo>
                    <a:pt x="925" y="16546"/>
                  </a:lnTo>
                  <a:lnTo>
                    <a:pt x="828" y="16741"/>
                  </a:lnTo>
                  <a:lnTo>
                    <a:pt x="730" y="16960"/>
                  </a:lnTo>
                  <a:lnTo>
                    <a:pt x="682" y="17179"/>
                  </a:lnTo>
                  <a:lnTo>
                    <a:pt x="633" y="17398"/>
                  </a:lnTo>
                  <a:lnTo>
                    <a:pt x="657" y="17617"/>
                  </a:lnTo>
                  <a:lnTo>
                    <a:pt x="706" y="17836"/>
                  </a:lnTo>
                  <a:lnTo>
                    <a:pt x="828" y="18055"/>
                  </a:lnTo>
                  <a:lnTo>
                    <a:pt x="901" y="18152"/>
                  </a:lnTo>
                  <a:lnTo>
                    <a:pt x="974" y="18225"/>
                  </a:lnTo>
                  <a:lnTo>
                    <a:pt x="1144" y="18322"/>
                  </a:lnTo>
                  <a:lnTo>
                    <a:pt x="1339" y="18395"/>
                  </a:lnTo>
                  <a:lnTo>
                    <a:pt x="1558" y="18420"/>
                  </a:lnTo>
                  <a:lnTo>
                    <a:pt x="1777" y="18420"/>
                  </a:lnTo>
                  <a:lnTo>
                    <a:pt x="1995" y="18371"/>
                  </a:lnTo>
                  <a:lnTo>
                    <a:pt x="2190" y="18322"/>
                  </a:lnTo>
                  <a:lnTo>
                    <a:pt x="2385" y="18249"/>
                  </a:lnTo>
                  <a:lnTo>
                    <a:pt x="2604" y="18128"/>
                  </a:lnTo>
                  <a:lnTo>
                    <a:pt x="2823" y="18006"/>
                  </a:lnTo>
                  <a:lnTo>
                    <a:pt x="3042" y="17836"/>
                  </a:lnTo>
                  <a:lnTo>
                    <a:pt x="3236" y="17665"/>
                  </a:lnTo>
                  <a:lnTo>
                    <a:pt x="3431" y="17471"/>
                  </a:lnTo>
                  <a:lnTo>
                    <a:pt x="3601" y="17276"/>
                  </a:lnTo>
                  <a:lnTo>
                    <a:pt x="3893" y="16838"/>
                  </a:lnTo>
                  <a:lnTo>
                    <a:pt x="4258" y="17081"/>
                  </a:lnTo>
                  <a:lnTo>
                    <a:pt x="4648" y="17276"/>
                  </a:lnTo>
                  <a:lnTo>
                    <a:pt x="4867" y="17398"/>
                  </a:lnTo>
                  <a:lnTo>
                    <a:pt x="5110" y="17495"/>
                  </a:lnTo>
                  <a:lnTo>
                    <a:pt x="5353" y="17568"/>
                  </a:lnTo>
                  <a:lnTo>
                    <a:pt x="5597" y="17641"/>
                  </a:lnTo>
                  <a:lnTo>
                    <a:pt x="6083" y="17738"/>
                  </a:lnTo>
                  <a:lnTo>
                    <a:pt x="6594" y="17811"/>
                  </a:lnTo>
                  <a:lnTo>
                    <a:pt x="7057" y="17884"/>
                  </a:lnTo>
                  <a:lnTo>
                    <a:pt x="7519" y="17909"/>
                  </a:lnTo>
                  <a:lnTo>
                    <a:pt x="8006" y="17909"/>
                  </a:lnTo>
                  <a:lnTo>
                    <a:pt x="8492" y="17860"/>
                  </a:lnTo>
                  <a:lnTo>
                    <a:pt x="8541" y="17884"/>
                  </a:lnTo>
                  <a:lnTo>
                    <a:pt x="8590" y="17860"/>
                  </a:lnTo>
                  <a:lnTo>
                    <a:pt x="8736" y="17811"/>
                  </a:lnTo>
                  <a:lnTo>
                    <a:pt x="8906" y="17787"/>
                  </a:lnTo>
                  <a:lnTo>
                    <a:pt x="9222" y="17738"/>
                  </a:lnTo>
                  <a:lnTo>
                    <a:pt x="9514" y="17690"/>
                  </a:lnTo>
                  <a:lnTo>
                    <a:pt x="9782" y="17592"/>
                  </a:lnTo>
                  <a:lnTo>
                    <a:pt x="10317" y="17398"/>
                  </a:lnTo>
                  <a:lnTo>
                    <a:pt x="11120" y="17130"/>
                  </a:lnTo>
                  <a:lnTo>
                    <a:pt x="11509" y="16984"/>
                  </a:lnTo>
                  <a:lnTo>
                    <a:pt x="11899" y="16789"/>
                  </a:lnTo>
                  <a:lnTo>
                    <a:pt x="11899" y="16814"/>
                  </a:lnTo>
                  <a:lnTo>
                    <a:pt x="11996" y="17033"/>
                  </a:lnTo>
                  <a:lnTo>
                    <a:pt x="12118" y="17227"/>
                  </a:lnTo>
                  <a:lnTo>
                    <a:pt x="12288" y="17446"/>
                  </a:lnTo>
                  <a:lnTo>
                    <a:pt x="12483" y="17641"/>
                  </a:lnTo>
                  <a:lnTo>
                    <a:pt x="12702" y="17811"/>
                  </a:lnTo>
                  <a:lnTo>
                    <a:pt x="12921" y="17957"/>
                  </a:lnTo>
                  <a:lnTo>
                    <a:pt x="13115" y="18079"/>
                  </a:lnTo>
                  <a:lnTo>
                    <a:pt x="13334" y="18176"/>
                  </a:lnTo>
                  <a:lnTo>
                    <a:pt x="13529" y="18249"/>
                  </a:lnTo>
                  <a:lnTo>
                    <a:pt x="13748" y="18298"/>
                  </a:lnTo>
                  <a:lnTo>
                    <a:pt x="13991" y="18347"/>
                  </a:lnTo>
                  <a:lnTo>
                    <a:pt x="14259" y="18347"/>
                  </a:lnTo>
                  <a:lnTo>
                    <a:pt x="14478" y="18322"/>
                  </a:lnTo>
                  <a:lnTo>
                    <a:pt x="14721" y="18249"/>
                  </a:lnTo>
                  <a:lnTo>
                    <a:pt x="14819" y="18176"/>
                  </a:lnTo>
                  <a:lnTo>
                    <a:pt x="14892" y="18103"/>
                  </a:lnTo>
                  <a:lnTo>
                    <a:pt x="14989" y="18030"/>
                  </a:lnTo>
                  <a:lnTo>
                    <a:pt x="15038" y="17933"/>
                  </a:lnTo>
                  <a:lnTo>
                    <a:pt x="15135" y="17763"/>
                  </a:lnTo>
                  <a:lnTo>
                    <a:pt x="15159" y="17568"/>
                  </a:lnTo>
                  <a:lnTo>
                    <a:pt x="15184" y="17373"/>
                  </a:lnTo>
                  <a:lnTo>
                    <a:pt x="15159" y="17203"/>
                  </a:lnTo>
                  <a:lnTo>
                    <a:pt x="15111" y="17008"/>
                  </a:lnTo>
                  <a:lnTo>
                    <a:pt x="15062" y="16838"/>
                  </a:lnTo>
                  <a:lnTo>
                    <a:pt x="14965" y="16643"/>
                  </a:lnTo>
                  <a:lnTo>
                    <a:pt x="14867" y="16473"/>
                  </a:lnTo>
                  <a:lnTo>
                    <a:pt x="14600" y="16132"/>
                  </a:lnTo>
                  <a:lnTo>
                    <a:pt x="14308" y="15792"/>
                  </a:lnTo>
                  <a:lnTo>
                    <a:pt x="13991" y="15524"/>
                  </a:lnTo>
                  <a:lnTo>
                    <a:pt x="13675" y="15281"/>
                  </a:lnTo>
                  <a:lnTo>
                    <a:pt x="13967" y="14916"/>
                  </a:lnTo>
                  <a:lnTo>
                    <a:pt x="14235" y="14551"/>
                  </a:lnTo>
                  <a:lnTo>
                    <a:pt x="14478" y="14137"/>
                  </a:lnTo>
                  <a:lnTo>
                    <a:pt x="14673" y="13748"/>
                  </a:lnTo>
                  <a:lnTo>
                    <a:pt x="14916" y="13237"/>
                  </a:lnTo>
                  <a:lnTo>
                    <a:pt x="15111" y="12677"/>
                  </a:lnTo>
                  <a:lnTo>
                    <a:pt x="15257" y="12118"/>
                  </a:lnTo>
                  <a:lnTo>
                    <a:pt x="15378" y="11534"/>
                  </a:lnTo>
                  <a:lnTo>
                    <a:pt x="15476" y="10950"/>
                  </a:lnTo>
                  <a:lnTo>
                    <a:pt x="15524" y="10366"/>
                  </a:lnTo>
                  <a:lnTo>
                    <a:pt x="15549" y="9782"/>
                  </a:lnTo>
                  <a:lnTo>
                    <a:pt x="15549" y="9222"/>
                  </a:lnTo>
                  <a:lnTo>
                    <a:pt x="15524" y="8979"/>
                  </a:lnTo>
                  <a:lnTo>
                    <a:pt x="15476" y="8735"/>
                  </a:lnTo>
                  <a:lnTo>
                    <a:pt x="15354" y="8249"/>
                  </a:lnTo>
                  <a:lnTo>
                    <a:pt x="15208" y="7786"/>
                  </a:lnTo>
                  <a:lnTo>
                    <a:pt x="15038" y="7348"/>
                  </a:lnTo>
                  <a:lnTo>
                    <a:pt x="14867" y="6910"/>
                  </a:lnTo>
                  <a:lnTo>
                    <a:pt x="14794" y="6691"/>
                  </a:lnTo>
                  <a:lnTo>
                    <a:pt x="14697" y="6472"/>
                  </a:lnTo>
                  <a:lnTo>
                    <a:pt x="14575" y="6278"/>
                  </a:lnTo>
                  <a:lnTo>
                    <a:pt x="14429" y="6107"/>
                  </a:lnTo>
                  <a:lnTo>
                    <a:pt x="14381" y="6107"/>
                  </a:lnTo>
                  <a:lnTo>
                    <a:pt x="13991" y="6034"/>
                  </a:lnTo>
                  <a:lnTo>
                    <a:pt x="13578" y="5961"/>
                  </a:lnTo>
                  <a:lnTo>
                    <a:pt x="13042" y="6521"/>
                  </a:lnTo>
                  <a:lnTo>
                    <a:pt x="12458" y="7105"/>
                  </a:lnTo>
                  <a:lnTo>
                    <a:pt x="12580" y="7202"/>
                  </a:lnTo>
                  <a:lnTo>
                    <a:pt x="12702" y="7324"/>
                  </a:lnTo>
                  <a:lnTo>
                    <a:pt x="12799" y="7470"/>
                  </a:lnTo>
                  <a:lnTo>
                    <a:pt x="12872" y="7616"/>
                  </a:lnTo>
                  <a:lnTo>
                    <a:pt x="13018" y="7957"/>
                  </a:lnTo>
                  <a:lnTo>
                    <a:pt x="13140" y="8249"/>
                  </a:lnTo>
                  <a:lnTo>
                    <a:pt x="13213" y="8468"/>
                  </a:lnTo>
                  <a:lnTo>
                    <a:pt x="13286" y="8687"/>
                  </a:lnTo>
                  <a:lnTo>
                    <a:pt x="13383" y="9173"/>
                  </a:lnTo>
                  <a:lnTo>
                    <a:pt x="13407" y="9684"/>
                  </a:lnTo>
                  <a:lnTo>
                    <a:pt x="13407" y="10147"/>
                  </a:lnTo>
                  <a:lnTo>
                    <a:pt x="13383" y="10585"/>
                  </a:lnTo>
                  <a:lnTo>
                    <a:pt x="13310" y="11023"/>
                  </a:lnTo>
                  <a:lnTo>
                    <a:pt x="13188" y="11436"/>
                  </a:lnTo>
                  <a:lnTo>
                    <a:pt x="13042" y="11850"/>
                  </a:lnTo>
                  <a:lnTo>
                    <a:pt x="12872" y="12264"/>
                  </a:lnTo>
                  <a:lnTo>
                    <a:pt x="12677" y="12653"/>
                  </a:lnTo>
                  <a:lnTo>
                    <a:pt x="12458" y="13018"/>
                  </a:lnTo>
                  <a:lnTo>
                    <a:pt x="12239" y="13383"/>
                  </a:lnTo>
                  <a:lnTo>
                    <a:pt x="11923" y="13748"/>
                  </a:lnTo>
                  <a:lnTo>
                    <a:pt x="11582" y="14088"/>
                  </a:lnTo>
                  <a:lnTo>
                    <a:pt x="11217" y="14380"/>
                  </a:lnTo>
                  <a:lnTo>
                    <a:pt x="10828" y="14648"/>
                  </a:lnTo>
                  <a:lnTo>
                    <a:pt x="10414" y="14867"/>
                  </a:lnTo>
                  <a:lnTo>
                    <a:pt x="9976" y="15062"/>
                  </a:lnTo>
                  <a:lnTo>
                    <a:pt x="9539" y="15256"/>
                  </a:lnTo>
                  <a:lnTo>
                    <a:pt x="9101" y="15427"/>
                  </a:lnTo>
                  <a:lnTo>
                    <a:pt x="8809" y="15524"/>
                  </a:lnTo>
                  <a:lnTo>
                    <a:pt x="8517" y="15597"/>
                  </a:lnTo>
                  <a:lnTo>
                    <a:pt x="8225" y="15646"/>
                  </a:lnTo>
                  <a:lnTo>
                    <a:pt x="7957" y="15670"/>
                  </a:lnTo>
                  <a:lnTo>
                    <a:pt x="7397" y="15670"/>
                  </a:lnTo>
                  <a:lnTo>
                    <a:pt x="7130" y="15646"/>
                  </a:lnTo>
                  <a:lnTo>
                    <a:pt x="6862" y="15597"/>
                  </a:lnTo>
                  <a:lnTo>
                    <a:pt x="6594" y="15548"/>
                  </a:lnTo>
                  <a:lnTo>
                    <a:pt x="6327" y="15475"/>
                  </a:lnTo>
                  <a:lnTo>
                    <a:pt x="5816" y="15281"/>
                  </a:lnTo>
                  <a:lnTo>
                    <a:pt x="5280" y="15062"/>
                  </a:lnTo>
                  <a:lnTo>
                    <a:pt x="4769" y="14770"/>
                  </a:lnTo>
                  <a:lnTo>
                    <a:pt x="4015" y="14307"/>
                  </a:lnTo>
                  <a:lnTo>
                    <a:pt x="3918" y="14259"/>
                  </a:lnTo>
                  <a:lnTo>
                    <a:pt x="3820" y="14161"/>
                  </a:lnTo>
                  <a:lnTo>
                    <a:pt x="3674" y="13991"/>
                  </a:lnTo>
                  <a:lnTo>
                    <a:pt x="3382" y="13602"/>
                  </a:lnTo>
                  <a:lnTo>
                    <a:pt x="3066" y="13164"/>
                  </a:lnTo>
                  <a:lnTo>
                    <a:pt x="2774" y="12726"/>
                  </a:lnTo>
                  <a:lnTo>
                    <a:pt x="2652" y="12483"/>
                  </a:lnTo>
                  <a:lnTo>
                    <a:pt x="2555" y="12239"/>
                  </a:lnTo>
                  <a:lnTo>
                    <a:pt x="2458" y="11972"/>
                  </a:lnTo>
                  <a:lnTo>
                    <a:pt x="2360" y="11728"/>
                  </a:lnTo>
                  <a:lnTo>
                    <a:pt x="2263" y="11242"/>
                  </a:lnTo>
                  <a:lnTo>
                    <a:pt x="2214" y="10731"/>
                  </a:lnTo>
                  <a:lnTo>
                    <a:pt x="2214" y="10220"/>
                  </a:lnTo>
                  <a:lnTo>
                    <a:pt x="2239" y="9684"/>
                  </a:lnTo>
                  <a:lnTo>
                    <a:pt x="2336" y="9149"/>
                  </a:lnTo>
                  <a:lnTo>
                    <a:pt x="2433" y="8662"/>
                  </a:lnTo>
                  <a:lnTo>
                    <a:pt x="2604" y="8151"/>
                  </a:lnTo>
                  <a:lnTo>
                    <a:pt x="2774" y="7713"/>
                  </a:lnTo>
                  <a:lnTo>
                    <a:pt x="2969" y="7324"/>
                  </a:lnTo>
                  <a:lnTo>
                    <a:pt x="3188" y="6959"/>
                  </a:lnTo>
                  <a:lnTo>
                    <a:pt x="3431" y="6618"/>
                  </a:lnTo>
                  <a:lnTo>
                    <a:pt x="3699" y="6302"/>
                  </a:lnTo>
                  <a:lnTo>
                    <a:pt x="4015" y="6010"/>
                  </a:lnTo>
                  <a:lnTo>
                    <a:pt x="4331" y="5742"/>
                  </a:lnTo>
                  <a:lnTo>
                    <a:pt x="4648" y="5499"/>
                  </a:lnTo>
                  <a:lnTo>
                    <a:pt x="5013" y="5280"/>
                  </a:lnTo>
                  <a:lnTo>
                    <a:pt x="5378" y="5086"/>
                  </a:lnTo>
                  <a:lnTo>
                    <a:pt x="5767" y="4915"/>
                  </a:lnTo>
                  <a:lnTo>
                    <a:pt x="6156" y="4794"/>
                  </a:lnTo>
                  <a:lnTo>
                    <a:pt x="6570" y="4672"/>
                  </a:lnTo>
                  <a:lnTo>
                    <a:pt x="6984" y="4599"/>
                  </a:lnTo>
                  <a:lnTo>
                    <a:pt x="7397" y="4550"/>
                  </a:lnTo>
                  <a:lnTo>
                    <a:pt x="7811" y="4526"/>
                  </a:lnTo>
                  <a:lnTo>
                    <a:pt x="8225" y="4526"/>
                  </a:lnTo>
                  <a:lnTo>
                    <a:pt x="8614" y="4575"/>
                  </a:lnTo>
                  <a:lnTo>
                    <a:pt x="8979" y="4623"/>
                  </a:lnTo>
                  <a:lnTo>
                    <a:pt x="9344" y="4696"/>
                  </a:lnTo>
                  <a:lnTo>
                    <a:pt x="9685" y="4794"/>
                  </a:lnTo>
                  <a:lnTo>
                    <a:pt x="10049" y="4940"/>
                  </a:lnTo>
                  <a:lnTo>
                    <a:pt x="10390" y="5086"/>
                  </a:lnTo>
                  <a:lnTo>
                    <a:pt x="10706" y="5280"/>
                  </a:lnTo>
                  <a:lnTo>
                    <a:pt x="10998" y="5499"/>
                  </a:lnTo>
                  <a:lnTo>
                    <a:pt x="11363" y="5134"/>
                  </a:lnTo>
                  <a:lnTo>
                    <a:pt x="11704" y="4745"/>
                  </a:lnTo>
                  <a:lnTo>
                    <a:pt x="11874" y="4575"/>
                  </a:lnTo>
                  <a:lnTo>
                    <a:pt x="11801" y="4258"/>
                  </a:lnTo>
                  <a:lnTo>
                    <a:pt x="11777" y="3942"/>
                  </a:lnTo>
                  <a:lnTo>
                    <a:pt x="11728" y="3650"/>
                  </a:lnTo>
                  <a:lnTo>
                    <a:pt x="11680" y="3382"/>
                  </a:lnTo>
                  <a:lnTo>
                    <a:pt x="11169" y="3042"/>
                  </a:lnTo>
                  <a:lnTo>
                    <a:pt x="10925" y="2871"/>
                  </a:lnTo>
                  <a:lnTo>
                    <a:pt x="10633" y="2750"/>
                  </a:lnTo>
                  <a:lnTo>
                    <a:pt x="10147" y="2579"/>
                  </a:lnTo>
                  <a:lnTo>
                    <a:pt x="9685" y="2458"/>
                  </a:lnTo>
                  <a:lnTo>
                    <a:pt x="9174" y="2385"/>
                  </a:lnTo>
                  <a:lnTo>
                    <a:pt x="8687" y="23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" name="Title 7">
            <a:extLst>
              <a:ext uri="{FF2B5EF4-FFF2-40B4-BE49-F238E27FC236}">
                <a16:creationId xmlns:a16="http://schemas.microsoft.com/office/drawing/2014/main" id="{6442A6AD-BD38-40A3-B62B-6FF5BDEBB453}"/>
              </a:ext>
            </a:extLst>
          </p:cNvPr>
          <p:cNvSpPr txBox="1">
            <a:spLocks/>
          </p:cNvSpPr>
          <p:nvPr/>
        </p:nvSpPr>
        <p:spPr>
          <a:xfrm>
            <a:off x="717632" y="1133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3000" b="0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algn="l"/>
            <a:r>
              <a:rPr lang="bg-BG" sz="3200" b="1" dirty="0"/>
              <a:t>Задача 2</a:t>
            </a:r>
            <a:r>
              <a:rPr lang="en-US" sz="3200" b="1" dirty="0"/>
              <a:t> -</a:t>
            </a:r>
            <a:r>
              <a:rPr lang="bg-BG" sz="3200" b="1" dirty="0"/>
              <a:t> математически модел </a:t>
            </a:r>
            <a:endParaRPr lang="en-US" sz="3200" b="1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F152764-5BBC-4C70-A299-F74C346A7DF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8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978" y="838200"/>
            <a:ext cx="7367781" cy="5441950"/>
          </a:xfrm>
        </p:spPr>
        <p:txBody>
          <a:bodyPr>
            <a:normAutofit/>
          </a:bodyPr>
          <a:lstStyle/>
          <a:p>
            <a:r>
              <a:rPr lang="bg-BG" sz="1700" dirty="0"/>
              <a:t>Фирма разполага с три цеха, които имат излишък на мощности. Всеки цех има възможност да произвежда определен вид продукт и мениджърите на предприятието решават да използват тези излишъци на мощности. Продуктът може да се произвежда в три различни размера – голям, среден и малък, като доходите съответно са 385, 330 и 275 единици. Цехове 1, 2, 3 разполагат с излишък на работна сила и оборудване да произвеждат съответно 750, 900 и 450 единици на ден продукция, независимо от комбинацията на размерите. Съществуват, обаче, ограничения по отношение на складовия потенциал. Цеховете съответно имат 13000, 12000 и 5000 кв.м., където могат да складират дневната продукция. Всяка единица продукция, в зависимост от размера заема 20 кв.м., 15 кв.м. и 12 кв.м. Прогнозите за продажби показват, че съответно на ден могат да бъдат продавани 900 големи единици, 1200 средни и 750 малки продукта. </a:t>
            </a:r>
          </a:p>
          <a:p>
            <a:endParaRPr lang="en-US" sz="1700" dirty="0"/>
          </a:p>
          <a:p>
            <a:r>
              <a:rPr lang="bg-BG" sz="1700" dirty="0"/>
              <a:t>Съставете математически модел, в който се търси максимизиране на печалбите от продажби. С помощта на </a:t>
            </a:r>
            <a:r>
              <a:rPr lang="en-US" sz="1700" dirty="0"/>
              <a:t>Excel, </a:t>
            </a:r>
            <a:r>
              <a:rPr lang="bg-BG" sz="1700" dirty="0"/>
              <a:t>намерете оптималния план.</a:t>
            </a:r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F7666C5-1B1B-4B10-A547-34DA5792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3</a:t>
            </a:r>
            <a:endParaRPr lang="en-US" sz="3600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27DF383-526E-4940-9C88-F24185B415F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3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3 - решение</a:t>
            </a:r>
            <a:endParaRPr lang="en-US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A3C27-3B87-4489-B3B7-8A77E3F43F50}"/>
              </a:ext>
            </a:extLst>
          </p:cNvPr>
          <p:cNvSpPr/>
          <p:nvPr/>
        </p:nvSpPr>
        <p:spPr>
          <a:xfrm>
            <a:off x="1123933" y="831148"/>
            <a:ext cx="7125987" cy="108235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bg-BG" sz="16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Неизвестни</a:t>
            </a: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:</a:t>
            </a:r>
          </a:p>
          <a:p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Неизвестни променливи в тази задача са количествата, които ще бъдат произведени във всеки един цех от всеки един тип продукт. </a:t>
            </a:r>
          </a:p>
          <a:p>
            <a:endParaRPr lang="bg-BG" sz="1600" dirty="0">
              <a:solidFill>
                <a:srgbClr val="50567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/>
              <p:nvPr/>
            </p:nvSpPr>
            <p:spPr>
              <a:xfrm>
                <a:off x="1123933" y="4325366"/>
                <a:ext cx="7125987" cy="123825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Целева функция: </a:t>
                </a:r>
              </a:p>
              <a:p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Основната цел е да максимизираме печалбите си от продажби.</a:t>
                </a:r>
                <a:endParaRPr lang="en-US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𝒛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385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11</m:t>
                              </m:r>
                            </m:sub>
                          </m:sSub>
                          <m:r>
                            <a:rPr lang="bg-BG" sz="1600" b="0" i="0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21</m:t>
                              </m:r>
                            </m:sub>
                          </m:sSub>
                          <m:r>
                            <a:rPr lang="bg-BG" sz="1600" b="0" i="0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31</m:t>
                              </m:r>
                            </m:sub>
                          </m:sSub>
                        </m:e>
                      </m:d>
                      <m:r>
                        <a:rPr lang="bg-BG" sz="16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+330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1</m:t>
                              </m:r>
                              <m:r>
                                <a:rPr lang="bg-BG" sz="16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2</m:t>
                              </m:r>
                            </m:sub>
                          </m:sSub>
                          <m:r>
                            <a:rPr lang="bg-BG" sz="160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2</m:t>
                              </m:r>
                              <m:r>
                                <a:rPr lang="bg-BG" sz="16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2</m:t>
                              </m:r>
                            </m:sub>
                          </m:sSub>
                          <m:r>
                            <a:rPr lang="bg-BG" sz="160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3</m:t>
                              </m:r>
                              <m:r>
                                <a:rPr lang="bg-BG" sz="1600" b="0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bg-BG" sz="16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+275(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1</m:t>
                          </m:r>
                          <m:r>
                            <a:rPr lang="bg-BG" sz="16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3</m:t>
                          </m:r>
                        </m:sub>
                      </m:sSub>
                      <m:r>
                        <a:rPr lang="bg-BG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2</m:t>
                          </m:r>
                          <m:r>
                            <a:rPr lang="bg-BG" sz="16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3</m:t>
                          </m:r>
                        </m:sub>
                      </m:sSub>
                      <m:r>
                        <a:rPr lang="bg-BG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3</m:t>
                          </m:r>
                          <m:r>
                            <a:rPr lang="bg-BG" sz="1600" b="0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3</m:t>
                          </m:r>
                        </m:sub>
                      </m:sSub>
                      <m:r>
                        <a:rPr lang="bg-BG" sz="1600" b="0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933" y="4325366"/>
                <a:ext cx="7125987" cy="1238257"/>
              </a:xfrm>
              <a:prstGeom prst="rect">
                <a:avLst/>
              </a:prstGeom>
              <a:blipFill>
                <a:blip r:embed="rId2"/>
                <a:stretch>
                  <a:fillRect l="-256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Shape 220">
                <a:extLst>
                  <a:ext uri="{FF2B5EF4-FFF2-40B4-BE49-F238E27FC236}">
                    <a16:creationId xmlns:a16="http://schemas.microsoft.com/office/drawing/2014/main" id="{E29FE3F4-E4F4-4E59-B4B8-220DD027553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81788178"/>
                  </p:ext>
                </p:extLst>
              </p:nvPr>
            </p:nvGraphicFramePr>
            <p:xfrm>
              <a:off x="1123933" y="2296476"/>
              <a:ext cx="6814392" cy="1645920"/>
            </p:xfrm>
            <a:graphic>
              <a:graphicData uri="http://schemas.openxmlformats.org/drawingml/2006/table">
                <a:tbl>
                  <a:tblPr>
                    <a:noFill/>
                    <a:tableStyleId>{DE05D1AB-BAE4-4E3A-A547-ADA6829F2946}</a:tableStyleId>
                  </a:tblPr>
                  <a:tblGrid>
                    <a:gridCol w="2047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851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675">
                      <a:extLst>
                        <a:ext uri="{9D8B030D-6E8A-4147-A177-3AD203B41FA5}">
                          <a16:colId xmlns:a16="http://schemas.microsoft.com/office/drawing/2014/main" val="1652854237"/>
                        </a:ext>
                      </a:extLst>
                    </a:gridCol>
                  </a:tblGrid>
                  <a:tr h="48007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 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Продукт </a:t>
                          </a:r>
                          <a:r>
                            <a:rPr lang="en-US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- </a:t>
                          </a: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голям</a:t>
                          </a: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  <a:p>
                          <a:pPr algn="r">
                            <a:spcAft>
                              <a:spcPts val="0"/>
                            </a:spcAft>
                          </a:pP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Продукт </a:t>
                          </a:r>
                          <a:r>
                            <a:rPr lang="en-US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- </a:t>
                          </a: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среден</a:t>
                          </a: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  <a:p>
                          <a:pPr algn="r">
                            <a:spcAft>
                              <a:spcPts val="0"/>
                            </a:spcAft>
                          </a:pP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Продукт </a:t>
                          </a:r>
                          <a:r>
                            <a:rPr lang="en-US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- </a:t>
                          </a: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малък</a:t>
                          </a: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  <a:p>
                          <a:pPr algn="r">
                            <a:spcAft>
                              <a:spcPts val="0"/>
                            </a:spcAft>
                          </a:pP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7107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Цех 1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7107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Цех 2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67107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Цех 3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cap="none" smtClean="0">
                                        <a:solidFill>
                                          <a:srgbClr val="505670"/>
                                        </a:solidFill>
                                        <a:latin typeface="Cambria Math" panose="02040503050406030204" pitchFamily="18" charset="0"/>
                                        <a:cs typeface="Varela Round"/>
                                        <a:sym typeface="Varela Round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08698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Shape 220">
                <a:extLst>
                  <a:ext uri="{FF2B5EF4-FFF2-40B4-BE49-F238E27FC236}">
                    <a16:creationId xmlns:a16="http://schemas.microsoft.com/office/drawing/2014/main" id="{E29FE3F4-E4F4-4E59-B4B8-220DD027553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81788178"/>
                  </p:ext>
                </p:extLst>
              </p:nvPr>
            </p:nvGraphicFramePr>
            <p:xfrm>
              <a:off x="1123933" y="2296476"/>
              <a:ext cx="6814392" cy="1645920"/>
            </p:xfrm>
            <a:graphic>
              <a:graphicData uri="http://schemas.openxmlformats.org/drawingml/2006/table">
                <a:tbl>
                  <a:tblPr>
                    <a:noFill/>
                    <a:tableStyleId>{DE05D1AB-BAE4-4E3A-A547-ADA6829F2946}</a:tableStyleId>
                  </a:tblPr>
                  <a:tblGrid>
                    <a:gridCol w="2047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851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6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675">
                      <a:extLst>
                        <a:ext uri="{9D8B030D-6E8A-4147-A177-3AD203B41FA5}">
                          <a16:colId xmlns:a16="http://schemas.microsoft.com/office/drawing/2014/main" val="1652854237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 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Продукт </a:t>
                          </a:r>
                          <a:r>
                            <a:rPr lang="en-US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- </a:t>
                          </a: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голям</a:t>
                          </a: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  <a:p>
                          <a:pPr algn="r">
                            <a:spcAft>
                              <a:spcPts val="0"/>
                            </a:spcAft>
                          </a:pP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Продукт </a:t>
                          </a:r>
                          <a:r>
                            <a:rPr lang="en-US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- </a:t>
                          </a: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среден</a:t>
                          </a: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  <a:p>
                          <a:pPr algn="r">
                            <a:spcAft>
                              <a:spcPts val="0"/>
                            </a:spcAft>
                          </a:pP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Продукт </a:t>
                          </a:r>
                          <a:r>
                            <a:rPr lang="en-US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- </a:t>
                          </a:r>
                          <a:r>
                            <a:rPr lang="bg-BG" sz="1800" b="1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малък</a:t>
                          </a: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  <a:p>
                          <a:pPr algn="r">
                            <a:spcAft>
                              <a:spcPts val="0"/>
                            </a:spcAft>
                          </a:pPr>
                          <a:endParaRPr lang="en-US" sz="1800" b="1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79CB8">
                            <a:alpha val="1538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Цех 1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807" t="-328889" r="-243860" b="-24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971" t="-328889" r="-100722" b="-24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878" t="-328889" r="-360" b="-24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Цех 2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807" t="-428889" r="-243860" b="-14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971" t="-428889" r="-100722" b="-14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878" t="-428889" r="-360" b="-14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bg-BG" sz="1800" b="0" i="0" u="none" strike="noStrike" cap="none" dirty="0">
                              <a:solidFill>
                                <a:srgbClr val="505670"/>
                              </a:solidFill>
                              <a:latin typeface="Times New Roman"/>
                              <a:ea typeface="Times New Roman"/>
                              <a:cs typeface="Varela Round"/>
                              <a:sym typeface="Varela Round"/>
                            </a:rPr>
                            <a:t>Цех 3</a:t>
                          </a:r>
                          <a:endParaRPr lang="en-US" sz="1800" b="0" i="0" u="none" strike="noStrike" cap="none" dirty="0">
                            <a:solidFill>
                              <a:srgbClr val="505670"/>
                            </a:solidFill>
                            <a:latin typeface="Varela Round"/>
                            <a:ea typeface="Times New Roman"/>
                            <a:cs typeface="Varela Round"/>
                            <a:sym typeface="Varela Round"/>
                          </a:endParaRPr>
                        </a:p>
                      </a:txBody>
                      <a:tcPr marL="56678" marR="56678" marT="0" marB="0">
                        <a:lnL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807" t="-528889" r="-243860" b="-4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971" t="-528889" r="-100722" b="-4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78" marR="56678" marT="0" marB="0">
                        <a:lnL w="9525" cap="flat" cmpd="sng" algn="ctr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solidFill>
                            <a:srgbClr val="979CB8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979CB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878" t="-528889" r="-360" b="-4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08698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556B33B-C01C-41EF-867D-FA645C002B4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4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3 - решение</a:t>
            </a:r>
            <a:endParaRPr lang="en-US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A3C27-3B87-4489-B3B7-8A77E3F43F50}"/>
              </a:ext>
            </a:extLst>
          </p:cNvPr>
          <p:cNvSpPr/>
          <p:nvPr/>
        </p:nvSpPr>
        <p:spPr>
          <a:xfrm>
            <a:off x="1123932" y="903292"/>
            <a:ext cx="7125987" cy="17783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bg-BG" sz="16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Ограничения</a:t>
            </a: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:</a:t>
            </a: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В този казус съществуват няколко вида ограничения: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Налични</a:t>
            </a:r>
            <a:r>
              <a:rPr lang="ru-RU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ресурси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Складов потенциал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Количество </a:t>
            </a: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продажби</a:t>
            </a:r>
            <a:r>
              <a:rPr lang="ru-RU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, </a:t>
            </a: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които</a:t>
            </a:r>
            <a:r>
              <a:rPr lang="ru-RU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rPr>
              <a:t>могат да бъдат осъществени</a:t>
            </a:r>
          </a:p>
          <a:p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aphicFrame>
        <p:nvGraphicFramePr>
          <p:cNvPr id="10" name="Shape 220">
            <a:extLst>
              <a:ext uri="{FF2B5EF4-FFF2-40B4-BE49-F238E27FC236}">
                <a16:creationId xmlns:a16="http://schemas.microsoft.com/office/drawing/2014/main" id="{E29FE3F4-E4F4-4E59-B4B8-220DD02755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527088"/>
              </p:ext>
            </p:extLst>
          </p:nvPr>
        </p:nvGraphicFramePr>
        <p:xfrm>
          <a:off x="1408412" y="2890192"/>
          <a:ext cx="5896627" cy="1920240"/>
        </p:xfrm>
        <a:graphic>
          <a:graphicData uri="http://schemas.openxmlformats.org/drawingml/2006/table">
            <a:tbl>
              <a:tblPr>
                <a:noFill/>
                <a:tableStyleId>{DE05D1AB-BAE4-4E3A-A547-ADA6829F2946}</a:tableStyleId>
              </a:tblPr>
              <a:tblGrid>
                <a:gridCol w="235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56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 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1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Максимум продукция</a:t>
                      </a: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 anchor="ctr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bg-BG" sz="1800" b="1" i="0" u="none" strike="noStrike" cap="none" dirty="0">
                        <a:solidFill>
                          <a:srgbClr val="505670"/>
                        </a:solidFill>
                        <a:latin typeface="Times New Roman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1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Складов потенциал</a:t>
                      </a: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8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 anchor="ctr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6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Цех 1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750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13000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6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Цех 2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900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12000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63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Цех 3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450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8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5000</a:t>
                      </a:r>
                      <a:endParaRPr lang="en-US" sz="18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869801"/>
                  </a:ext>
                </a:extLst>
              </a:tr>
            </a:tbl>
          </a:graphicData>
        </a:graphic>
      </p:graphicFrame>
      <p:graphicFrame>
        <p:nvGraphicFramePr>
          <p:cNvPr id="7" name="Shape 220">
            <a:extLst>
              <a:ext uri="{FF2B5EF4-FFF2-40B4-BE49-F238E27FC236}">
                <a16:creationId xmlns:a16="http://schemas.microsoft.com/office/drawing/2014/main" id="{DE5E57D4-F43C-4A9F-BD2A-9CF77CB207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5257448"/>
              </p:ext>
            </p:extLst>
          </p:nvPr>
        </p:nvGraphicFramePr>
        <p:xfrm>
          <a:off x="1123932" y="5019016"/>
          <a:ext cx="6617987" cy="1087144"/>
        </p:xfrm>
        <a:graphic>
          <a:graphicData uri="http://schemas.openxmlformats.org/drawingml/2006/table">
            <a:tbl>
              <a:tblPr>
                <a:noFill/>
                <a:tableStyleId>{DE05D1AB-BAE4-4E3A-A547-ADA6829F2946}</a:tableStyleId>
              </a:tblPr>
              <a:tblGrid>
                <a:gridCol w="1988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1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1946">
                  <a:extLst>
                    <a:ext uri="{9D8B030D-6E8A-4147-A177-3AD203B41FA5}">
                      <a16:colId xmlns:a16="http://schemas.microsoft.com/office/drawing/2014/main" val="2482524224"/>
                    </a:ext>
                  </a:extLst>
                </a:gridCol>
              </a:tblGrid>
              <a:tr h="543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700" b="0" i="0" u="none" strike="noStrike" cap="none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 </a:t>
                      </a:r>
                      <a:endParaRPr lang="en-US" sz="17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700" b="1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Голям продукт</a:t>
                      </a:r>
                      <a:endParaRPr lang="en-US" sz="17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 anchor="ctr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700" b="1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Среден продукт</a:t>
                      </a:r>
                      <a:endParaRPr lang="en-US" sz="17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 anchor="ctr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700" b="1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Малък продукт</a:t>
                      </a:r>
                      <a:endParaRPr lang="en-US" sz="1700" b="1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 anchor="ctr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7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Заемана площ на единица продукт</a:t>
                      </a:r>
                      <a:endParaRPr lang="en-US" sz="17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7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20</a:t>
                      </a:r>
                      <a:endParaRPr lang="en-US" sz="17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7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15</a:t>
                      </a:r>
                      <a:endParaRPr lang="en-US" sz="17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7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12</a:t>
                      </a:r>
                      <a:endParaRPr lang="en-US" sz="17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Picture 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213AD56-C378-42B8-B159-A13EFC4A369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2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𝒛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𝟑𝟖𝟓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𝟏𝟏</m:t>
                            </m:r>
                          </m:sub>
                        </m:sSub>
                        <m:r>
                          <a:rPr lang="bg-BG" sz="1800" b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sub>
                        </m:sSub>
                        <m:r>
                          <a:rPr lang="bg-BG" sz="1800" b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𝟑𝟏</m:t>
                            </m:r>
                          </m:sub>
                        </m:sSub>
                      </m:e>
                    </m:d>
                    <m:r>
                      <a:rPr lang="bg-BG" sz="1800" b="1">
                        <a:latin typeface="Cambria Math" panose="02040503050406030204" pitchFamily="18" charset="0"/>
                      </a:rPr>
                      <m:t>+</m:t>
                    </m:r>
                    <m:r>
                      <a:rPr lang="bg-BG" sz="1800" b="1" i="1">
                        <a:latin typeface="Cambria Math" panose="02040503050406030204" pitchFamily="18" charset="0"/>
                      </a:rPr>
                      <m:t>𝟑𝟑𝟎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bg-BG" sz="1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bg-BG" sz="1800" b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bg-BG" sz="1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bg-BG" sz="1800" b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bg-BG" sz="1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bg-BG" sz="1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bg-BG" sz="1800" b="1" i="1">
                        <a:latin typeface="Cambria Math" panose="02040503050406030204" pitchFamily="18" charset="0"/>
                      </a:rPr>
                      <m:t>𝟐𝟕𝟓</m:t>
                    </m:r>
                    <m:r>
                      <a:rPr lang="bg-BG" sz="18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bg-BG" sz="18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bg-BG" sz="1800" b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bg-BG" sz="18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bg-BG" sz="1800" b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bg-BG" sz="18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bg-BG" sz="1800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bg-BG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𝒎𝒂𝒙</m:t>
                    </m:r>
                  </m:oMath>
                </a14:m>
                <a:r>
                  <a:rPr lang="en-US" sz="1800" b="1" dirty="0"/>
                  <a:t>  </a:t>
                </a:r>
                <a:endParaRPr lang="bg-BG" sz="1800" b="1" dirty="0"/>
              </a:p>
              <a:p>
                <a:pPr marL="0" indent="0">
                  <a:buNone/>
                </a:pPr>
                <a:endParaRPr lang="bg-BG" sz="1800" b="1" dirty="0"/>
              </a:p>
              <a:p>
                <a:pPr marL="0" indent="0">
                  <a:buNone/>
                </a:pPr>
                <a:endParaRPr lang="bg-BG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053F4E6-5000-4F54-A983-EA35B653740D}"/>
              </a:ext>
            </a:extLst>
          </p:cNvPr>
          <p:cNvGrpSpPr/>
          <p:nvPr/>
        </p:nvGrpSpPr>
        <p:grpSpPr>
          <a:xfrm>
            <a:off x="1282988" y="5618491"/>
            <a:ext cx="4011466" cy="577850"/>
            <a:chOff x="4572000" y="5624511"/>
            <a:chExt cx="4011466" cy="577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76782C-36E0-494B-A1B9-9A07FF92AB9F}"/>
                </a:ext>
              </a:extLst>
            </p:cNvPr>
            <p:cNvSpPr/>
            <p:nvPr/>
          </p:nvSpPr>
          <p:spPr>
            <a:xfrm>
              <a:off x="4582966" y="5624511"/>
              <a:ext cx="4000500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Решете задачата в </a:t>
              </a:r>
              <a:r>
                <a: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Excel.</a:t>
              </a:r>
            </a:p>
          </p:txBody>
        </p:sp>
        <p:sp>
          <p:nvSpPr>
            <p:cNvPr id="15" name="Shape 375">
              <a:extLst>
                <a:ext uri="{FF2B5EF4-FFF2-40B4-BE49-F238E27FC236}">
                  <a16:creationId xmlns:a16="http://schemas.microsoft.com/office/drawing/2014/main" id="{D3FFFDB5-3F64-4721-BDE0-C607DD260E76}"/>
                </a:ext>
              </a:extLst>
            </p:cNvPr>
            <p:cNvSpPr/>
            <p:nvPr/>
          </p:nvSpPr>
          <p:spPr>
            <a:xfrm>
              <a:off x="4572000" y="5671284"/>
              <a:ext cx="387161" cy="402569"/>
            </a:xfrm>
            <a:custGeom>
              <a:avLst/>
              <a:gdLst/>
              <a:ahLst/>
              <a:cxnLst/>
              <a:rect l="0" t="0" r="0" b="0"/>
              <a:pathLst>
                <a:path w="17715" h="18420" extrusionOk="0">
                  <a:moveTo>
                    <a:pt x="14673" y="803"/>
                  </a:moveTo>
                  <a:lnTo>
                    <a:pt x="14746" y="1022"/>
                  </a:lnTo>
                  <a:lnTo>
                    <a:pt x="14794" y="1217"/>
                  </a:lnTo>
                  <a:lnTo>
                    <a:pt x="14843" y="1655"/>
                  </a:lnTo>
                  <a:lnTo>
                    <a:pt x="14892" y="2141"/>
                  </a:lnTo>
                  <a:lnTo>
                    <a:pt x="14916" y="2385"/>
                  </a:lnTo>
                  <a:lnTo>
                    <a:pt x="14940" y="2482"/>
                  </a:lnTo>
                  <a:lnTo>
                    <a:pt x="15013" y="2604"/>
                  </a:lnTo>
                  <a:lnTo>
                    <a:pt x="14770" y="2847"/>
                  </a:lnTo>
                  <a:lnTo>
                    <a:pt x="14697" y="2920"/>
                  </a:lnTo>
                  <a:lnTo>
                    <a:pt x="14648" y="2628"/>
                  </a:lnTo>
                  <a:lnTo>
                    <a:pt x="14600" y="2360"/>
                  </a:lnTo>
                  <a:lnTo>
                    <a:pt x="14527" y="2044"/>
                  </a:lnTo>
                  <a:lnTo>
                    <a:pt x="14405" y="1776"/>
                  </a:lnTo>
                  <a:lnTo>
                    <a:pt x="14308" y="1484"/>
                  </a:lnTo>
                  <a:lnTo>
                    <a:pt x="14210" y="1192"/>
                  </a:lnTo>
                  <a:lnTo>
                    <a:pt x="14673" y="803"/>
                  </a:lnTo>
                  <a:close/>
                  <a:moveTo>
                    <a:pt x="15695" y="2847"/>
                  </a:moveTo>
                  <a:lnTo>
                    <a:pt x="16400" y="2871"/>
                  </a:lnTo>
                  <a:lnTo>
                    <a:pt x="17106" y="2969"/>
                  </a:lnTo>
                  <a:lnTo>
                    <a:pt x="16984" y="3115"/>
                  </a:lnTo>
                  <a:lnTo>
                    <a:pt x="16960" y="3090"/>
                  </a:lnTo>
                  <a:lnTo>
                    <a:pt x="16887" y="3042"/>
                  </a:lnTo>
                  <a:lnTo>
                    <a:pt x="16790" y="2993"/>
                  </a:lnTo>
                  <a:lnTo>
                    <a:pt x="16595" y="2969"/>
                  </a:lnTo>
                  <a:lnTo>
                    <a:pt x="16400" y="2944"/>
                  </a:lnTo>
                  <a:lnTo>
                    <a:pt x="15914" y="2944"/>
                  </a:lnTo>
                  <a:lnTo>
                    <a:pt x="15622" y="2920"/>
                  </a:lnTo>
                  <a:lnTo>
                    <a:pt x="15695" y="2847"/>
                  </a:lnTo>
                  <a:close/>
                  <a:moveTo>
                    <a:pt x="14040" y="1314"/>
                  </a:moveTo>
                  <a:lnTo>
                    <a:pt x="14040" y="1484"/>
                  </a:lnTo>
                  <a:lnTo>
                    <a:pt x="14064" y="1655"/>
                  </a:lnTo>
                  <a:lnTo>
                    <a:pt x="14137" y="2020"/>
                  </a:lnTo>
                  <a:lnTo>
                    <a:pt x="14283" y="2871"/>
                  </a:lnTo>
                  <a:lnTo>
                    <a:pt x="14308" y="3066"/>
                  </a:lnTo>
                  <a:lnTo>
                    <a:pt x="14332" y="3236"/>
                  </a:lnTo>
                  <a:lnTo>
                    <a:pt x="14162" y="3382"/>
                  </a:lnTo>
                  <a:lnTo>
                    <a:pt x="14137" y="3139"/>
                  </a:lnTo>
                  <a:lnTo>
                    <a:pt x="14040" y="2871"/>
                  </a:lnTo>
                  <a:lnTo>
                    <a:pt x="13870" y="2433"/>
                  </a:lnTo>
                  <a:lnTo>
                    <a:pt x="13748" y="2068"/>
                  </a:lnTo>
                  <a:lnTo>
                    <a:pt x="13675" y="1703"/>
                  </a:lnTo>
                  <a:lnTo>
                    <a:pt x="13651" y="1630"/>
                  </a:lnTo>
                  <a:lnTo>
                    <a:pt x="13699" y="1582"/>
                  </a:lnTo>
                  <a:lnTo>
                    <a:pt x="14040" y="1314"/>
                  </a:lnTo>
                  <a:close/>
                  <a:moveTo>
                    <a:pt x="13359" y="1898"/>
                  </a:moveTo>
                  <a:lnTo>
                    <a:pt x="13432" y="2239"/>
                  </a:lnTo>
                  <a:lnTo>
                    <a:pt x="13553" y="2677"/>
                  </a:lnTo>
                  <a:lnTo>
                    <a:pt x="13699" y="3090"/>
                  </a:lnTo>
                  <a:lnTo>
                    <a:pt x="13772" y="3358"/>
                  </a:lnTo>
                  <a:lnTo>
                    <a:pt x="13821" y="3480"/>
                  </a:lnTo>
                  <a:lnTo>
                    <a:pt x="13894" y="3601"/>
                  </a:lnTo>
                  <a:lnTo>
                    <a:pt x="13724" y="3723"/>
                  </a:lnTo>
                  <a:lnTo>
                    <a:pt x="13699" y="3577"/>
                  </a:lnTo>
                  <a:lnTo>
                    <a:pt x="13675" y="3407"/>
                  </a:lnTo>
                  <a:lnTo>
                    <a:pt x="13578" y="3090"/>
                  </a:lnTo>
                  <a:lnTo>
                    <a:pt x="13529" y="2798"/>
                  </a:lnTo>
                  <a:lnTo>
                    <a:pt x="13456" y="2531"/>
                  </a:lnTo>
                  <a:lnTo>
                    <a:pt x="13383" y="2239"/>
                  </a:lnTo>
                  <a:lnTo>
                    <a:pt x="13237" y="1995"/>
                  </a:lnTo>
                  <a:lnTo>
                    <a:pt x="13359" y="1898"/>
                  </a:lnTo>
                  <a:close/>
                  <a:moveTo>
                    <a:pt x="15378" y="3188"/>
                  </a:moveTo>
                  <a:lnTo>
                    <a:pt x="15500" y="3236"/>
                  </a:lnTo>
                  <a:lnTo>
                    <a:pt x="15646" y="3261"/>
                  </a:lnTo>
                  <a:lnTo>
                    <a:pt x="15914" y="3285"/>
                  </a:lnTo>
                  <a:lnTo>
                    <a:pt x="16790" y="3358"/>
                  </a:lnTo>
                  <a:lnTo>
                    <a:pt x="16473" y="3723"/>
                  </a:lnTo>
                  <a:lnTo>
                    <a:pt x="16449" y="3650"/>
                  </a:lnTo>
                  <a:lnTo>
                    <a:pt x="16425" y="3601"/>
                  </a:lnTo>
                  <a:lnTo>
                    <a:pt x="16376" y="3553"/>
                  </a:lnTo>
                  <a:lnTo>
                    <a:pt x="16303" y="3528"/>
                  </a:lnTo>
                  <a:lnTo>
                    <a:pt x="16084" y="3455"/>
                  </a:lnTo>
                  <a:lnTo>
                    <a:pt x="15816" y="3431"/>
                  </a:lnTo>
                  <a:lnTo>
                    <a:pt x="15573" y="3431"/>
                  </a:lnTo>
                  <a:lnTo>
                    <a:pt x="15330" y="3455"/>
                  </a:lnTo>
                  <a:lnTo>
                    <a:pt x="15086" y="3455"/>
                  </a:lnTo>
                  <a:lnTo>
                    <a:pt x="15135" y="3431"/>
                  </a:lnTo>
                  <a:lnTo>
                    <a:pt x="15378" y="3188"/>
                  </a:lnTo>
                  <a:close/>
                  <a:moveTo>
                    <a:pt x="13067" y="2166"/>
                  </a:moveTo>
                  <a:lnTo>
                    <a:pt x="13115" y="2628"/>
                  </a:lnTo>
                  <a:lnTo>
                    <a:pt x="13164" y="3042"/>
                  </a:lnTo>
                  <a:lnTo>
                    <a:pt x="13188" y="3285"/>
                  </a:lnTo>
                  <a:lnTo>
                    <a:pt x="13213" y="3553"/>
                  </a:lnTo>
                  <a:lnTo>
                    <a:pt x="13261" y="3699"/>
                  </a:lnTo>
                  <a:lnTo>
                    <a:pt x="13286" y="3820"/>
                  </a:lnTo>
                  <a:lnTo>
                    <a:pt x="13359" y="3942"/>
                  </a:lnTo>
                  <a:lnTo>
                    <a:pt x="13432" y="4015"/>
                  </a:lnTo>
                  <a:lnTo>
                    <a:pt x="13213" y="4234"/>
                  </a:lnTo>
                  <a:lnTo>
                    <a:pt x="13140" y="3845"/>
                  </a:lnTo>
                  <a:lnTo>
                    <a:pt x="13042" y="3480"/>
                  </a:lnTo>
                  <a:lnTo>
                    <a:pt x="12994" y="3236"/>
                  </a:lnTo>
                  <a:lnTo>
                    <a:pt x="12921" y="2969"/>
                  </a:lnTo>
                  <a:lnTo>
                    <a:pt x="12823" y="2701"/>
                  </a:lnTo>
                  <a:lnTo>
                    <a:pt x="12702" y="2482"/>
                  </a:lnTo>
                  <a:lnTo>
                    <a:pt x="12872" y="2336"/>
                  </a:lnTo>
                  <a:lnTo>
                    <a:pt x="13067" y="2166"/>
                  </a:lnTo>
                  <a:close/>
                  <a:moveTo>
                    <a:pt x="14648" y="3796"/>
                  </a:moveTo>
                  <a:lnTo>
                    <a:pt x="14819" y="3869"/>
                  </a:lnTo>
                  <a:lnTo>
                    <a:pt x="15013" y="3893"/>
                  </a:lnTo>
                  <a:lnTo>
                    <a:pt x="15232" y="3918"/>
                  </a:lnTo>
                  <a:lnTo>
                    <a:pt x="16035" y="3918"/>
                  </a:lnTo>
                  <a:lnTo>
                    <a:pt x="16181" y="3966"/>
                  </a:lnTo>
                  <a:lnTo>
                    <a:pt x="16230" y="3966"/>
                  </a:lnTo>
                  <a:lnTo>
                    <a:pt x="16011" y="4185"/>
                  </a:lnTo>
                  <a:lnTo>
                    <a:pt x="15938" y="4258"/>
                  </a:lnTo>
                  <a:lnTo>
                    <a:pt x="15816" y="4210"/>
                  </a:lnTo>
                  <a:lnTo>
                    <a:pt x="15695" y="4161"/>
                  </a:lnTo>
                  <a:lnTo>
                    <a:pt x="15403" y="4137"/>
                  </a:lnTo>
                  <a:lnTo>
                    <a:pt x="14916" y="4137"/>
                  </a:lnTo>
                  <a:lnTo>
                    <a:pt x="14600" y="4112"/>
                  </a:lnTo>
                  <a:lnTo>
                    <a:pt x="14259" y="4112"/>
                  </a:lnTo>
                  <a:lnTo>
                    <a:pt x="14648" y="3796"/>
                  </a:lnTo>
                  <a:close/>
                  <a:moveTo>
                    <a:pt x="13943" y="4404"/>
                  </a:moveTo>
                  <a:lnTo>
                    <a:pt x="14283" y="4453"/>
                  </a:lnTo>
                  <a:lnTo>
                    <a:pt x="14648" y="4502"/>
                  </a:lnTo>
                  <a:lnTo>
                    <a:pt x="15354" y="4550"/>
                  </a:lnTo>
                  <a:lnTo>
                    <a:pt x="15524" y="4575"/>
                  </a:lnTo>
                  <a:lnTo>
                    <a:pt x="15330" y="4745"/>
                  </a:lnTo>
                  <a:lnTo>
                    <a:pt x="15184" y="4915"/>
                  </a:lnTo>
                  <a:lnTo>
                    <a:pt x="14697" y="4818"/>
                  </a:lnTo>
                  <a:lnTo>
                    <a:pt x="14186" y="4745"/>
                  </a:lnTo>
                  <a:lnTo>
                    <a:pt x="13699" y="4672"/>
                  </a:lnTo>
                  <a:lnTo>
                    <a:pt x="13797" y="4550"/>
                  </a:lnTo>
                  <a:lnTo>
                    <a:pt x="13943" y="4404"/>
                  </a:lnTo>
                  <a:close/>
                  <a:moveTo>
                    <a:pt x="14721" y="0"/>
                  </a:moveTo>
                  <a:lnTo>
                    <a:pt x="14673" y="24"/>
                  </a:lnTo>
                  <a:lnTo>
                    <a:pt x="14600" y="49"/>
                  </a:lnTo>
                  <a:lnTo>
                    <a:pt x="14551" y="97"/>
                  </a:lnTo>
                  <a:lnTo>
                    <a:pt x="14235" y="389"/>
                  </a:lnTo>
                  <a:lnTo>
                    <a:pt x="13894" y="681"/>
                  </a:lnTo>
                  <a:lnTo>
                    <a:pt x="13213" y="1217"/>
                  </a:lnTo>
                  <a:lnTo>
                    <a:pt x="12921" y="1460"/>
                  </a:lnTo>
                  <a:lnTo>
                    <a:pt x="12775" y="1606"/>
                  </a:lnTo>
                  <a:lnTo>
                    <a:pt x="12629" y="1752"/>
                  </a:lnTo>
                  <a:lnTo>
                    <a:pt x="12507" y="1922"/>
                  </a:lnTo>
                  <a:lnTo>
                    <a:pt x="12385" y="2093"/>
                  </a:lnTo>
                  <a:lnTo>
                    <a:pt x="12337" y="2263"/>
                  </a:lnTo>
                  <a:lnTo>
                    <a:pt x="12312" y="2458"/>
                  </a:lnTo>
                  <a:lnTo>
                    <a:pt x="12337" y="2506"/>
                  </a:lnTo>
                  <a:lnTo>
                    <a:pt x="12312" y="2531"/>
                  </a:lnTo>
                  <a:lnTo>
                    <a:pt x="12337" y="2774"/>
                  </a:lnTo>
                  <a:lnTo>
                    <a:pt x="12385" y="3017"/>
                  </a:lnTo>
                  <a:lnTo>
                    <a:pt x="12507" y="3504"/>
                  </a:lnTo>
                  <a:lnTo>
                    <a:pt x="12531" y="3796"/>
                  </a:lnTo>
                  <a:lnTo>
                    <a:pt x="12580" y="4137"/>
                  </a:lnTo>
                  <a:lnTo>
                    <a:pt x="12629" y="4453"/>
                  </a:lnTo>
                  <a:lnTo>
                    <a:pt x="12677" y="4599"/>
                  </a:lnTo>
                  <a:lnTo>
                    <a:pt x="12750" y="4745"/>
                  </a:lnTo>
                  <a:lnTo>
                    <a:pt x="12288" y="5256"/>
                  </a:lnTo>
                  <a:lnTo>
                    <a:pt x="11972" y="5621"/>
                  </a:lnTo>
                  <a:lnTo>
                    <a:pt x="11631" y="5961"/>
                  </a:lnTo>
                  <a:lnTo>
                    <a:pt x="10925" y="6643"/>
                  </a:lnTo>
                  <a:lnTo>
                    <a:pt x="10220" y="7300"/>
                  </a:lnTo>
                  <a:lnTo>
                    <a:pt x="9490" y="7981"/>
                  </a:lnTo>
                  <a:lnTo>
                    <a:pt x="9125" y="8370"/>
                  </a:lnTo>
                  <a:lnTo>
                    <a:pt x="8760" y="8760"/>
                  </a:lnTo>
                  <a:lnTo>
                    <a:pt x="8371" y="9149"/>
                  </a:lnTo>
                  <a:lnTo>
                    <a:pt x="8006" y="9538"/>
                  </a:lnTo>
                  <a:lnTo>
                    <a:pt x="7884" y="9490"/>
                  </a:lnTo>
                  <a:lnTo>
                    <a:pt x="7665" y="9490"/>
                  </a:lnTo>
                  <a:lnTo>
                    <a:pt x="7568" y="9514"/>
                  </a:lnTo>
                  <a:lnTo>
                    <a:pt x="7422" y="9538"/>
                  </a:lnTo>
                  <a:lnTo>
                    <a:pt x="7276" y="9587"/>
                  </a:lnTo>
                  <a:lnTo>
                    <a:pt x="7154" y="9684"/>
                  </a:lnTo>
                  <a:lnTo>
                    <a:pt x="7057" y="9830"/>
                  </a:lnTo>
                  <a:lnTo>
                    <a:pt x="6984" y="9976"/>
                  </a:lnTo>
                  <a:lnTo>
                    <a:pt x="6935" y="10147"/>
                  </a:lnTo>
                  <a:lnTo>
                    <a:pt x="6959" y="10317"/>
                  </a:lnTo>
                  <a:lnTo>
                    <a:pt x="7008" y="10487"/>
                  </a:lnTo>
                  <a:lnTo>
                    <a:pt x="7105" y="10633"/>
                  </a:lnTo>
                  <a:lnTo>
                    <a:pt x="7251" y="10755"/>
                  </a:lnTo>
                  <a:lnTo>
                    <a:pt x="7397" y="10828"/>
                  </a:lnTo>
                  <a:lnTo>
                    <a:pt x="7568" y="10877"/>
                  </a:lnTo>
                  <a:lnTo>
                    <a:pt x="7738" y="10901"/>
                  </a:lnTo>
                  <a:lnTo>
                    <a:pt x="7884" y="10877"/>
                  </a:lnTo>
                  <a:lnTo>
                    <a:pt x="8006" y="10804"/>
                  </a:lnTo>
                  <a:lnTo>
                    <a:pt x="8127" y="10731"/>
                  </a:lnTo>
                  <a:lnTo>
                    <a:pt x="8225" y="10633"/>
                  </a:lnTo>
                  <a:lnTo>
                    <a:pt x="8298" y="10512"/>
                  </a:lnTo>
                  <a:lnTo>
                    <a:pt x="8346" y="10390"/>
                  </a:lnTo>
                  <a:lnTo>
                    <a:pt x="8371" y="10244"/>
                  </a:lnTo>
                  <a:lnTo>
                    <a:pt x="8371" y="10098"/>
                  </a:lnTo>
                  <a:lnTo>
                    <a:pt x="8371" y="10049"/>
                  </a:lnTo>
                  <a:lnTo>
                    <a:pt x="8711" y="9733"/>
                  </a:lnTo>
                  <a:lnTo>
                    <a:pt x="9003" y="9392"/>
                  </a:lnTo>
                  <a:lnTo>
                    <a:pt x="9295" y="9052"/>
                  </a:lnTo>
                  <a:lnTo>
                    <a:pt x="9587" y="8760"/>
                  </a:lnTo>
                  <a:lnTo>
                    <a:pt x="10317" y="8054"/>
                  </a:lnTo>
                  <a:lnTo>
                    <a:pt x="11047" y="7373"/>
                  </a:lnTo>
                  <a:lnTo>
                    <a:pt x="11777" y="6691"/>
                  </a:lnTo>
                  <a:lnTo>
                    <a:pt x="12507" y="5986"/>
                  </a:lnTo>
                  <a:lnTo>
                    <a:pt x="12896" y="5548"/>
                  </a:lnTo>
                  <a:lnTo>
                    <a:pt x="13310" y="5086"/>
                  </a:lnTo>
                  <a:lnTo>
                    <a:pt x="13529" y="5159"/>
                  </a:lnTo>
                  <a:lnTo>
                    <a:pt x="13748" y="5207"/>
                  </a:lnTo>
                  <a:lnTo>
                    <a:pt x="14186" y="5280"/>
                  </a:lnTo>
                  <a:lnTo>
                    <a:pt x="14648" y="5353"/>
                  </a:lnTo>
                  <a:lnTo>
                    <a:pt x="15086" y="5426"/>
                  </a:lnTo>
                  <a:lnTo>
                    <a:pt x="15184" y="5426"/>
                  </a:lnTo>
                  <a:lnTo>
                    <a:pt x="15281" y="5402"/>
                  </a:lnTo>
                  <a:lnTo>
                    <a:pt x="15354" y="5353"/>
                  </a:lnTo>
                  <a:lnTo>
                    <a:pt x="15403" y="5280"/>
                  </a:lnTo>
                  <a:lnTo>
                    <a:pt x="15524" y="5207"/>
                  </a:lnTo>
                  <a:lnTo>
                    <a:pt x="15670" y="5134"/>
                  </a:lnTo>
                  <a:lnTo>
                    <a:pt x="15938" y="4940"/>
                  </a:lnTo>
                  <a:lnTo>
                    <a:pt x="16352" y="4526"/>
                  </a:lnTo>
                  <a:lnTo>
                    <a:pt x="16692" y="4210"/>
                  </a:lnTo>
                  <a:lnTo>
                    <a:pt x="17009" y="3869"/>
                  </a:lnTo>
                  <a:lnTo>
                    <a:pt x="17325" y="3504"/>
                  </a:lnTo>
                  <a:lnTo>
                    <a:pt x="17617" y="3115"/>
                  </a:lnTo>
                  <a:lnTo>
                    <a:pt x="17641" y="3066"/>
                  </a:lnTo>
                  <a:lnTo>
                    <a:pt x="17666" y="3017"/>
                  </a:lnTo>
                  <a:lnTo>
                    <a:pt x="17641" y="2896"/>
                  </a:lnTo>
                  <a:lnTo>
                    <a:pt x="17690" y="2774"/>
                  </a:lnTo>
                  <a:lnTo>
                    <a:pt x="17714" y="2701"/>
                  </a:lnTo>
                  <a:lnTo>
                    <a:pt x="17690" y="2652"/>
                  </a:lnTo>
                  <a:lnTo>
                    <a:pt x="17690" y="2579"/>
                  </a:lnTo>
                  <a:lnTo>
                    <a:pt x="17641" y="2531"/>
                  </a:lnTo>
                  <a:lnTo>
                    <a:pt x="17593" y="2506"/>
                  </a:lnTo>
                  <a:lnTo>
                    <a:pt x="17495" y="2482"/>
                  </a:lnTo>
                  <a:lnTo>
                    <a:pt x="16838" y="2360"/>
                  </a:lnTo>
                  <a:lnTo>
                    <a:pt x="16473" y="2312"/>
                  </a:lnTo>
                  <a:lnTo>
                    <a:pt x="16108" y="2287"/>
                  </a:lnTo>
                  <a:lnTo>
                    <a:pt x="16303" y="2068"/>
                  </a:lnTo>
                  <a:lnTo>
                    <a:pt x="16522" y="1801"/>
                  </a:lnTo>
                  <a:lnTo>
                    <a:pt x="16790" y="1582"/>
                  </a:lnTo>
                  <a:lnTo>
                    <a:pt x="17033" y="1338"/>
                  </a:lnTo>
                  <a:lnTo>
                    <a:pt x="17276" y="1095"/>
                  </a:lnTo>
                  <a:lnTo>
                    <a:pt x="17325" y="1022"/>
                  </a:lnTo>
                  <a:lnTo>
                    <a:pt x="17374" y="949"/>
                  </a:lnTo>
                  <a:lnTo>
                    <a:pt x="17374" y="876"/>
                  </a:lnTo>
                  <a:lnTo>
                    <a:pt x="17374" y="803"/>
                  </a:lnTo>
                  <a:lnTo>
                    <a:pt x="17325" y="681"/>
                  </a:lnTo>
                  <a:lnTo>
                    <a:pt x="17252" y="560"/>
                  </a:lnTo>
                  <a:lnTo>
                    <a:pt x="17155" y="487"/>
                  </a:lnTo>
                  <a:lnTo>
                    <a:pt x="17009" y="438"/>
                  </a:lnTo>
                  <a:lnTo>
                    <a:pt x="16960" y="462"/>
                  </a:lnTo>
                  <a:lnTo>
                    <a:pt x="16887" y="462"/>
                  </a:lnTo>
                  <a:lnTo>
                    <a:pt x="16838" y="511"/>
                  </a:lnTo>
                  <a:lnTo>
                    <a:pt x="16765" y="560"/>
                  </a:lnTo>
                  <a:lnTo>
                    <a:pt x="16571" y="803"/>
                  </a:lnTo>
                  <a:lnTo>
                    <a:pt x="16352" y="1022"/>
                  </a:lnTo>
                  <a:lnTo>
                    <a:pt x="16133" y="1241"/>
                  </a:lnTo>
                  <a:lnTo>
                    <a:pt x="15914" y="1460"/>
                  </a:lnTo>
                  <a:lnTo>
                    <a:pt x="15500" y="1971"/>
                  </a:lnTo>
                  <a:lnTo>
                    <a:pt x="15427" y="1436"/>
                  </a:lnTo>
                  <a:lnTo>
                    <a:pt x="15354" y="1095"/>
                  </a:lnTo>
                  <a:lnTo>
                    <a:pt x="15281" y="779"/>
                  </a:lnTo>
                  <a:lnTo>
                    <a:pt x="15184" y="462"/>
                  </a:lnTo>
                  <a:lnTo>
                    <a:pt x="15111" y="292"/>
                  </a:lnTo>
                  <a:lnTo>
                    <a:pt x="15013" y="146"/>
                  </a:lnTo>
                  <a:lnTo>
                    <a:pt x="14965" y="97"/>
                  </a:lnTo>
                  <a:lnTo>
                    <a:pt x="14916" y="49"/>
                  </a:lnTo>
                  <a:lnTo>
                    <a:pt x="14794" y="24"/>
                  </a:lnTo>
                  <a:lnTo>
                    <a:pt x="14721" y="0"/>
                  </a:lnTo>
                  <a:close/>
                  <a:moveTo>
                    <a:pt x="7543" y="6691"/>
                  </a:moveTo>
                  <a:lnTo>
                    <a:pt x="7203" y="6716"/>
                  </a:lnTo>
                  <a:lnTo>
                    <a:pt x="6886" y="6789"/>
                  </a:lnTo>
                  <a:lnTo>
                    <a:pt x="6570" y="6862"/>
                  </a:lnTo>
                  <a:lnTo>
                    <a:pt x="6254" y="6983"/>
                  </a:lnTo>
                  <a:lnTo>
                    <a:pt x="5962" y="7105"/>
                  </a:lnTo>
                  <a:lnTo>
                    <a:pt x="5670" y="7275"/>
                  </a:lnTo>
                  <a:lnTo>
                    <a:pt x="5402" y="7470"/>
                  </a:lnTo>
                  <a:lnTo>
                    <a:pt x="5159" y="7713"/>
                  </a:lnTo>
                  <a:lnTo>
                    <a:pt x="4940" y="7957"/>
                  </a:lnTo>
                  <a:lnTo>
                    <a:pt x="4745" y="8249"/>
                  </a:lnTo>
                  <a:lnTo>
                    <a:pt x="4599" y="8565"/>
                  </a:lnTo>
                  <a:lnTo>
                    <a:pt x="4477" y="8857"/>
                  </a:lnTo>
                  <a:lnTo>
                    <a:pt x="4380" y="9149"/>
                  </a:lnTo>
                  <a:lnTo>
                    <a:pt x="4307" y="9441"/>
                  </a:lnTo>
                  <a:lnTo>
                    <a:pt x="4258" y="9733"/>
                  </a:lnTo>
                  <a:lnTo>
                    <a:pt x="4234" y="10025"/>
                  </a:lnTo>
                  <a:lnTo>
                    <a:pt x="4234" y="10317"/>
                  </a:lnTo>
                  <a:lnTo>
                    <a:pt x="4258" y="10609"/>
                  </a:lnTo>
                  <a:lnTo>
                    <a:pt x="4307" y="10901"/>
                  </a:lnTo>
                  <a:lnTo>
                    <a:pt x="4356" y="11193"/>
                  </a:lnTo>
                  <a:lnTo>
                    <a:pt x="4453" y="11461"/>
                  </a:lnTo>
                  <a:lnTo>
                    <a:pt x="4550" y="11728"/>
                  </a:lnTo>
                  <a:lnTo>
                    <a:pt x="4696" y="11996"/>
                  </a:lnTo>
                  <a:lnTo>
                    <a:pt x="4842" y="12239"/>
                  </a:lnTo>
                  <a:lnTo>
                    <a:pt x="5013" y="12458"/>
                  </a:lnTo>
                  <a:lnTo>
                    <a:pt x="5207" y="12677"/>
                  </a:lnTo>
                  <a:lnTo>
                    <a:pt x="5426" y="12872"/>
                  </a:lnTo>
                  <a:lnTo>
                    <a:pt x="5670" y="13067"/>
                  </a:lnTo>
                  <a:lnTo>
                    <a:pt x="5913" y="13213"/>
                  </a:lnTo>
                  <a:lnTo>
                    <a:pt x="6181" y="13334"/>
                  </a:lnTo>
                  <a:lnTo>
                    <a:pt x="6473" y="13456"/>
                  </a:lnTo>
                  <a:lnTo>
                    <a:pt x="6740" y="13529"/>
                  </a:lnTo>
                  <a:lnTo>
                    <a:pt x="7032" y="13602"/>
                  </a:lnTo>
                  <a:lnTo>
                    <a:pt x="7324" y="13650"/>
                  </a:lnTo>
                  <a:lnTo>
                    <a:pt x="7933" y="13650"/>
                  </a:lnTo>
                  <a:lnTo>
                    <a:pt x="8225" y="13626"/>
                  </a:lnTo>
                  <a:lnTo>
                    <a:pt x="8541" y="13577"/>
                  </a:lnTo>
                  <a:lnTo>
                    <a:pt x="8833" y="13505"/>
                  </a:lnTo>
                  <a:lnTo>
                    <a:pt x="9125" y="13407"/>
                  </a:lnTo>
                  <a:lnTo>
                    <a:pt x="9393" y="13310"/>
                  </a:lnTo>
                  <a:lnTo>
                    <a:pt x="9660" y="13164"/>
                  </a:lnTo>
                  <a:lnTo>
                    <a:pt x="9903" y="12994"/>
                  </a:lnTo>
                  <a:lnTo>
                    <a:pt x="10147" y="12823"/>
                  </a:lnTo>
                  <a:lnTo>
                    <a:pt x="10390" y="12604"/>
                  </a:lnTo>
                  <a:lnTo>
                    <a:pt x="10585" y="12361"/>
                  </a:lnTo>
                  <a:lnTo>
                    <a:pt x="10779" y="12118"/>
                  </a:lnTo>
                  <a:lnTo>
                    <a:pt x="10925" y="11826"/>
                  </a:lnTo>
                  <a:lnTo>
                    <a:pt x="11071" y="11558"/>
                  </a:lnTo>
                  <a:lnTo>
                    <a:pt x="11193" y="11242"/>
                  </a:lnTo>
                  <a:lnTo>
                    <a:pt x="11266" y="10950"/>
                  </a:lnTo>
                  <a:lnTo>
                    <a:pt x="11339" y="10633"/>
                  </a:lnTo>
                  <a:lnTo>
                    <a:pt x="11388" y="10317"/>
                  </a:lnTo>
                  <a:lnTo>
                    <a:pt x="11388" y="9976"/>
                  </a:lnTo>
                  <a:lnTo>
                    <a:pt x="11363" y="9660"/>
                  </a:lnTo>
                  <a:lnTo>
                    <a:pt x="11315" y="9368"/>
                  </a:lnTo>
                  <a:lnTo>
                    <a:pt x="11242" y="9052"/>
                  </a:lnTo>
                  <a:lnTo>
                    <a:pt x="11120" y="8760"/>
                  </a:lnTo>
                  <a:lnTo>
                    <a:pt x="10974" y="8492"/>
                  </a:lnTo>
                  <a:lnTo>
                    <a:pt x="10147" y="9295"/>
                  </a:lnTo>
                  <a:lnTo>
                    <a:pt x="9733" y="9733"/>
                  </a:lnTo>
                  <a:lnTo>
                    <a:pt x="9636" y="9855"/>
                  </a:lnTo>
                  <a:lnTo>
                    <a:pt x="9636" y="9879"/>
                  </a:lnTo>
                  <a:lnTo>
                    <a:pt x="9636" y="10244"/>
                  </a:lnTo>
                  <a:lnTo>
                    <a:pt x="9587" y="10609"/>
                  </a:lnTo>
                  <a:lnTo>
                    <a:pt x="9539" y="10779"/>
                  </a:lnTo>
                  <a:lnTo>
                    <a:pt x="9466" y="10950"/>
                  </a:lnTo>
                  <a:lnTo>
                    <a:pt x="9393" y="11096"/>
                  </a:lnTo>
                  <a:lnTo>
                    <a:pt x="9295" y="11242"/>
                  </a:lnTo>
                  <a:lnTo>
                    <a:pt x="9149" y="11363"/>
                  </a:lnTo>
                  <a:lnTo>
                    <a:pt x="9003" y="11485"/>
                  </a:lnTo>
                  <a:lnTo>
                    <a:pt x="8882" y="11582"/>
                  </a:lnTo>
                  <a:lnTo>
                    <a:pt x="8736" y="11655"/>
                  </a:lnTo>
                  <a:lnTo>
                    <a:pt x="8590" y="11704"/>
                  </a:lnTo>
                  <a:lnTo>
                    <a:pt x="8444" y="11728"/>
                  </a:lnTo>
                  <a:lnTo>
                    <a:pt x="8127" y="11777"/>
                  </a:lnTo>
                  <a:lnTo>
                    <a:pt x="7811" y="11777"/>
                  </a:lnTo>
                  <a:lnTo>
                    <a:pt x="7470" y="11728"/>
                  </a:lnTo>
                  <a:lnTo>
                    <a:pt x="7178" y="11631"/>
                  </a:lnTo>
                  <a:lnTo>
                    <a:pt x="6886" y="11509"/>
                  </a:lnTo>
                  <a:lnTo>
                    <a:pt x="6643" y="11339"/>
                  </a:lnTo>
                  <a:lnTo>
                    <a:pt x="6521" y="11217"/>
                  </a:lnTo>
                  <a:lnTo>
                    <a:pt x="6400" y="11096"/>
                  </a:lnTo>
                  <a:lnTo>
                    <a:pt x="6327" y="10974"/>
                  </a:lnTo>
                  <a:lnTo>
                    <a:pt x="6254" y="10852"/>
                  </a:lnTo>
                  <a:lnTo>
                    <a:pt x="6132" y="10560"/>
                  </a:lnTo>
                  <a:lnTo>
                    <a:pt x="6059" y="10244"/>
                  </a:lnTo>
                  <a:lnTo>
                    <a:pt x="6059" y="9928"/>
                  </a:lnTo>
                  <a:lnTo>
                    <a:pt x="6083" y="9636"/>
                  </a:lnTo>
                  <a:lnTo>
                    <a:pt x="6181" y="9319"/>
                  </a:lnTo>
                  <a:lnTo>
                    <a:pt x="6302" y="9052"/>
                  </a:lnTo>
                  <a:lnTo>
                    <a:pt x="6400" y="8906"/>
                  </a:lnTo>
                  <a:lnTo>
                    <a:pt x="6497" y="8808"/>
                  </a:lnTo>
                  <a:lnTo>
                    <a:pt x="6594" y="8687"/>
                  </a:lnTo>
                  <a:lnTo>
                    <a:pt x="6716" y="8614"/>
                  </a:lnTo>
                  <a:lnTo>
                    <a:pt x="6984" y="8468"/>
                  </a:lnTo>
                  <a:lnTo>
                    <a:pt x="7276" y="8370"/>
                  </a:lnTo>
                  <a:lnTo>
                    <a:pt x="7495" y="8322"/>
                  </a:lnTo>
                  <a:lnTo>
                    <a:pt x="7689" y="8322"/>
                  </a:lnTo>
                  <a:lnTo>
                    <a:pt x="8054" y="8370"/>
                  </a:lnTo>
                  <a:lnTo>
                    <a:pt x="8200" y="8200"/>
                  </a:lnTo>
                  <a:lnTo>
                    <a:pt x="8565" y="7811"/>
                  </a:lnTo>
                  <a:lnTo>
                    <a:pt x="8955" y="7421"/>
                  </a:lnTo>
                  <a:lnTo>
                    <a:pt x="9344" y="7032"/>
                  </a:lnTo>
                  <a:lnTo>
                    <a:pt x="9295" y="6983"/>
                  </a:lnTo>
                  <a:lnTo>
                    <a:pt x="9247" y="6959"/>
                  </a:lnTo>
                  <a:lnTo>
                    <a:pt x="8906" y="6862"/>
                  </a:lnTo>
                  <a:lnTo>
                    <a:pt x="8565" y="6764"/>
                  </a:lnTo>
                  <a:lnTo>
                    <a:pt x="8225" y="6716"/>
                  </a:lnTo>
                  <a:lnTo>
                    <a:pt x="7884" y="6691"/>
                  </a:lnTo>
                  <a:close/>
                  <a:moveTo>
                    <a:pt x="13407" y="15621"/>
                  </a:moveTo>
                  <a:lnTo>
                    <a:pt x="13505" y="15694"/>
                  </a:lnTo>
                  <a:lnTo>
                    <a:pt x="13310" y="15865"/>
                  </a:lnTo>
                  <a:lnTo>
                    <a:pt x="13213" y="15962"/>
                  </a:lnTo>
                  <a:lnTo>
                    <a:pt x="13115" y="16059"/>
                  </a:lnTo>
                  <a:lnTo>
                    <a:pt x="12969" y="16278"/>
                  </a:lnTo>
                  <a:lnTo>
                    <a:pt x="12969" y="16303"/>
                  </a:lnTo>
                  <a:lnTo>
                    <a:pt x="12969" y="16351"/>
                  </a:lnTo>
                  <a:lnTo>
                    <a:pt x="12994" y="16400"/>
                  </a:lnTo>
                  <a:lnTo>
                    <a:pt x="13067" y="16424"/>
                  </a:lnTo>
                  <a:lnTo>
                    <a:pt x="13115" y="16424"/>
                  </a:lnTo>
                  <a:lnTo>
                    <a:pt x="13140" y="16400"/>
                  </a:lnTo>
                  <a:lnTo>
                    <a:pt x="13237" y="16327"/>
                  </a:lnTo>
                  <a:lnTo>
                    <a:pt x="13334" y="16254"/>
                  </a:lnTo>
                  <a:lnTo>
                    <a:pt x="13553" y="16132"/>
                  </a:lnTo>
                  <a:lnTo>
                    <a:pt x="13699" y="16035"/>
                  </a:lnTo>
                  <a:lnTo>
                    <a:pt x="13845" y="15938"/>
                  </a:lnTo>
                  <a:lnTo>
                    <a:pt x="13918" y="15986"/>
                  </a:lnTo>
                  <a:lnTo>
                    <a:pt x="13772" y="16132"/>
                  </a:lnTo>
                  <a:lnTo>
                    <a:pt x="13651" y="16254"/>
                  </a:lnTo>
                  <a:lnTo>
                    <a:pt x="13553" y="16351"/>
                  </a:lnTo>
                  <a:lnTo>
                    <a:pt x="13456" y="16497"/>
                  </a:lnTo>
                  <a:lnTo>
                    <a:pt x="13407" y="16570"/>
                  </a:lnTo>
                  <a:lnTo>
                    <a:pt x="13383" y="16643"/>
                  </a:lnTo>
                  <a:lnTo>
                    <a:pt x="13383" y="16692"/>
                  </a:lnTo>
                  <a:lnTo>
                    <a:pt x="13432" y="16741"/>
                  </a:lnTo>
                  <a:lnTo>
                    <a:pt x="13553" y="16741"/>
                  </a:lnTo>
                  <a:lnTo>
                    <a:pt x="13675" y="16668"/>
                  </a:lnTo>
                  <a:lnTo>
                    <a:pt x="13870" y="16497"/>
                  </a:lnTo>
                  <a:lnTo>
                    <a:pt x="14137" y="16278"/>
                  </a:lnTo>
                  <a:lnTo>
                    <a:pt x="14186" y="16230"/>
                  </a:lnTo>
                  <a:lnTo>
                    <a:pt x="14283" y="16351"/>
                  </a:lnTo>
                  <a:lnTo>
                    <a:pt x="13967" y="16643"/>
                  </a:lnTo>
                  <a:lnTo>
                    <a:pt x="13821" y="16862"/>
                  </a:lnTo>
                  <a:lnTo>
                    <a:pt x="13675" y="17057"/>
                  </a:lnTo>
                  <a:lnTo>
                    <a:pt x="13675" y="17106"/>
                  </a:lnTo>
                  <a:lnTo>
                    <a:pt x="13724" y="17106"/>
                  </a:lnTo>
                  <a:lnTo>
                    <a:pt x="13967" y="16984"/>
                  </a:lnTo>
                  <a:lnTo>
                    <a:pt x="14210" y="16887"/>
                  </a:lnTo>
                  <a:lnTo>
                    <a:pt x="14381" y="16789"/>
                  </a:lnTo>
                  <a:lnTo>
                    <a:pt x="14527" y="16668"/>
                  </a:lnTo>
                  <a:lnTo>
                    <a:pt x="14600" y="16765"/>
                  </a:lnTo>
                  <a:lnTo>
                    <a:pt x="14575" y="16789"/>
                  </a:lnTo>
                  <a:lnTo>
                    <a:pt x="14259" y="17033"/>
                  </a:lnTo>
                  <a:lnTo>
                    <a:pt x="14113" y="17154"/>
                  </a:lnTo>
                  <a:lnTo>
                    <a:pt x="13991" y="17300"/>
                  </a:lnTo>
                  <a:lnTo>
                    <a:pt x="13991" y="17349"/>
                  </a:lnTo>
                  <a:lnTo>
                    <a:pt x="14016" y="17349"/>
                  </a:lnTo>
                  <a:lnTo>
                    <a:pt x="14210" y="17300"/>
                  </a:lnTo>
                  <a:lnTo>
                    <a:pt x="14356" y="17252"/>
                  </a:lnTo>
                  <a:lnTo>
                    <a:pt x="14551" y="17154"/>
                  </a:lnTo>
                  <a:lnTo>
                    <a:pt x="14721" y="17057"/>
                  </a:lnTo>
                  <a:lnTo>
                    <a:pt x="14746" y="17203"/>
                  </a:lnTo>
                  <a:lnTo>
                    <a:pt x="14624" y="17252"/>
                  </a:lnTo>
                  <a:lnTo>
                    <a:pt x="14478" y="17300"/>
                  </a:lnTo>
                  <a:lnTo>
                    <a:pt x="14332" y="17373"/>
                  </a:lnTo>
                  <a:lnTo>
                    <a:pt x="14259" y="17422"/>
                  </a:lnTo>
                  <a:lnTo>
                    <a:pt x="14186" y="17471"/>
                  </a:lnTo>
                  <a:lnTo>
                    <a:pt x="14137" y="17544"/>
                  </a:lnTo>
                  <a:lnTo>
                    <a:pt x="14162" y="17641"/>
                  </a:lnTo>
                  <a:lnTo>
                    <a:pt x="14210" y="17690"/>
                  </a:lnTo>
                  <a:lnTo>
                    <a:pt x="14283" y="17714"/>
                  </a:lnTo>
                  <a:lnTo>
                    <a:pt x="14429" y="17714"/>
                  </a:lnTo>
                  <a:lnTo>
                    <a:pt x="14575" y="17665"/>
                  </a:lnTo>
                  <a:lnTo>
                    <a:pt x="14697" y="17617"/>
                  </a:lnTo>
                  <a:lnTo>
                    <a:pt x="14697" y="17641"/>
                  </a:lnTo>
                  <a:lnTo>
                    <a:pt x="14600" y="17738"/>
                  </a:lnTo>
                  <a:lnTo>
                    <a:pt x="14502" y="17811"/>
                  </a:lnTo>
                  <a:lnTo>
                    <a:pt x="14405" y="17860"/>
                  </a:lnTo>
                  <a:lnTo>
                    <a:pt x="14283" y="17884"/>
                  </a:lnTo>
                  <a:lnTo>
                    <a:pt x="14162" y="17909"/>
                  </a:lnTo>
                  <a:lnTo>
                    <a:pt x="14040" y="17884"/>
                  </a:lnTo>
                  <a:lnTo>
                    <a:pt x="13772" y="17836"/>
                  </a:lnTo>
                  <a:lnTo>
                    <a:pt x="13529" y="17738"/>
                  </a:lnTo>
                  <a:lnTo>
                    <a:pt x="13261" y="17592"/>
                  </a:lnTo>
                  <a:lnTo>
                    <a:pt x="13067" y="17471"/>
                  </a:lnTo>
                  <a:lnTo>
                    <a:pt x="12896" y="17349"/>
                  </a:lnTo>
                  <a:lnTo>
                    <a:pt x="12726" y="17179"/>
                  </a:lnTo>
                  <a:lnTo>
                    <a:pt x="12556" y="16984"/>
                  </a:lnTo>
                  <a:lnTo>
                    <a:pt x="12337" y="16765"/>
                  </a:lnTo>
                  <a:lnTo>
                    <a:pt x="12239" y="16692"/>
                  </a:lnTo>
                  <a:lnTo>
                    <a:pt x="12118" y="16668"/>
                  </a:lnTo>
                  <a:lnTo>
                    <a:pt x="12458" y="16424"/>
                  </a:lnTo>
                  <a:lnTo>
                    <a:pt x="12799" y="16181"/>
                  </a:lnTo>
                  <a:lnTo>
                    <a:pt x="13115" y="15913"/>
                  </a:lnTo>
                  <a:lnTo>
                    <a:pt x="13407" y="15621"/>
                  </a:lnTo>
                  <a:close/>
                  <a:moveTo>
                    <a:pt x="2287" y="15548"/>
                  </a:moveTo>
                  <a:lnTo>
                    <a:pt x="2579" y="15840"/>
                  </a:lnTo>
                  <a:lnTo>
                    <a:pt x="2871" y="16084"/>
                  </a:lnTo>
                  <a:lnTo>
                    <a:pt x="3188" y="16351"/>
                  </a:lnTo>
                  <a:lnTo>
                    <a:pt x="3504" y="16570"/>
                  </a:lnTo>
                  <a:lnTo>
                    <a:pt x="3382" y="16765"/>
                  </a:lnTo>
                  <a:lnTo>
                    <a:pt x="3358" y="16741"/>
                  </a:lnTo>
                  <a:lnTo>
                    <a:pt x="3309" y="16668"/>
                  </a:lnTo>
                  <a:lnTo>
                    <a:pt x="3261" y="16619"/>
                  </a:lnTo>
                  <a:lnTo>
                    <a:pt x="3115" y="16522"/>
                  </a:lnTo>
                  <a:lnTo>
                    <a:pt x="2944" y="16449"/>
                  </a:lnTo>
                  <a:lnTo>
                    <a:pt x="2823" y="16351"/>
                  </a:lnTo>
                  <a:lnTo>
                    <a:pt x="2774" y="16351"/>
                  </a:lnTo>
                  <a:lnTo>
                    <a:pt x="2774" y="16376"/>
                  </a:lnTo>
                  <a:lnTo>
                    <a:pt x="2823" y="16522"/>
                  </a:lnTo>
                  <a:lnTo>
                    <a:pt x="2944" y="16668"/>
                  </a:lnTo>
                  <a:lnTo>
                    <a:pt x="2969" y="16692"/>
                  </a:lnTo>
                  <a:lnTo>
                    <a:pt x="2725" y="16546"/>
                  </a:lnTo>
                  <a:lnTo>
                    <a:pt x="2604" y="16497"/>
                  </a:lnTo>
                  <a:lnTo>
                    <a:pt x="2458" y="16473"/>
                  </a:lnTo>
                  <a:lnTo>
                    <a:pt x="2433" y="16473"/>
                  </a:lnTo>
                  <a:lnTo>
                    <a:pt x="2433" y="16522"/>
                  </a:lnTo>
                  <a:lnTo>
                    <a:pt x="2482" y="16619"/>
                  </a:lnTo>
                  <a:lnTo>
                    <a:pt x="2555" y="16692"/>
                  </a:lnTo>
                  <a:lnTo>
                    <a:pt x="2725" y="16862"/>
                  </a:lnTo>
                  <a:lnTo>
                    <a:pt x="2896" y="17008"/>
                  </a:lnTo>
                  <a:lnTo>
                    <a:pt x="3090" y="17130"/>
                  </a:lnTo>
                  <a:lnTo>
                    <a:pt x="2920" y="17300"/>
                  </a:lnTo>
                  <a:lnTo>
                    <a:pt x="2871" y="17276"/>
                  </a:lnTo>
                  <a:lnTo>
                    <a:pt x="2774" y="17203"/>
                  </a:lnTo>
                  <a:lnTo>
                    <a:pt x="2701" y="17106"/>
                  </a:lnTo>
                  <a:lnTo>
                    <a:pt x="2604" y="17008"/>
                  </a:lnTo>
                  <a:lnTo>
                    <a:pt x="2506" y="16935"/>
                  </a:lnTo>
                  <a:lnTo>
                    <a:pt x="2385" y="16887"/>
                  </a:lnTo>
                  <a:lnTo>
                    <a:pt x="2336" y="16862"/>
                  </a:lnTo>
                  <a:lnTo>
                    <a:pt x="2263" y="16887"/>
                  </a:lnTo>
                  <a:lnTo>
                    <a:pt x="2239" y="16911"/>
                  </a:lnTo>
                  <a:lnTo>
                    <a:pt x="2239" y="16960"/>
                  </a:lnTo>
                  <a:lnTo>
                    <a:pt x="2287" y="17057"/>
                  </a:lnTo>
                  <a:lnTo>
                    <a:pt x="2336" y="17179"/>
                  </a:lnTo>
                  <a:lnTo>
                    <a:pt x="2433" y="17300"/>
                  </a:lnTo>
                  <a:lnTo>
                    <a:pt x="2506" y="17422"/>
                  </a:lnTo>
                  <a:lnTo>
                    <a:pt x="2652" y="17544"/>
                  </a:lnTo>
                  <a:lnTo>
                    <a:pt x="2531" y="17617"/>
                  </a:lnTo>
                  <a:lnTo>
                    <a:pt x="2336" y="17519"/>
                  </a:lnTo>
                  <a:lnTo>
                    <a:pt x="2166" y="17398"/>
                  </a:lnTo>
                  <a:lnTo>
                    <a:pt x="2068" y="17325"/>
                  </a:lnTo>
                  <a:lnTo>
                    <a:pt x="1995" y="17300"/>
                  </a:lnTo>
                  <a:lnTo>
                    <a:pt x="1898" y="17252"/>
                  </a:lnTo>
                  <a:lnTo>
                    <a:pt x="1777" y="17227"/>
                  </a:lnTo>
                  <a:lnTo>
                    <a:pt x="1752" y="17252"/>
                  </a:lnTo>
                  <a:lnTo>
                    <a:pt x="1728" y="17276"/>
                  </a:lnTo>
                  <a:lnTo>
                    <a:pt x="1777" y="17398"/>
                  </a:lnTo>
                  <a:lnTo>
                    <a:pt x="1825" y="17519"/>
                  </a:lnTo>
                  <a:lnTo>
                    <a:pt x="1898" y="17641"/>
                  </a:lnTo>
                  <a:lnTo>
                    <a:pt x="1995" y="17738"/>
                  </a:lnTo>
                  <a:lnTo>
                    <a:pt x="2117" y="17860"/>
                  </a:lnTo>
                  <a:lnTo>
                    <a:pt x="1874" y="17763"/>
                  </a:lnTo>
                  <a:lnTo>
                    <a:pt x="1679" y="17665"/>
                  </a:lnTo>
                  <a:lnTo>
                    <a:pt x="1582" y="17617"/>
                  </a:lnTo>
                  <a:lnTo>
                    <a:pt x="1485" y="17592"/>
                  </a:lnTo>
                  <a:lnTo>
                    <a:pt x="1436" y="17592"/>
                  </a:lnTo>
                  <a:lnTo>
                    <a:pt x="1363" y="17641"/>
                  </a:lnTo>
                  <a:lnTo>
                    <a:pt x="1339" y="17690"/>
                  </a:lnTo>
                  <a:lnTo>
                    <a:pt x="1339" y="17738"/>
                  </a:lnTo>
                  <a:lnTo>
                    <a:pt x="1412" y="17860"/>
                  </a:lnTo>
                  <a:lnTo>
                    <a:pt x="1509" y="17957"/>
                  </a:lnTo>
                  <a:lnTo>
                    <a:pt x="1363" y="17909"/>
                  </a:lnTo>
                  <a:lnTo>
                    <a:pt x="1266" y="17836"/>
                  </a:lnTo>
                  <a:lnTo>
                    <a:pt x="1168" y="17738"/>
                  </a:lnTo>
                  <a:lnTo>
                    <a:pt x="1095" y="17592"/>
                  </a:lnTo>
                  <a:lnTo>
                    <a:pt x="1071" y="17422"/>
                  </a:lnTo>
                  <a:lnTo>
                    <a:pt x="1095" y="17227"/>
                  </a:lnTo>
                  <a:lnTo>
                    <a:pt x="1144" y="17057"/>
                  </a:lnTo>
                  <a:lnTo>
                    <a:pt x="1217" y="16887"/>
                  </a:lnTo>
                  <a:lnTo>
                    <a:pt x="1436" y="16522"/>
                  </a:lnTo>
                  <a:lnTo>
                    <a:pt x="1631" y="16254"/>
                  </a:lnTo>
                  <a:lnTo>
                    <a:pt x="1777" y="16059"/>
                  </a:lnTo>
                  <a:lnTo>
                    <a:pt x="1947" y="15889"/>
                  </a:lnTo>
                  <a:lnTo>
                    <a:pt x="2117" y="15719"/>
                  </a:lnTo>
                  <a:lnTo>
                    <a:pt x="2287" y="15548"/>
                  </a:lnTo>
                  <a:close/>
                  <a:moveTo>
                    <a:pt x="7689" y="2336"/>
                  </a:moveTo>
                  <a:lnTo>
                    <a:pt x="7203" y="2360"/>
                  </a:lnTo>
                  <a:lnTo>
                    <a:pt x="6716" y="2409"/>
                  </a:lnTo>
                  <a:lnTo>
                    <a:pt x="6205" y="2482"/>
                  </a:lnTo>
                  <a:lnTo>
                    <a:pt x="5718" y="2604"/>
                  </a:lnTo>
                  <a:lnTo>
                    <a:pt x="5256" y="2725"/>
                  </a:lnTo>
                  <a:lnTo>
                    <a:pt x="4794" y="2896"/>
                  </a:lnTo>
                  <a:lnTo>
                    <a:pt x="4404" y="3066"/>
                  </a:lnTo>
                  <a:lnTo>
                    <a:pt x="4015" y="3261"/>
                  </a:lnTo>
                  <a:lnTo>
                    <a:pt x="3626" y="3480"/>
                  </a:lnTo>
                  <a:lnTo>
                    <a:pt x="3261" y="3723"/>
                  </a:lnTo>
                  <a:lnTo>
                    <a:pt x="2896" y="3966"/>
                  </a:lnTo>
                  <a:lnTo>
                    <a:pt x="2555" y="4258"/>
                  </a:lnTo>
                  <a:lnTo>
                    <a:pt x="2214" y="4526"/>
                  </a:lnTo>
                  <a:lnTo>
                    <a:pt x="1923" y="4842"/>
                  </a:lnTo>
                  <a:lnTo>
                    <a:pt x="1655" y="5134"/>
                  </a:lnTo>
                  <a:lnTo>
                    <a:pt x="1412" y="5451"/>
                  </a:lnTo>
                  <a:lnTo>
                    <a:pt x="1217" y="5791"/>
                  </a:lnTo>
                  <a:lnTo>
                    <a:pt x="1071" y="6156"/>
                  </a:lnTo>
                  <a:lnTo>
                    <a:pt x="657" y="7105"/>
                  </a:lnTo>
                  <a:lnTo>
                    <a:pt x="463" y="7592"/>
                  </a:lnTo>
                  <a:lnTo>
                    <a:pt x="292" y="8078"/>
                  </a:lnTo>
                  <a:lnTo>
                    <a:pt x="171" y="8565"/>
                  </a:lnTo>
                  <a:lnTo>
                    <a:pt x="73" y="9052"/>
                  </a:lnTo>
                  <a:lnTo>
                    <a:pt x="25" y="9563"/>
                  </a:lnTo>
                  <a:lnTo>
                    <a:pt x="0" y="10074"/>
                  </a:lnTo>
                  <a:lnTo>
                    <a:pt x="25" y="10585"/>
                  </a:lnTo>
                  <a:lnTo>
                    <a:pt x="49" y="11096"/>
                  </a:lnTo>
                  <a:lnTo>
                    <a:pt x="122" y="11607"/>
                  </a:lnTo>
                  <a:lnTo>
                    <a:pt x="195" y="12093"/>
                  </a:lnTo>
                  <a:lnTo>
                    <a:pt x="268" y="12531"/>
                  </a:lnTo>
                  <a:lnTo>
                    <a:pt x="414" y="12945"/>
                  </a:lnTo>
                  <a:lnTo>
                    <a:pt x="584" y="13359"/>
                  </a:lnTo>
                  <a:lnTo>
                    <a:pt x="779" y="13723"/>
                  </a:lnTo>
                  <a:lnTo>
                    <a:pt x="1022" y="14088"/>
                  </a:lnTo>
                  <a:lnTo>
                    <a:pt x="1290" y="14453"/>
                  </a:lnTo>
                  <a:lnTo>
                    <a:pt x="1558" y="14794"/>
                  </a:lnTo>
                  <a:lnTo>
                    <a:pt x="1850" y="15135"/>
                  </a:lnTo>
                  <a:lnTo>
                    <a:pt x="1995" y="15281"/>
                  </a:lnTo>
                  <a:lnTo>
                    <a:pt x="1850" y="15378"/>
                  </a:lnTo>
                  <a:lnTo>
                    <a:pt x="1704" y="15500"/>
                  </a:lnTo>
                  <a:lnTo>
                    <a:pt x="1582" y="15621"/>
                  </a:lnTo>
                  <a:lnTo>
                    <a:pt x="1460" y="15767"/>
                  </a:lnTo>
                  <a:lnTo>
                    <a:pt x="1217" y="16084"/>
                  </a:lnTo>
                  <a:lnTo>
                    <a:pt x="1047" y="16351"/>
                  </a:lnTo>
                  <a:lnTo>
                    <a:pt x="925" y="16546"/>
                  </a:lnTo>
                  <a:lnTo>
                    <a:pt x="828" y="16741"/>
                  </a:lnTo>
                  <a:lnTo>
                    <a:pt x="730" y="16960"/>
                  </a:lnTo>
                  <a:lnTo>
                    <a:pt x="682" y="17179"/>
                  </a:lnTo>
                  <a:lnTo>
                    <a:pt x="633" y="17398"/>
                  </a:lnTo>
                  <a:lnTo>
                    <a:pt x="657" y="17617"/>
                  </a:lnTo>
                  <a:lnTo>
                    <a:pt x="706" y="17836"/>
                  </a:lnTo>
                  <a:lnTo>
                    <a:pt x="828" y="18055"/>
                  </a:lnTo>
                  <a:lnTo>
                    <a:pt x="901" y="18152"/>
                  </a:lnTo>
                  <a:lnTo>
                    <a:pt x="974" y="18225"/>
                  </a:lnTo>
                  <a:lnTo>
                    <a:pt x="1144" y="18322"/>
                  </a:lnTo>
                  <a:lnTo>
                    <a:pt x="1339" y="18395"/>
                  </a:lnTo>
                  <a:lnTo>
                    <a:pt x="1558" y="18420"/>
                  </a:lnTo>
                  <a:lnTo>
                    <a:pt x="1777" y="18420"/>
                  </a:lnTo>
                  <a:lnTo>
                    <a:pt x="1995" y="18371"/>
                  </a:lnTo>
                  <a:lnTo>
                    <a:pt x="2190" y="18322"/>
                  </a:lnTo>
                  <a:lnTo>
                    <a:pt x="2385" y="18249"/>
                  </a:lnTo>
                  <a:lnTo>
                    <a:pt x="2604" y="18128"/>
                  </a:lnTo>
                  <a:lnTo>
                    <a:pt x="2823" y="18006"/>
                  </a:lnTo>
                  <a:lnTo>
                    <a:pt x="3042" y="17836"/>
                  </a:lnTo>
                  <a:lnTo>
                    <a:pt x="3236" y="17665"/>
                  </a:lnTo>
                  <a:lnTo>
                    <a:pt x="3431" y="17471"/>
                  </a:lnTo>
                  <a:lnTo>
                    <a:pt x="3601" y="17276"/>
                  </a:lnTo>
                  <a:lnTo>
                    <a:pt x="3893" y="16838"/>
                  </a:lnTo>
                  <a:lnTo>
                    <a:pt x="4258" y="17081"/>
                  </a:lnTo>
                  <a:lnTo>
                    <a:pt x="4648" y="17276"/>
                  </a:lnTo>
                  <a:lnTo>
                    <a:pt x="4867" y="17398"/>
                  </a:lnTo>
                  <a:lnTo>
                    <a:pt x="5110" y="17495"/>
                  </a:lnTo>
                  <a:lnTo>
                    <a:pt x="5353" y="17568"/>
                  </a:lnTo>
                  <a:lnTo>
                    <a:pt x="5597" y="17641"/>
                  </a:lnTo>
                  <a:lnTo>
                    <a:pt x="6083" y="17738"/>
                  </a:lnTo>
                  <a:lnTo>
                    <a:pt x="6594" y="17811"/>
                  </a:lnTo>
                  <a:lnTo>
                    <a:pt x="7057" y="17884"/>
                  </a:lnTo>
                  <a:lnTo>
                    <a:pt x="7519" y="17909"/>
                  </a:lnTo>
                  <a:lnTo>
                    <a:pt x="8006" y="17909"/>
                  </a:lnTo>
                  <a:lnTo>
                    <a:pt x="8492" y="17860"/>
                  </a:lnTo>
                  <a:lnTo>
                    <a:pt x="8541" y="17884"/>
                  </a:lnTo>
                  <a:lnTo>
                    <a:pt x="8590" y="17860"/>
                  </a:lnTo>
                  <a:lnTo>
                    <a:pt x="8736" y="17811"/>
                  </a:lnTo>
                  <a:lnTo>
                    <a:pt x="8906" y="17787"/>
                  </a:lnTo>
                  <a:lnTo>
                    <a:pt x="9222" y="17738"/>
                  </a:lnTo>
                  <a:lnTo>
                    <a:pt x="9514" y="17690"/>
                  </a:lnTo>
                  <a:lnTo>
                    <a:pt x="9782" y="17592"/>
                  </a:lnTo>
                  <a:lnTo>
                    <a:pt x="10317" y="17398"/>
                  </a:lnTo>
                  <a:lnTo>
                    <a:pt x="11120" y="17130"/>
                  </a:lnTo>
                  <a:lnTo>
                    <a:pt x="11509" y="16984"/>
                  </a:lnTo>
                  <a:lnTo>
                    <a:pt x="11899" y="16789"/>
                  </a:lnTo>
                  <a:lnTo>
                    <a:pt x="11899" y="16814"/>
                  </a:lnTo>
                  <a:lnTo>
                    <a:pt x="11996" y="17033"/>
                  </a:lnTo>
                  <a:lnTo>
                    <a:pt x="12118" y="17227"/>
                  </a:lnTo>
                  <a:lnTo>
                    <a:pt x="12288" y="17446"/>
                  </a:lnTo>
                  <a:lnTo>
                    <a:pt x="12483" y="17641"/>
                  </a:lnTo>
                  <a:lnTo>
                    <a:pt x="12702" y="17811"/>
                  </a:lnTo>
                  <a:lnTo>
                    <a:pt x="12921" y="17957"/>
                  </a:lnTo>
                  <a:lnTo>
                    <a:pt x="13115" y="18079"/>
                  </a:lnTo>
                  <a:lnTo>
                    <a:pt x="13334" y="18176"/>
                  </a:lnTo>
                  <a:lnTo>
                    <a:pt x="13529" y="18249"/>
                  </a:lnTo>
                  <a:lnTo>
                    <a:pt x="13748" y="18298"/>
                  </a:lnTo>
                  <a:lnTo>
                    <a:pt x="13991" y="18347"/>
                  </a:lnTo>
                  <a:lnTo>
                    <a:pt x="14259" y="18347"/>
                  </a:lnTo>
                  <a:lnTo>
                    <a:pt x="14478" y="18322"/>
                  </a:lnTo>
                  <a:lnTo>
                    <a:pt x="14721" y="18249"/>
                  </a:lnTo>
                  <a:lnTo>
                    <a:pt x="14819" y="18176"/>
                  </a:lnTo>
                  <a:lnTo>
                    <a:pt x="14892" y="18103"/>
                  </a:lnTo>
                  <a:lnTo>
                    <a:pt x="14989" y="18030"/>
                  </a:lnTo>
                  <a:lnTo>
                    <a:pt x="15038" y="17933"/>
                  </a:lnTo>
                  <a:lnTo>
                    <a:pt x="15135" y="17763"/>
                  </a:lnTo>
                  <a:lnTo>
                    <a:pt x="15159" y="17568"/>
                  </a:lnTo>
                  <a:lnTo>
                    <a:pt x="15184" y="17373"/>
                  </a:lnTo>
                  <a:lnTo>
                    <a:pt x="15159" y="17203"/>
                  </a:lnTo>
                  <a:lnTo>
                    <a:pt x="15111" y="17008"/>
                  </a:lnTo>
                  <a:lnTo>
                    <a:pt x="15062" y="16838"/>
                  </a:lnTo>
                  <a:lnTo>
                    <a:pt x="14965" y="16643"/>
                  </a:lnTo>
                  <a:lnTo>
                    <a:pt x="14867" y="16473"/>
                  </a:lnTo>
                  <a:lnTo>
                    <a:pt x="14600" y="16132"/>
                  </a:lnTo>
                  <a:lnTo>
                    <a:pt x="14308" y="15792"/>
                  </a:lnTo>
                  <a:lnTo>
                    <a:pt x="13991" y="15524"/>
                  </a:lnTo>
                  <a:lnTo>
                    <a:pt x="13675" y="15281"/>
                  </a:lnTo>
                  <a:lnTo>
                    <a:pt x="13967" y="14916"/>
                  </a:lnTo>
                  <a:lnTo>
                    <a:pt x="14235" y="14551"/>
                  </a:lnTo>
                  <a:lnTo>
                    <a:pt x="14478" y="14137"/>
                  </a:lnTo>
                  <a:lnTo>
                    <a:pt x="14673" y="13748"/>
                  </a:lnTo>
                  <a:lnTo>
                    <a:pt x="14916" y="13237"/>
                  </a:lnTo>
                  <a:lnTo>
                    <a:pt x="15111" y="12677"/>
                  </a:lnTo>
                  <a:lnTo>
                    <a:pt x="15257" y="12118"/>
                  </a:lnTo>
                  <a:lnTo>
                    <a:pt x="15378" y="11534"/>
                  </a:lnTo>
                  <a:lnTo>
                    <a:pt x="15476" y="10950"/>
                  </a:lnTo>
                  <a:lnTo>
                    <a:pt x="15524" y="10366"/>
                  </a:lnTo>
                  <a:lnTo>
                    <a:pt x="15549" y="9782"/>
                  </a:lnTo>
                  <a:lnTo>
                    <a:pt x="15549" y="9222"/>
                  </a:lnTo>
                  <a:lnTo>
                    <a:pt x="15524" y="8979"/>
                  </a:lnTo>
                  <a:lnTo>
                    <a:pt x="15476" y="8735"/>
                  </a:lnTo>
                  <a:lnTo>
                    <a:pt x="15354" y="8249"/>
                  </a:lnTo>
                  <a:lnTo>
                    <a:pt x="15208" y="7786"/>
                  </a:lnTo>
                  <a:lnTo>
                    <a:pt x="15038" y="7348"/>
                  </a:lnTo>
                  <a:lnTo>
                    <a:pt x="14867" y="6910"/>
                  </a:lnTo>
                  <a:lnTo>
                    <a:pt x="14794" y="6691"/>
                  </a:lnTo>
                  <a:lnTo>
                    <a:pt x="14697" y="6472"/>
                  </a:lnTo>
                  <a:lnTo>
                    <a:pt x="14575" y="6278"/>
                  </a:lnTo>
                  <a:lnTo>
                    <a:pt x="14429" y="6107"/>
                  </a:lnTo>
                  <a:lnTo>
                    <a:pt x="14381" y="6107"/>
                  </a:lnTo>
                  <a:lnTo>
                    <a:pt x="13991" y="6034"/>
                  </a:lnTo>
                  <a:lnTo>
                    <a:pt x="13578" y="5961"/>
                  </a:lnTo>
                  <a:lnTo>
                    <a:pt x="13042" y="6521"/>
                  </a:lnTo>
                  <a:lnTo>
                    <a:pt x="12458" y="7105"/>
                  </a:lnTo>
                  <a:lnTo>
                    <a:pt x="12580" y="7202"/>
                  </a:lnTo>
                  <a:lnTo>
                    <a:pt x="12702" y="7324"/>
                  </a:lnTo>
                  <a:lnTo>
                    <a:pt x="12799" y="7470"/>
                  </a:lnTo>
                  <a:lnTo>
                    <a:pt x="12872" y="7616"/>
                  </a:lnTo>
                  <a:lnTo>
                    <a:pt x="13018" y="7957"/>
                  </a:lnTo>
                  <a:lnTo>
                    <a:pt x="13140" y="8249"/>
                  </a:lnTo>
                  <a:lnTo>
                    <a:pt x="13213" y="8468"/>
                  </a:lnTo>
                  <a:lnTo>
                    <a:pt x="13286" y="8687"/>
                  </a:lnTo>
                  <a:lnTo>
                    <a:pt x="13383" y="9173"/>
                  </a:lnTo>
                  <a:lnTo>
                    <a:pt x="13407" y="9684"/>
                  </a:lnTo>
                  <a:lnTo>
                    <a:pt x="13407" y="10147"/>
                  </a:lnTo>
                  <a:lnTo>
                    <a:pt x="13383" y="10585"/>
                  </a:lnTo>
                  <a:lnTo>
                    <a:pt x="13310" y="11023"/>
                  </a:lnTo>
                  <a:lnTo>
                    <a:pt x="13188" y="11436"/>
                  </a:lnTo>
                  <a:lnTo>
                    <a:pt x="13042" y="11850"/>
                  </a:lnTo>
                  <a:lnTo>
                    <a:pt x="12872" y="12264"/>
                  </a:lnTo>
                  <a:lnTo>
                    <a:pt x="12677" y="12653"/>
                  </a:lnTo>
                  <a:lnTo>
                    <a:pt x="12458" y="13018"/>
                  </a:lnTo>
                  <a:lnTo>
                    <a:pt x="12239" y="13383"/>
                  </a:lnTo>
                  <a:lnTo>
                    <a:pt x="11923" y="13748"/>
                  </a:lnTo>
                  <a:lnTo>
                    <a:pt x="11582" y="14088"/>
                  </a:lnTo>
                  <a:lnTo>
                    <a:pt x="11217" y="14380"/>
                  </a:lnTo>
                  <a:lnTo>
                    <a:pt x="10828" y="14648"/>
                  </a:lnTo>
                  <a:lnTo>
                    <a:pt x="10414" y="14867"/>
                  </a:lnTo>
                  <a:lnTo>
                    <a:pt x="9976" y="15062"/>
                  </a:lnTo>
                  <a:lnTo>
                    <a:pt x="9539" y="15256"/>
                  </a:lnTo>
                  <a:lnTo>
                    <a:pt x="9101" y="15427"/>
                  </a:lnTo>
                  <a:lnTo>
                    <a:pt x="8809" y="15524"/>
                  </a:lnTo>
                  <a:lnTo>
                    <a:pt x="8517" y="15597"/>
                  </a:lnTo>
                  <a:lnTo>
                    <a:pt x="8225" y="15646"/>
                  </a:lnTo>
                  <a:lnTo>
                    <a:pt x="7957" y="15670"/>
                  </a:lnTo>
                  <a:lnTo>
                    <a:pt x="7397" y="15670"/>
                  </a:lnTo>
                  <a:lnTo>
                    <a:pt x="7130" y="15646"/>
                  </a:lnTo>
                  <a:lnTo>
                    <a:pt x="6862" y="15597"/>
                  </a:lnTo>
                  <a:lnTo>
                    <a:pt x="6594" y="15548"/>
                  </a:lnTo>
                  <a:lnTo>
                    <a:pt x="6327" y="15475"/>
                  </a:lnTo>
                  <a:lnTo>
                    <a:pt x="5816" y="15281"/>
                  </a:lnTo>
                  <a:lnTo>
                    <a:pt x="5280" y="15062"/>
                  </a:lnTo>
                  <a:lnTo>
                    <a:pt x="4769" y="14770"/>
                  </a:lnTo>
                  <a:lnTo>
                    <a:pt x="4015" y="14307"/>
                  </a:lnTo>
                  <a:lnTo>
                    <a:pt x="3918" y="14259"/>
                  </a:lnTo>
                  <a:lnTo>
                    <a:pt x="3820" y="14161"/>
                  </a:lnTo>
                  <a:lnTo>
                    <a:pt x="3674" y="13991"/>
                  </a:lnTo>
                  <a:lnTo>
                    <a:pt x="3382" y="13602"/>
                  </a:lnTo>
                  <a:lnTo>
                    <a:pt x="3066" y="13164"/>
                  </a:lnTo>
                  <a:lnTo>
                    <a:pt x="2774" y="12726"/>
                  </a:lnTo>
                  <a:lnTo>
                    <a:pt x="2652" y="12483"/>
                  </a:lnTo>
                  <a:lnTo>
                    <a:pt x="2555" y="12239"/>
                  </a:lnTo>
                  <a:lnTo>
                    <a:pt x="2458" y="11972"/>
                  </a:lnTo>
                  <a:lnTo>
                    <a:pt x="2360" y="11728"/>
                  </a:lnTo>
                  <a:lnTo>
                    <a:pt x="2263" y="11242"/>
                  </a:lnTo>
                  <a:lnTo>
                    <a:pt x="2214" y="10731"/>
                  </a:lnTo>
                  <a:lnTo>
                    <a:pt x="2214" y="10220"/>
                  </a:lnTo>
                  <a:lnTo>
                    <a:pt x="2239" y="9684"/>
                  </a:lnTo>
                  <a:lnTo>
                    <a:pt x="2336" y="9149"/>
                  </a:lnTo>
                  <a:lnTo>
                    <a:pt x="2433" y="8662"/>
                  </a:lnTo>
                  <a:lnTo>
                    <a:pt x="2604" y="8151"/>
                  </a:lnTo>
                  <a:lnTo>
                    <a:pt x="2774" y="7713"/>
                  </a:lnTo>
                  <a:lnTo>
                    <a:pt x="2969" y="7324"/>
                  </a:lnTo>
                  <a:lnTo>
                    <a:pt x="3188" y="6959"/>
                  </a:lnTo>
                  <a:lnTo>
                    <a:pt x="3431" y="6618"/>
                  </a:lnTo>
                  <a:lnTo>
                    <a:pt x="3699" y="6302"/>
                  </a:lnTo>
                  <a:lnTo>
                    <a:pt x="4015" y="6010"/>
                  </a:lnTo>
                  <a:lnTo>
                    <a:pt x="4331" y="5742"/>
                  </a:lnTo>
                  <a:lnTo>
                    <a:pt x="4648" y="5499"/>
                  </a:lnTo>
                  <a:lnTo>
                    <a:pt x="5013" y="5280"/>
                  </a:lnTo>
                  <a:lnTo>
                    <a:pt x="5378" y="5086"/>
                  </a:lnTo>
                  <a:lnTo>
                    <a:pt x="5767" y="4915"/>
                  </a:lnTo>
                  <a:lnTo>
                    <a:pt x="6156" y="4794"/>
                  </a:lnTo>
                  <a:lnTo>
                    <a:pt x="6570" y="4672"/>
                  </a:lnTo>
                  <a:lnTo>
                    <a:pt x="6984" y="4599"/>
                  </a:lnTo>
                  <a:lnTo>
                    <a:pt x="7397" y="4550"/>
                  </a:lnTo>
                  <a:lnTo>
                    <a:pt x="7811" y="4526"/>
                  </a:lnTo>
                  <a:lnTo>
                    <a:pt x="8225" y="4526"/>
                  </a:lnTo>
                  <a:lnTo>
                    <a:pt x="8614" y="4575"/>
                  </a:lnTo>
                  <a:lnTo>
                    <a:pt x="8979" y="4623"/>
                  </a:lnTo>
                  <a:lnTo>
                    <a:pt x="9344" y="4696"/>
                  </a:lnTo>
                  <a:lnTo>
                    <a:pt x="9685" y="4794"/>
                  </a:lnTo>
                  <a:lnTo>
                    <a:pt x="10049" y="4940"/>
                  </a:lnTo>
                  <a:lnTo>
                    <a:pt x="10390" y="5086"/>
                  </a:lnTo>
                  <a:lnTo>
                    <a:pt x="10706" y="5280"/>
                  </a:lnTo>
                  <a:lnTo>
                    <a:pt x="10998" y="5499"/>
                  </a:lnTo>
                  <a:lnTo>
                    <a:pt x="11363" y="5134"/>
                  </a:lnTo>
                  <a:lnTo>
                    <a:pt x="11704" y="4745"/>
                  </a:lnTo>
                  <a:lnTo>
                    <a:pt x="11874" y="4575"/>
                  </a:lnTo>
                  <a:lnTo>
                    <a:pt x="11801" y="4258"/>
                  </a:lnTo>
                  <a:lnTo>
                    <a:pt x="11777" y="3942"/>
                  </a:lnTo>
                  <a:lnTo>
                    <a:pt x="11728" y="3650"/>
                  </a:lnTo>
                  <a:lnTo>
                    <a:pt x="11680" y="3382"/>
                  </a:lnTo>
                  <a:lnTo>
                    <a:pt x="11169" y="3042"/>
                  </a:lnTo>
                  <a:lnTo>
                    <a:pt x="10925" y="2871"/>
                  </a:lnTo>
                  <a:lnTo>
                    <a:pt x="10633" y="2750"/>
                  </a:lnTo>
                  <a:lnTo>
                    <a:pt x="10147" y="2579"/>
                  </a:lnTo>
                  <a:lnTo>
                    <a:pt x="9685" y="2458"/>
                  </a:lnTo>
                  <a:lnTo>
                    <a:pt x="9174" y="2385"/>
                  </a:lnTo>
                  <a:lnTo>
                    <a:pt x="8687" y="23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" name="Title 7">
            <a:extLst>
              <a:ext uri="{FF2B5EF4-FFF2-40B4-BE49-F238E27FC236}">
                <a16:creationId xmlns:a16="http://schemas.microsoft.com/office/drawing/2014/main" id="{B1358E4A-5487-4686-B622-44933BC8C642}"/>
              </a:ext>
            </a:extLst>
          </p:cNvPr>
          <p:cNvSpPr txBox="1">
            <a:spLocks/>
          </p:cNvSpPr>
          <p:nvPr/>
        </p:nvSpPr>
        <p:spPr>
          <a:xfrm>
            <a:off x="717632" y="1133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3000" b="0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algn="l"/>
            <a:r>
              <a:rPr lang="bg-BG" sz="3200" b="1" dirty="0"/>
              <a:t>Задача 3</a:t>
            </a:r>
            <a:r>
              <a:rPr lang="en-US" sz="3200" b="1" dirty="0"/>
              <a:t> -</a:t>
            </a:r>
            <a:r>
              <a:rPr lang="bg-BG" sz="3200" b="1" dirty="0"/>
              <a:t> математически модел </a:t>
            </a:r>
            <a:endParaRPr lang="en-US" sz="3200" b="1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83792BE-367E-493F-8E20-4FF99D137C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/>
              <p:nvPr/>
            </p:nvSpPr>
            <p:spPr>
              <a:xfrm>
                <a:off x="966247" y="2204981"/>
                <a:ext cx="5797992" cy="3285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𝑿</m:t>
                      </m:r>
                      <m:r>
                        <a:rPr lang="en-US" sz="2000" b="1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: 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𝟏𝟏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𝟕𝟓𝟎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𝟐𝟑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𝟗𝟎𝟎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𝟑𝟑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𝟒𝟓𝟎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𝟐𝟎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𝟏𝟏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𝟏𝟓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𝟏𝟐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𝟏𝟑𝟎𝟎𝟎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𝟐𝟎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𝟏𝟓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𝟏𝟐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𝟐𝟑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𝟏𝟐𝟎𝟎𝟎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𝟐𝟎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𝟏𝟓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𝟏𝟐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𝟓𝟎𝟎𝟎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𝟑𝟏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𝟗𝟎𝟎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𝟏𝟐𝟎𝟎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𝟏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𝟐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𝟕𝟓𝟎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𝒊𝒋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≥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𝟎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𝒊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=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𝟐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𝟑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𝒋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=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𝟐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,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𝟑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47" y="2204981"/>
                <a:ext cx="5797992" cy="3285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98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978" y="838200"/>
            <a:ext cx="7367781" cy="5441950"/>
          </a:xfrm>
        </p:spPr>
        <p:txBody>
          <a:bodyPr>
            <a:normAutofit lnSpcReduction="10000"/>
          </a:bodyPr>
          <a:lstStyle/>
          <a:p>
            <a:r>
              <a:rPr lang="bg-BG" sz="1700" dirty="0"/>
              <a:t>Мебелна фабрика произвежда маси, столове, бюра и шкафове. За производството им фабриката разполага с наличност от 1500 метра дъски от </a:t>
            </a:r>
            <a:r>
              <a:rPr lang="en-US" sz="1700" dirty="0"/>
              <a:t>I-</a:t>
            </a:r>
            <a:r>
              <a:rPr lang="bg-BG" sz="1700" dirty="0"/>
              <a:t>ви тип, 1000 метра дъски от втори тип и 800 часа труд. Цените съответно на различните видове продукти са както следва – 12, 5, 15, 10. На ден могат да бъдат произведени не повече от 40 броя стола, не повече от 130 маси и не повече от 10 шкафа. Масите и столовете са в отношение 1:6. Прогнозите за продажби показват, че на ден се продават не по-малко от 30 бюра.</a:t>
            </a:r>
          </a:p>
          <a:p>
            <a:r>
              <a:rPr lang="bg-BG" sz="1700" dirty="0"/>
              <a:t>Производствените възможности на фабриката са зададени в следната таблица:</a:t>
            </a:r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r>
              <a:rPr lang="bg-BG" sz="1700" dirty="0"/>
              <a:t>Съставете математически модел за осигуряване на максимален доход на фабриката.</a:t>
            </a:r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F7666C5-1B1B-4B10-A547-34DA5792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</a:t>
            </a:r>
            <a:r>
              <a:rPr lang="en-US" sz="3600" dirty="0"/>
              <a:t>4</a:t>
            </a:r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27DF383-526E-4940-9C88-F24185B415F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graphicFrame>
        <p:nvGraphicFramePr>
          <p:cNvPr id="5" name="Shape 220">
            <a:extLst>
              <a:ext uri="{FF2B5EF4-FFF2-40B4-BE49-F238E27FC236}">
                <a16:creationId xmlns:a16="http://schemas.microsoft.com/office/drawing/2014/main" id="{906113BE-77C8-477B-B558-15B04B338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4912087"/>
              </p:ext>
            </p:extLst>
          </p:nvPr>
        </p:nvGraphicFramePr>
        <p:xfrm>
          <a:off x="1060828" y="3559175"/>
          <a:ext cx="6990080" cy="1566729"/>
        </p:xfrm>
        <a:graphic>
          <a:graphicData uri="http://schemas.openxmlformats.org/drawingml/2006/table">
            <a:tbl>
              <a:tblPr>
                <a:noFill/>
                <a:tableStyleId>{DE05D1AB-BAE4-4E3A-A547-ADA6829F2946}</a:tableStyleId>
              </a:tblPr>
              <a:tblGrid>
                <a:gridCol w="17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574">
                  <a:extLst>
                    <a:ext uri="{9D8B030D-6E8A-4147-A177-3AD203B41FA5}">
                      <a16:colId xmlns:a16="http://schemas.microsoft.com/office/drawing/2014/main" val="1277664891"/>
                    </a:ext>
                  </a:extLst>
                </a:gridCol>
              </a:tblGrid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 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Маси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Столове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Бюра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Шкафове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Дъски от тип </a:t>
                      </a:r>
                      <a:r>
                        <a:rPr lang="en-US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I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9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Дъски от тип </a:t>
                      </a:r>
                      <a:r>
                        <a:rPr lang="en-US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II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3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Трудови ресурси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3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28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4 - решение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/>
              <p:nvPr/>
            </p:nvSpPr>
            <p:spPr>
              <a:xfrm>
                <a:off x="1009006" y="936270"/>
                <a:ext cx="7125987" cy="1536118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dirty="0"/>
              </a:p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Неизвестни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 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количество маси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количество столове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bg-BG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количество бюра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bg-BG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количество шкафове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06" y="936270"/>
                <a:ext cx="7125987" cy="1536118"/>
              </a:xfrm>
              <a:prstGeom prst="rect">
                <a:avLst/>
              </a:prstGeom>
              <a:blipFill>
                <a:blip r:embed="rId2"/>
                <a:stretch>
                  <a:fillRect l="-341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/>
              <p:nvPr/>
            </p:nvSpPr>
            <p:spPr>
              <a:xfrm>
                <a:off x="990062" y="2725515"/>
                <a:ext cx="7125987" cy="123825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Целева функция: </a:t>
                </a:r>
              </a:p>
              <a:p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Основната цел е да максимизираме доходите на фабриката от продажби.</a:t>
                </a:r>
                <a:endParaRPr lang="en-US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𝒛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16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12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𝟏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𝟓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𝟐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bg-BG" sz="1600" b="1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𝟏𝟓</m:t>
                          </m:r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𝟑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𝟏𝟎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𝟒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→</m:t>
                      </m:r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𝒎𝒂𝒙</m:t>
                      </m:r>
                    </m:oMath>
                  </m:oMathPara>
                </a14:m>
                <a:endParaRPr lang="en-US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62" y="2725515"/>
                <a:ext cx="7125987" cy="1238257"/>
              </a:xfrm>
              <a:prstGeom prst="rect">
                <a:avLst/>
              </a:prstGeom>
              <a:blipFill>
                <a:blip r:embed="rId3"/>
                <a:stretch>
                  <a:fillRect l="-256" t="-4348" b="-1449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556B33B-C01C-41EF-867D-FA645C002B4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F19B35-ABBC-48A1-BCE7-031B2AAFD1BD}"/>
              </a:ext>
            </a:extLst>
          </p:cNvPr>
          <p:cNvSpPr/>
          <p:nvPr/>
        </p:nvSpPr>
        <p:spPr>
          <a:xfrm>
            <a:off x="1009006" y="4411490"/>
            <a:ext cx="7125987" cy="123825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g-BG" sz="16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Ограничения:</a:t>
            </a:r>
          </a:p>
          <a:p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Ограниченията са от гледна точка на налични ресурси и количество производство и продажби.</a:t>
            </a:r>
          </a:p>
          <a:p>
            <a:endParaRPr lang="bg-BG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03110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sym typeface="Arial"/>
                        </a:rPr>
                        <m:t>𝒛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𝒙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r>
                        <a:rPr lang="bg-BG" sz="2000" b="1" i="1">
                          <a:latin typeface="Cambria Math" panose="02040503050406030204" pitchFamily="18" charset="0"/>
                          <a:sym typeface="Arial"/>
                        </a:rPr>
                        <m:t>12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𝟏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r>
                        <a:rPr lang="bg-BG" sz="2000" b="1" i="1">
                          <a:latin typeface="Cambria Math" panose="02040503050406030204" pitchFamily="18" charset="0"/>
                          <a:sym typeface="Arial"/>
                        </a:rPr>
                        <m:t>𝟓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𝟐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bg-BG" sz="2000" b="1" i="1">
                              <a:latin typeface="Cambria Math" panose="02040503050406030204" pitchFamily="18" charset="0"/>
                              <a:sym typeface="Arial"/>
                            </a:rPr>
                            <m:t>𝟏𝟓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𝒙</m:t>
                          </m:r>
                        </m:e>
                        <m:sub>
                          <m:r>
                            <a:rPr lang="bg-BG" sz="2000" b="1" i="1">
                              <a:latin typeface="Cambria Math" panose="02040503050406030204" pitchFamily="18" charset="0"/>
                              <a:sym typeface="Arial"/>
                            </a:rPr>
                            <m:t>𝟑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r>
                        <a:rPr lang="bg-BG" sz="2000" b="1" i="1">
                          <a:latin typeface="Cambria Math" panose="02040503050406030204" pitchFamily="18" charset="0"/>
                          <a:sym typeface="Arial"/>
                        </a:rPr>
                        <m:t>𝟏𝟎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𝒙</m:t>
                          </m:r>
                        </m:e>
                        <m:sub>
                          <m:r>
                            <a:rPr lang="bg-BG" sz="2000" b="1" i="1">
                              <a:latin typeface="Cambria Math" panose="02040503050406030204" pitchFamily="18" charset="0"/>
                              <a:sym typeface="Arial"/>
                            </a:rPr>
                            <m:t>𝟒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  <a:sym typeface="Arial"/>
                        </a:rPr>
                        <m:t>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sym typeface="Arial"/>
                        </a:rPr>
                        <m:t>𝒎𝒂𝒙</m:t>
                      </m:r>
                    </m:oMath>
                  </m:oMathPara>
                </a14:m>
                <a:endParaRPr lang="bg-BG" sz="2000" b="1" i="1" dirty="0">
                  <a:latin typeface="Cambria Math" panose="02040503050406030204" pitchFamily="18" charset="0"/>
                  <a:sym typeface="Arial"/>
                </a:endParaRPr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053F4E6-5000-4F54-A983-EA35B653740D}"/>
              </a:ext>
            </a:extLst>
          </p:cNvPr>
          <p:cNvGrpSpPr/>
          <p:nvPr/>
        </p:nvGrpSpPr>
        <p:grpSpPr>
          <a:xfrm>
            <a:off x="1282988" y="5618491"/>
            <a:ext cx="4011466" cy="577850"/>
            <a:chOff x="4572000" y="5624511"/>
            <a:chExt cx="4011466" cy="577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76782C-36E0-494B-A1B9-9A07FF92AB9F}"/>
                </a:ext>
              </a:extLst>
            </p:cNvPr>
            <p:cNvSpPr/>
            <p:nvPr/>
          </p:nvSpPr>
          <p:spPr>
            <a:xfrm>
              <a:off x="4582966" y="5624511"/>
              <a:ext cx="4000500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Решете задачата в </a:t>
              </a:r>
              <a:r>
                <a: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Excel.</a:t>
              </a:r>
            </a:p>
          </p:txBody>
        </p:sp>
        <p:sp>
          <p:nvSpPr>
            <p:cNvPr id="15" name="Shape 375">
              <a:extLst>
                <a:ext uri="{FF2B5EF4-FFF2-40B4-BE49-F238E27FC236}">
                  <a16:creationId xmlns:a16="http://schemas.microsoft.com/office/drawing/2014/main" id="{D3FFFDB5-3F64-4721-BDE0-C607DD260E76}"/>
                </a:ext>
              </a:extLst>
            </p:cNvPr>
            <p:cNvSpPr/>
            <p:nvPr/>
          </p:nvSpPr>
          <p:spPr>
            <a:xfrm>
              <a:off x="4572000" y="5671284"/>
              <a:ext cx="387161" cy="402569"/>
            </a:xfrm>
            <a:custGeom>
              <a:avLst/>
              <a:gdLst/>
              <a:ahLst/>
              <a:cxnLst/>
              <a:rect l="0" t="0" r="0" b="0"/>
              <a:pathLst>
                <a:path w="17715" h="18420" extrusionOk="0">
                  <a:moveTo>
                    <a:pt x="14673" y="803"/>
                  </a:moveTo>
                  <a:lnTo>
                    <a:pt x="14746" y="1022"/>
                  </a:lnTo>
                  <a:lnTo>
                    <a:pt x="14794" y="1217"/>
                  </a:lnTo>
                  <a:lnTo>
                    <a:pt x="14843" y="1655"/>
                  </a:lnTo>
                  <a:lnTo>
                    <a:pt x="14892" y="2141"/>
                  </a:lnTo>
                  <a:lnTo>
                    <a:pt x="14916" y="2385"/>
                  </a:lnTo>
                  <a:lnTo>
                    <a:pt x="14940" y="2482"/>
                  </a:lnTo>
                  <a:lnTo>
                    <a:pt x="15013" y="2604"/>
                  </a:lnTo>
                  <a:lnTo>
                    <a:pt x="14770" y="2847"/>
                  </a:lnTo>
                  <a:lnTo>
                    <a:pt x="14697" y="2920"/>
                  </a:lnTo>
                  <a:lnTo>
                    <a:pt x="14648" y="2628"/>
                  </a:lnTo>
                  <a:lnTo>
                    <a:pt x="14600" y="2360"/>
                  </a:lnTo>
                  <a:lnTo>
                    <a:pt x="14527" y="2044"/>
                  </a:lnTo>
                  <a:lnTo>
                    <a:pt x="14405" y="1776"/>
                  </a:lnTo>
                  <a:lnTo>
                    <a:pt x="14308" y="1484"/>
                  </a:lnTo>
                  <a:lnTo>
                    <a:pt x="14210" y="1192"/>
                  </a:lnTo>
                  <a:lnTo>
                    <a:pt x="14673" y="803"/>
                  </a:lnTo>
                  <a:close/>
                  <a:moveTo>
                    <a:pt x="15695" y="2847"/>
                  </a:moveTo>
                  <a:lnTo>
                    <a:pt x="16400" y="2871"/>
                  </a:lnTo>
                  <a:lnTo>
                    <a:pt x="17106" y="2969"/>
                  </a:lnTo>
                  <a:lnTo>
                    <a:pt x="16984" y="3115"/>
                  </a:lnTo>
                  <a:lnTo>
                    <a:pt x="16960" y="3090"/>
                  </a:lnTo>
                  <a:lnTo>
                    <a:pt x="16887" y="3042"/>
                  </a:lnTo>
                  <a:lnTo>
                    <a:pt x="16790" y="2993"/>
                  </a:lnTo>
                  <a:lnTo>
                    <a:pt x="16595" y="2969"/>
                  </a:lnTo>
                  <a:lnTo>
                    <a:pt x="16400" y="2944"/>
                  </a:lnTo>
                  <a:lnTo>
                    <a:pt x="15914" y="2944"/>
                  </a:lnTo>
                  <a:lnTo>
                    <a:pt x="15622" y="2920"/>
                  </a:lnTo>
                  <a:lnTo>
                    <a:pt x="15695" y="2847"/>
                  </a:lnTo>
                  <a:close/>
                  <a:moveTo>
                    <a:pt x="14040" y="1314"/>
                  </a:moveTo>
                  <a:lnTo>
                    <a:pt x="14040" y="1484"/>
                  </a:lnTo>
                  <a:lnTo>
                    <a:pt x="14064" y="1655"/>
                  </a:lnTo>
                  <a:lnTo>
                    <a:pt x="14137" y="2020"/>
                  </a:lnTo>
                  <a:lnTo>
                    <a:pt x="14283" y="2871"/>
                  </a:lnTo>
                  <a:lnTo>
                    <a:pt x="14308" y="3066"/>
                  </a:lnTo>
                  <a:lnTo>
                    <a:pt x="14332" y="3236"/>
                  </a:lnTo>
                  <a:lnTo>
                    <a:pt x="14162" y="3382"/>
                  </a:lnTo>
                  <a:lnTo>
                    <a:pt x="14137" y="3139"/>
                  </a:lnTo>
                  <a:lnTo>
                    <a:pt x="14040" y="2871"/>
                  </a:lnTo>
                  <a:lnTo>
                    <a:pt x="13870" y="2433"/>
                  </a:lnTo>
                  <a:lnTo>
                    <a:pt x="13748" y="2068"/>
                  </a:lnTo>
                  <a:lnTo>
                    <a:pt x="13675" y="1703"/>
                  </a:lnTo>
                  <a:lnTo>
                    <a:pt x="13651" y="1630"/>
                  </a:lnTo>
                  <a:lnTo>
                    <a:pt x="13699" y="1582"/>
                  </a:lnTo>
                  <a:lnTo>
                    <a:pt x="14040" y="1314"/>
                  </a:lnTo>
                  <a:close/>
                  <a:moveTo>
                    <a:pt x="13359" y="1898"/>
                  </a:moveTo>
                  <a:lnTo>
                    <a:pt x="13432" y="2239"/>
                  </a:lnTo>
                  <a:lnTo>
                    <a:pt x="13553" y="2677"/>
                  </a:lnTo>
                  <a:lnTo>
                    <a:pt x="13699" y="3090"/>
                  </a:lnTo>
                  <a:lnTo>
                    <a:pt x="13772" y="3358"/>
                  </a:lnTo>
                  <a:lnTo>
                    <a:pt x="13821" y="3480"/>
                  </a:lnTo>
                  <a:lnTo>
                    <a:pt x="13894" y="3601"/>
                  </a:lnTo>
                  <a:lnTo>
                    <a:pt x="13724" y="3723"/>
                  </a:lnTo>
                  <a:lnTo>
                    <a:pt x="13699" y="3577"/>
                  </a:lnTo>
                  <a:lnTo>
                    <a:pt x="13675" y="3407"/>
                  </a:lnTo>
                  <a:lnTo>
                    <a:pt x="13578" y="3090"/>
                  </a:lnTo>
                  <a:lnTo>
                    <a:pt x="13529" y="2798"/>
                  </a:lnTo>
                  <a:lnTo>
                    <a:pt x="13456" y="2531"/>
                  </a:lnTo>
                  <a:lnTo>
                    <a:pt x="13383" y="2239"/>
                  </a:lnTo>
                  <a:lnTo>
                    <a:pt x="13237" y="1995"/>
                  </a:lnTo>
                  <a:lnTo>
                    <a:pt x="13359" y="1898"/>
                  </a:lnTo>
                  <a:close/>
                  <a:moveTo>
                    <a:pt x="15378" y="3188"/>
                  </a:moveTo>
                  <a:lnTo>
                    <a:pt x="15500" y="3236"/>
                  </a:lnTo>
                  <a:lnTo>
                    <a:pt x="15646" y="3261"/>
                  </a:lnTo>
                  <a:lnTo>
                    <a:pt x="15914" y="3285"/>
                  </a:lnTo>
                  <a:lnTo>
                    <a:pt x="16790" y="3358"/>
                  </a:lnTo>
                  <a:lnTo>
                    <a:pt x="16473" y="3723"/>
                  </a:lnTo>
                  <a:lnTo>
                    <a:pt x="16449" y="3650"/>
                  </a:lnTo>
                  <a:lnTo>
                    <a:pt x="16425" y="3601"/>
                  </a:lnTo>
                  <a:lnTo>
                    <a:pt x="16376" y="3553"/>
                  </a:lnTo>
                  <a:lnTo>
                    <a:pt x="16303" y="3528"/>
                  </a:lnTo>
                  <a:lnTo>
                    <a:pt x="16084" y="3455"/>
                  </a:lnTo>
                  <a:lnTo>
                    <a:pt x="15816" y="3431"/>
                  </a:lnTo>
                  <a:lnTo>
                    <a:pt x="15573" y="3431"/>
                  </a:lnTo>
                  <a:lnTo>
                    <a:pt x="15330" y="3455"/>
                  </a:lnTo>
                  <a:lnTo>
                    <a:pt x="15086" y="3455"/>
                  </a:lnTo>
                  <a:lnTo>
                    <a:pt x="15135" y="3431"/>
                  </a:lnTo>
                  <a:lnTo>
                    <a:pt x="15378" y="3188"/>
                  </a:lnTo>
                  <a:close/>
                  <a:moveTo>
                    <a:pt x="13067" y="2166"/>
                  </a:moveTo>
                  <a:lnTo>
                    <a:pt x="13115" y="2628"/>
                  </a:lnTo>
                  <a:lnTo>
                    <a:pt x="13164" y="3042"/>
                  </a:lnTo>
                  <a:lnTo>
                    <a:pt x="13188" y="3285"/>
                  </a:lnTo>
                  <a:lnTo>
                    <a:pt x="13213" y="3553"/>
                  </a:lnTo>
                  <a:lnTo>
                    <a:pt x="13261" y="3699"/>
                  </a:lnTo>
                  <a:lnTo>
                    <a:pt x="13286" y="3820"/>
                  </a:lnTo>
                  <a:lnTo>
                    <a:pt x="13359" y="3942"/>
                  </a:lnTo>
                  <a:lnTo>
                    <a:pt x="13432" y="4015"/>
                  </a:lnTo>
                  <a:lnTo>
                    <a:pt x="13213" y="4234"/>
                  </a:lnTo>
                  <a:lnTo>
                    <a:pt x="13140" y="3845"/>
                  </a:lnTo>
                  <a:lnTo>
                    <a:pt x="13042" y="3480"/>
                  </a:lnTo>
                  <a:lnTo>
                    <a:pt x="12994" y="3236"/>
                  </a:lnTo>
                  <a:lnTo>
                    <a:pt x="12921" y="2969"/>
                  </a:lnTo>
                  <a:lnTo>
                    <a:pt x="12823" y="2701"/>
                  </a:lnTo>
                  <a:lnTo>
                    <a:pt x="12702" y="2482"/>
                  </a:lnTo>
                  <a:lnTo>
                    <a:pt x="12872" y="2336"/>
                  </a:lnTo>
                  <a:lnTo>
                    <a:pt x="13067" y="2166"/>
                  </a:lnTo>
                  <a:close/>
                  <a:moveTo>
                    <a:pt x="14648" y="3796"/>
                  </a:moveTo>
                  <a:lnTo>
                    <a:pt x="14819" y="3869"/>
                  </a:lnTo>
                  <a:lnTo>
                    <a:pt x="15013" y="3893"/>
                  </a:lnTo>
                  <a:lnTo>
                    <a:pt x="15232" y="3918"/>
                  </a:lnTo>
                  <a:lnTo>
                    <a:pt x="16035" y="3918"/>
                  </a:lnTo>
                  <a:lnTo>
                    <a:pt x="16181" y="3966"/>
                  </a:lnTo>
                  <a:lnTo>
                    <a:pt x="16230" y="3966"/>
                  </a:lnTo>
                  <a:lnTo>
                    <a:pt x="16011" y="4185"/>
                  </a:lnTo>
                  <a:lnTo>
                    <a:pt x="15938" y="4258"/>
                  </a:lnTo>
                  <a:lnTo>
                    <a:pt x="15816" y="4210"/>
                  </a:lnTo>
                  <a:lnTo>
                    <a:pt x="15695" y="4161"/>
                  </a:lnTo>
                  <a:lnTo>
                    <a:pt x="15403" y="4137"/>
                  </a:lnTo>
                  <a:lnTo>
                    <a:pt x="14916" y="4137"/>
                  </a:lnTo>
                  <a:lnTo>
                    <a:pt x="14600" y="4112"/>
                  </a:lnTo>
                  <a:lnTo>
                    <a:pt x="14259" y="4112"/>
                  </a:lnTo>
                  <a:lnTo>
                    <a:pt x="14648" y="3796"/>
                  </a:lnTo>
                  <a:close/>
                  <a:moveTo>
                    <a:pt x="13943" y="4404"/>
                  </a:moveTo>
                  <a:lnTo>
                    <a:pt x="14283" y="4453"/>
                  </a:lnTo>
                  <a:lnTo>
                    <a:pt x="14648" y="4502"/>
                  </a:lnTo>
                  <a:lnTo>
                    <a:pt x="15354" y="4550"/>
                  </a:lnTo>
                  <a:lnTo>
                    <a:pt x="15524" y="4575"/>
                  </a:lnTo>
                  <a:lnTo>
                    <a:pt x="15330" y="4745"/>
                  </a:lnTo>
                  <a:lnTo>
                    <a:pt x="15184" y="4915"/>
                  </a:lnTo>
                  <a:lnTo>
                    <a:pt x="14697" y="4818"/>
                  </a:lnTo>
                  <a:lnTo>
                    <a:pt x="14186" y="4745"/>
                  </a:lnTo>
                  <a:lnTo>
                    <a:pt x="13699" y="4672"/>
                  </a:lnTo>
                  <a:lnTo>
                    <a:pt x="13797" y="4550"/>
                  </a:lnTo>
                  <a:lnTo>
                    <a:pt x="13943" y="4404"/>
                  </a:lnTo>
                  <a:close/>
                  <a:moveTo>
                    <a:pt x="14721" y="0"/>
                  </a:moveTo>
                  <a:lnTo>
                    <a:pt x="14673" y="24"/>
                  </a:lnTo>
                  <a:lnTo>
                    <a:pt x="14600" y="49"/>
                  </a:lnTo>
                  <a:lnTo>
                    <a:pt x="14551" y="97"/>
                  </a:lnTo>
                  <a:lnTo>
                    <a:pt x="14235" y="389"/>
                  </a:lnTo>
                  <a:lnTo>
                    <a:pt x="13894" y="681"/>
                  </a:lnTo>
                  <a:lnTo>
                    <a:pt x="13213" y="1217"/>
                  </a:lnTo>
                  <a:lnTo>
                    <a:pt x="12921" y="1460"/>
                  </a:lnTo>
                  <a:lnTo>
                    <a:pt x="12775" y="1606"/>
                  </a:lnTo>
                  <a:lnTo>
                    <a:pt x="12629" y="1752"/>
                  </a:lnTo>
                  <a:lnTo>
                    <a:pt x="12507" y="1922"/>
                  </a:lnTo>
                  <a:lnTo>
                    <a:pt x="12385" y="2093"/>
                  </a:lnTo>
                  <a:lnTo>
                    <a:pt x="12337" y="2263"/>
                  </a:lnTo>
                  <a:lnTo>
                    <a:pt x="12312" y="2458"/>
                  </a:lnTo>
                  <a:lnTo>
                    <a:pt x="12337" y="2506"/>
                  </a:lnTo>
                  <a:lnTo>
                    <a:pt x="12312" y="2531"/>
                  </a:lnTo>
                  <a:lnTo>
                    <a:pt x="12337" y="2774"/>
                  </a:lnTo>
                  <a:lnTo>
                    <a:pt x="12385" y="3017"/>
                  </a:lnTo>
                  <a:lnTo>
                    <a:pt x="12507" y="3504"/>
                  </a:lnTo>
                  <a:lnTo>
                    <a:pt x="12531" y="3796"/>
                  </a:lnTo>
                  <a:lnTo>
                    <a:pt x="12580" y="4137"/>
                  </a:lnTo>
                  <a:lnTo>
                    <a:pt x="12629" y="4453"/>
                  </a:lnTo>
                  <a:lnTo>
                    <a:pt x="12677" y="4599"/>
                  </a:lnTo>
                  <a:lnTo>
                    <a:pt x="12750" y="4745"/>
                  </a:lnTo>
                  <a:lnTo>
                    <a:pt x="12288" y="5256"/>
                  </a:lnTo>
                  <a:lnTo>
                    <a:pt x="11972" y="5621"/>
                  </a:lnTo>
                  <a:lnTo>
                    <a:pt x="11631" y="5961"/>
                  </a:lnTo>
                  <a:lnTo>
                    <a:pt x="10925" y="6643"/>
                  </a:lnTo>
                  <a:lnTo>
                    <a:pt x="10220" y="7300"/>
                  </a:lnTo>
                  <a:lnTo>
                    <a:pt x="9490" y="7981"/>
                  </a:lnTo>
                  <a:lnTo>
                    <a:pt x="9125" y="8370"/>
                  </a:lnTo>
                  <a:lnTo>
                    <a:pt x="8760" y="8760"/>
                  </a:lnTo>
                  <a:lnTo>
                    <a:pt x="8371" y="9149"/>
                  </a:lnTo>
                  <a:lnTo>
                    <a:pt x="8006" y="9538"/>
                  </a:lnTo>
                  <a:lnTo>
                    <a:pt x="7884" y="9490"/>
                  </a:lnTo>
                  <a:lnTo>
                    <a:pt x="7665" y="9490"/>
                  </a:lnTo>
                  <a:lnTo>
                    <a:pt x="7568" y="9514"/>
                  </a:lnTo>
                  <a:lnTo>
                    <a:pt x="7422" y="9538"/>
                  </a:lnTo>
                  <a:lnTo>
                    <a:pt x="7276" y="9587"/>
                  </a:lnTo>
                  <a:lnTo>
                    <a:pt x="7154" y="9684"/>
                  </a:lnTo>
                  <a:lnTo>
                    <a:pt x="7057" y="9830"/>
                  </a:lnTo>
                  <a:lnTo>
                    <a:pt x="6984" y="9976"/>
                  </a:lnTo>
                  <a:lnTo>
                    <a:pt x="6935" y="10147"/>
                  </a:lnTo>
                  <a:lnTo>
                    <a:pt x="6959" y="10317"/>
                  </a:lnTo>
                  <a:lnTo>
                    <a:pt x="7008" y="10487"/>
                  </a:lnTo>
                  <a:lnTo>
                    <a:pt x="7105" y="10633"/>
                  </a:lnTo>
                  <a:lnTo>
                    <a:pt x="7251" y="10755"/>
                  </a:lnTo>
                  <a:lnTo>
                    <a:pt x="7397" y="10828"/>
                  </a:lnTo>
                  <a:lnTo>
                    <a:pt x="7568" y="10877"/>
                  </a:lnTo>
                  <a:lnTo>
                    <a:pt x="7738" y="10901"/>
                  </a:lnTo>
                  <a:lnTo>
                    <a:pt x="7884" y="10877"/>
                  </a:lnTo>
                  <a:lnTo>
                    <a:pt x="8006" y="10804"/>
                  </a:lnTo>
                  <a:lnTo>
                    <a:pt x="8127" y="10731"/>
                  </a:lnTo>
                  <a:lnTo>
                    <a:pt x="8225" y="10633"/>
                  </a:lnTo>
                  <a:lnTo>
                    <a:pt x="8298" y="10512"/>
                  </a:lnTo>
                  <a:lnTo>
                    <a:pt x="8346" y="10390"/>
                  </a:lnTo>
                  <a:lnTo>
                    <a:pt x="8371" y="10244"/>
                  </a:lnTo>
                  <a:lnTo>
                    <a:pt x="8371" y="10098"/>
                  </a:lnTo>
                  <a:lnTo>
                    <a:pt x="8371" y="10049"/>
                  </a:lnTo>
                  <a:lnTo>
                    <a:pt x="8711" y="9733"/>
                  </a:lnTo>
                  <a:lnTo>
                    <a:pt x="9003" y="9392"/>
                  </a:lnTo>
                  <a:lnTo>
                    <a:pt x="9295" y="9052"/>
                  </a:lnTo>
                  <a:lnTo>
                    <a:pt x="9587" y="8760"/>
                  </a:lnTo>
                  <a:lnTo>
                    <a:pt x="10317" y="8054"/>
                  </a:lnTo>
                  <a:lnTo>
                    <a:pt x="11047" y="7373"/>
                  </a:lnTo>
                  <a:lnTo>
                    <a:pt x="11777" y="6691"/>
                  </a:lnTo>
                  <a:lnTo>
                    <a:pt x="12507" y="5986"/>
                  </a:lnTo>
                  <a:lnTo>
                    <a:pt x="12896" y="5548"/>
                  </a:lnTo>
                  <a:lnTo>
                    <a:pt x="13310" y="5086"/>
                  </a:lnTo>
                  <a:lnTo>
                    <a:pt x="13529" y="5159"/>
                  </a:lnTo>
                  <a:lnTo>
                    <a:pt x="13748" y="5207"/>
                  </a:lnTo>
                  <a:lnTo>
                    <a:pt x="14186" y="5280"/>
                  </a:lnTo>
                  <a:lnTo>
                    <a:pt x="14648" y="5353"/>
                  </a:lnTo>
                  <a:lnTo>
                    <a:pt x="15086" y="5426"/>
                  </a:lnTo>
                  <a:lnTo>
                    <a:pt x="15184" y="5426"/>
                  </a:lnTo>
                  <a:lnTo>
                    <a:pt x="15281" y="5402"/>
                  </a:lnTo>
                  <a:lnTo>
                    <a:pt x="15354" y="5353"/>
                  </a:lnTo>
                  <a:lnTo>
                    <a:pt x="15403" y="5280"/>
                  </a:lnTo>
                  <a:lnTo>
                    <a:pt x="15524" y="5207"/>
                  </a:lnTo>
                  <a:lnTo>
                    <a:pt x="15670" y="5134"/>
                  </a:lnTo>
                  <a:lnTo>
                    <a:pt x="15938" y="4940"/>
                  </a:lnTo>
                  <a:lnTo>
                    <a:pt x="16352" y="4526"/>
                  </a:lnTo>
                  <a:lnTo>
                    <a:pt x="16692" y="4210"/>
                  </a:lnTo>
                  <a:lnTo>
                    <a:pt x="17009" y="3869"/>
                  </a:lnTo>
                  <a:lnTo>
                    <a:pt x="17325" y="3504"/>
                  </a:lnTo>
                  <a:lnTo>
                    <a:pt x="17617" y="3115"/>
                  </a:lnTo>
                  <a:lnTo>
                    <a:pt x="17641" y="3066"/>
                  </a:lnTo>
                  <a:lnTo>
                    <a:pt x="17666" y="3017"/>
                  </a:lnTo>
                  <a:lnTo>
                    <a:pt x="17641" y="2896"/>
                  </a:lnTo>
                  <a:lnTo>
                    <a:pt x="17690" y="2774"/>
                  </a:lnTo>
                  <a:lnTo>
                    <a:pt x="17714" y="2701"/>
                  </a:lnTo>
                  <a:lnTo>
                    <a:pt x="17690" y="2652"/>
                  </a:lnTo>
                  <a:lnTo>
                    <a:pt x="17690" y="2579"/>
                  </a:lnTo>
                  <a:lnTo>
                    <a:pt x="17641" y="2531"/>
                  </a:lnTo>
                  <a:lnTo>
                    <a:pt x="17593" y="2506"/>
                  </a:lnTo>
                  <a:lnTo>
                    <a:pt x="17495" y="2482"/>
                  </a:lnTo>
                  <a:lnTo>
                    <a:pt x="16838" y="2360"/>
                  </a:lnTo>
                  <a:lnTo>
                    <a:pt x="16473" y="2312"/>
                  </a:lnTo>
                  <a:lnTo>
                    <a:pt x="16108" y="2287"/>
                  </a:lnTo>
                  <a:lnTo>
                    <a:pt x="16303" y="2068"/>
                  </a:lnTo>
                  <a:lnTo>
                    <a:pt x="16522" y="1801"/>
                  </a:lnTo>
                  <a:lnTo>
                    <a:pt x="16790" y="1582"/>
                  </a:lnTo>
                  <a:lnTo>
                    <a:pt x="17033" y="1338"/>
                  </a:lnTo>
                  <a:lnTo>
                    <a:pt x="17276" y="1095"/>
                  </a:lnTo>
                  <a:lnTo>
                    <a:pt x="17325" y="1022"/>
                  </a:lnTo>
                  <a:lnTo>
                    <a:pt x="17374" y="949"/>
                  </a:lnTo>
                  <a:lnTo>
                    <a:pt x="17374" y="876"/>
                  </a:lnTo>
                  <a:lnTo>
                    <a:pt x="17374" y="803"/>
                  </a:lnTo>
                  <a:lnTo>
                    <a:pt x="17325" y="681"/>
                  </a:lnTo>
                  <a:lnTo>
                    <a:pt x="17252" y="560"/>
                  </a:lnTo>
                  <a:lnTo>
                    <a:pt x="17155" y="487"/>
                  </a:lnTo>
                  <a:lnTo>
                    <a:pt x="17009" y="438"/>
                  </a:lnTo>
                  <a:lnTo>
                    <a:pt x="16960" y="462"/>
                  </a:lnTo>
                  <a:lnTo>
                    <a:pt x="16887" y="462"/>
                  </a:lnTo>
                  <a:lnTo>
                    <a:pt x="16838" y="511"/>
                  </a:lnTo>
                  <a:lnTo>
                    <a:pt x="16765" y="560"/>
                  </a:lnTo>
                  <a:lnTo>
                    <a:pt x="16571" y="803"/>
                  </a:lnTo>
                  <a:lnTo>
                    <a:pt x="16352" y="1022"/>
                  </a:lnTo>
                  <a:lnTo>
                    <a:pt x="16133" y="1241"/>
                  </a:lnTo>
                  <a:lnTo>
                    <a:pt x="15914" y="1460"/>
                  </a:lnTo>
                  <a:lnTo>
                    <a:pt x="15500" y="1971"/>
                  </a:lnTo>
                  <a:lnTo>
                    <a:pt x="15427" y="1436"/>
                  </a:lnTo>
                  <a:lnTo>
                    <a:pt x="15354" y="1095"/>
                  </a:lnTo>
                  <a:lnTo>
                    <a:pt x="15281" y="779"/>
                  </a:lnTo>
                  <a:lnTo>
                    <a:pt x="15184" y="462"/>
                  </a:lnTo>
                  <a:lnTo>
                    <a:pt x="15111" y="292"/>
                  </a:lnTo>
                  <a:lnTo>
                    <a:pt x="15013" y="146"/>
                  </a:lnTo>
                  <a:lnTo>
                    <a:pt x="14965" y="97"/>
                  </a:lnTo>
                  <a:lnTo>
                    <a:pt x="14916" y="49"/>
                  </a:lnTo>
                  <a:lnTo>
                    <a:pt x="14794" y="24"/>
                  </a:lnTo>
                  <a:lnTo>
                    <a:pt x="14721" y="0"/>
                  </a:lnTo>
                  <a:close/>
                  <a:moveTo>
                    <a:pt x="7543" y="6691"/>
                  </a:moveTo>
                  <a:lnTo>
                    <a:pt x="7203" y="6716"/>
                  </a:lnTo>
                  <a:lnTo>
                    <a:pt x="6886" y="6789"/>
                  </a:lnTo>
                  <a:lnTo>
                    <a:pt x="6570" y="6862"/>
                  </a:lnTo>
                  <a:lnTo>
                    <a:pt x="6254" y="6983"/>
                  </a:lnTo>
                  <a:lnTo>
                    <a:pt x="5962" y="7105"/>
                  </a:lnTo>
                  <a:lnTo>
                    <a:pt x="5670" y="7275"/>
                  </a:lnTo>
                  <a:lnTo>
                    <a:pt x="5402" y="7470"/>
                  </a:lnTo>
                  <a:lnTo>
                    <a:pt x="5159" y="7713"/>
                  </a:lnTo>
                  <a:lnTo>
                    <a:pt x="4940" y="7957"/>
                  </a:lnTo>
                  <a:lnTo>
                    <a:pt x="4745" y="8249"/>
                  </a:lnTo>
                  <a:lnTo>
                    <a:pt x="4599" y="8565"/>
                  </a:lnTo>
                  <a:lnTo>
                    <a:pt x="4477" y="8857"/>
                  </a:lnTo>
                  <a:lnTo>
                    <a:pt x="4380" y="9149"/>
                  </a:lnTo>
                  <a:lnTo>
                    <a:pt x="4307" y="9441"/>
                  </a:lnTo>
                  <a:lnTo>
                    <a:pt x="4258" y="9733"/>
                  </a:lnTo>
                  <a:lnTo>
                    <a:pt x="4234" y="10025"/>
                  </a:lnTo>
                  <a:lnTo>
                    <a:pt x="4234" y="10317"/>
                  </a:lnTo>
                  <a:lnTo>
                    <a:pt x="4258" y="10609"/>
                  </a:lnTo>
                  <a:lnTo>
                    <a:pt x="4307" y="10901"/>
                  </a:lnTo>
                  <a:lnTo>
                    <a:pt x="4356" y="11193"/>
                  </a:lnTo>
                  <a:lnTo>
                    <a:pt x="4453" y="11461"/>
                  </a:lnTo>
                  <a:lnTo>
                    <a:pt x="4550" y="11728"/>
                  </a:lnTo>
                  <a:lnTo>
                    <a:pt x="4696" y="11996"/>
                  </a:lnTo>
                  <a:lnTo>
                    <a:pt x="4842" y="12239"/>
                  </a:lnTo>
                  <a:lnTo>
                    <a:pt x="5013" y="12458"/>
                  </a:lnTo>
                  <a:lnTo>
                    <a:pt x="5207" y="12677"/>
                  </a:lnTo>
                  <a:lnTo>
                    <a:pt x="5426" y="12872"/>
                  </a:lnTo>
                  <a:lnTo>
                    <a:pt x="5670" y="13067"/>
                  </a:lnTo>
                  <a:lnTo>
                    <a:pt x="5913" y="13213"/>
                  </a:lnTo>
                  <a:lnTo>
                    <a:pt x="6181" y="13334"/>
                  </a:lnTo>
                  <a:lnTo>
                    <a:pt x="6473" y="13456"/>
                  </a:lnTo>
                  <a:lnTo>
                    <a:pt x="6740" y="13529"/>
                  </a:lnTo>
                  <a:lnTo>
                    <a:pt x="7032" y="13602"/>
                  </a:lnTo>
                  <a:lnTo>
                    <a:pt x="7324" y="13650"/>
                  </a:lnTo>
                  <a:lnTo>
                    <a:pt x="7933" y="13650"/>
                  </a:lnTo>
                  <a:lnTo>
                    <a:pt x="8225" y="13626"/>
                  </a:lnTo>
                  <a:lnTo>
                    <a:pt x="8541" y="13577"/>
                  </a:lnTo>
                  <a:lnTo>
                    <a:pt x="8833" y="13505"/>
                  </a:lnTo>
                  <a:lnTo>
                    <a:pt x="9125" y="13407"/>
                  </a:lnTo>
                  <a:lnTo>
                    <a:pt x="9393" y="13310"/>
                  </a:lnTo>
                  <a:lnTo>
                    <a:pt x="9660" y="13164"/>
                  </a:lnTo>
                  <a:lnTo>
                    <a:pt x="9903" y="12994"/>
                  </a:lnTo>
                  <a:lnTo>
                    <a:pt x="10147" y="12823"/>
                  </a:lnTo>
                  <a:lnTo>
                    <a:pt x="10390" y="12604"/>
                  </a:lnTo>
                  <a:lnTo>
                    <a:pt x="10585" y="12361"/>
                  </a:lnTo>
                  <a:lnTo>
                    <a:pt x="10779" y="12118"/>
                  </a:lnTo>
                  <a:lnTo>
                    <a:pt x="10925" y="11826"/>
                  </a:lnTo>
                  <a:lnTo>
                    <a:pt x="11071" y="11558"/>
                  </a:lnTo>
                  <a:lnTo>
                    <a:pt x="11193" y="11242"/>
                  </a:lnTo>
                  <a:lnTo>
                    <a:pt x="11266" y="10950"/>
                  </a:lnTo>
                  <a:lnTo>
                    <a:pt x="11339" y="10633"/>
                  </a:lnTo>
                  <a:lnTo>
                    <a:pt x="11388" y="10317"/>
                  </a:lnTo>
                  <a:lnTo>
                    <a:pt x="11388" y="9976"/>
                  </a:lnTo>
                  <a:lnTo>
                    <a:pt x="11363" y="9660"/>
                  </a:lnTo>
                  <a:lnTo>
                    <a:pt x="11315" y="9368"/>
                  </a:lnTo>
                  <a:lnTo>
                    <a:pt x="11242" y="9052"/>
                  </a:lnTo>
                  <a:lnTo>
                    <a:pt x="11120" y="8760"/>
                  </a:lnTo>
                  <a:lnTo>
                    <a:pt x="10974" y="8492"/>
                  </a:lnTo>
                  <a:lnTo>
                    <a:pt x="10147" y="9295"/>
                  </a:lnTo>
                  <a:lnTo>
                    <a:pt x="9733" y="9733"/>
                  </a:lnTo>
                  <a:lnTo>
                    <a:pt x="9636" y="9855"/>
                  </a:lnTo>
                  <a:lnTo>
                    <a:pt x="9636" y="9879"/>
                  </a:lnTo>
                  <a:lnTo>
                    <a:pt x="9636" y="10244"/>
                  </a:lnTo>
                  <a:lnTo>
                    <a:pt x="9587" y="10609"/>
                  </a:lnTo>
                  <a:lnTo>
                    <a:pt x="9539" y="10779"/>
                  </a:lnTo>
                  <a:lnTo>
                    <a:pt x="9466" y="10950"/>
                  </a:lnTo>
                  <a:lnTo>
                    <a:pt x="9393" y="11096"/>
                  </a:lnTo>
                  <a:lnTo>
                    <a:pt x="9295" y="11242"/>
                  </a:lnTo>
                  <a:lnTo>
                    <a:pt x="9149" y="11363"/>
                  </a:lnTo>
                  <a:lnTo>
                    <a:pt x="9003" y="11485"/>
                  </a:lnTo>
                  <a:lnTo>
                    <a:pt x="8882" y="11582"/>
                  </a:lnTo>
                  <a:lnTo>
                    <a:pt x="8736" y="11655"/>
                  </a:lnTo>
                  <a:lnTo>
                    <a:pt x="8590" y="11704"/>
                  </a:lnTo>
                  <a:lnTo>
                    <a:pt x="8444" y="11728"/>
                  </a:lnTo>
                  <a:lnTo>
                    <a:pt x="8127" y="11777"/>
                  </a:lnTo>
                  <a:lnTo>
                    <a:pt x="7811" y="11777"/>
                  </a:lnTo>
                  <a:lnTo>
                    <a:pt x="7470" y="11728"/>
                  </a:lnTo>
                  <a:lnTo>
                    <a:pt x="7178" y="11631"/>
                  </a:lnTo>
                  <a:lnTo>
                    <a:pt x="6886" y="11509"/>
                  </a:lnTo>
                  <a:lnTo>
                    <a:pt x="6643" y="11339"/>
                  </a:lnTo>
                  <a:lnTo>
                    <a:pt x="6521" y="11217"/>
                  </a:lnTo>
                  <a:lnTo>
                    <a:pt x="6400" y="11096"/>
                  </a:lnTo>
                  <a:lnTo>
                    <a:pt x="6327" y="10974"/>
                  </a:lnTo>
                  <a:lnTo>
                    <a:pt x="6254" y="10852"/>
                  </a:lnTo>
                  <a:lnTo>
                    <a:pt x="6132" y="10560"/>
                  </a:lnTo>
                  <a:lnTo>
                    <a:pt x="6059" y="10244"/>
                  </a:lnTo>
                  <a:lnTo>
                    <a:pt x="6059" y="9928"/>
                  </a:lnTo>
                  <a:lnTo>
                    <a:pt x="6083" y="9636"/>
                  </a:lnTo>
                  <a:lnTo>
                    <a:pt x="6181" y="9319"/>
                  </a:lnTo>
                  <a:lnTo>
                    <a:pt x="6302" y="9052"/>
                  </a:lnTo>
                  <a:lnTo>
                    <a:pt x="6400" y="8906"/>
                  </a:lnTo>
                  <a:lnTo>
                    <a:pt x="6497" y="8808"/>
                  </a:lnTo>
                  <a:lnTo>
                    <a:pt x="6594" y="8687"/>
                  </a:lnTo>
                  <a:lnTo>
                    <a:pt x="6716" y="8614"/>
                  </a:lnTo>
                  <a:lnTo>
                    <a:pt x="6984" y="8468"/>
                  </a:lnTo>
                  <a:lnTo>
                    <a:pt x="7276" y="8370"/>
                  </a:lnTo>
                  <a:lnTo>
                    <a:pt x="7495" y="8322"/>
                  </a:lnTo>
                  <a:lnTo>
                    <a:pt x="7689" y="8322"/>
                  </a:lnTo>
                  <a:lnTo>
                    <a:pt x="8054" y="8370"/>
                  </a:lnTo>
                  <a:lnTo>
                    <a:pt x="8200" y="8200"/>
                  </a:lnTo>
                  <a:lnTo>
                    <a:pt x="8565" y="7811"/>
                  </a:lnTo>
                  <a:lnTo>
                    <a:pt x="8955" y="7421"/>
                  </a:lnTo>
                  <a:lnTo>
                    <a:pt x="9344" y="7032"/>
                  </a:lnTo>
                  <a:lnTo>
                    <a:pt x="9295" y="6983"/>
                  </a:lnTo>
                  <a:lnTo>
                    <a:pt x="9247" y="6959"/>
                  </a:lnTo>
                  <a:lnTo>
                    <a:pt x="8906" y="6862"/>
                  </a:lnTo>
                  <a:lnTo>
                    <a:pt x="8565" y="6764"/>
                  </a:lnTo>
                  <a:lnTo>
                    <a:pt x="8225" y="6716"/>
                  </a:lnTo>
                  <a:lnTo>
                    <a:pt x="7884" y="6691"/>
                  </a:lnTo>
                  <a:close/>
                  <a:moveTo>
                    <a:pt x="13407" y="15621"/>
                  </a:moveTo>
                  <a:lnTo>
                    <a:pt x="13505" y="15694"/>
                  </a:lnTo>
                  <a:lnTo>
                    <a:pt x="13310" y="15865"/>
                  </a:lnTo>
                  <a:lnTo>
                    <a:pt x="13213" y="15962"/>
                  </a:lnTo>
                  <a:lnTo>
                    <a:pt x="13115" y="16059"/>
                  </a:lnTo>
                  <a:lnTo>
                    <a:pt x="12969" y="16278"/>
                  </a:lnTo>
                  <a:lnTo>
                    <a:pt x="12969" y="16303"/>
                  </a:lnTo>
                  <a:lnTo>
                    <a:pt x="12969" y="16351"/>
                  </a:lnTo>
                  <a:lnTo>
                    <a:pt x="12994" y="16400"/>
                  </a:lnTo>
                  <a:lnTo>
                    <a:pt x="13067" y="16424"/>
                  </a:lnTo>
                  <a:lnTo>
                    <a:pt x="13115" y="16424"/>
                  </a:lnTo>
                  <a:lnTo>
                    <a:pt x="13140" y="16400"/>
                  </a:lnTo>
                  <a:lnTo>
                    <a:pt x="13237" y="16327"/>
                  </a:lnTo>
                  <a:lnTo>
                    <a:pt x="13334" y="16254"/>
                  </a:lnTo>
                  <a:lnTo>
                    <a:pt x="13553" y="16132"/>
                  </a:lnTo>
                  <a:lnTo>
                    <a:pt x="13699" y="16035"/>
                  </a:lnTo>
                  <a:lnTo>
                    <a:pt x="13845" y="15938"/>
                  </a:lnTo>
                  <a:lnTo>
                    <a:pt x="13918" y="15986"/>
                  </a:lnTo>
                  <a:lnTo>
                    <a:pt x="13772" y="16132"/>
                  </a:lnTo>
                  <a:lnTo>
                    <a:pt x="13651" y="16254"/>
                  </a:lnTo>
                  <a:lnTo>
                    <a:pt x="13553" y="16351"/>
                  </a:lnTo>
                  <a:lnTo>
                    <a:pt x="13456" y="16497"/>
                  </a:lnTo>
                  <a:lnTo>
                    <a:pt x="13407" y="16570"/>
                  </a:lnTo>
                  <a:lnTo>
                    <a:pt x="13383" y="16643"/>
                  </a:lnTo>
                  <a:lnTo>
                    <a:pt x="13383" y="16692"/>
                  </a:lnTo>
                  <a:lnTo>
                    <a:pt x="13432" y="16741"/>
                  </a:lnTo>
                  <a:lnTo>
                    <a:pt x="13553" y="16741"/>
                  </a:lnTo>
                  <a:lnTo>
                    <a:pt x="13675" y="16668"/>
                  </a:lnTo>
                  <a:lnTo>
                    <a:pt x="13870" y="16497"/>
                  </a:lnTo>
                  <a:lnTo>
                    <a:pt x="14137" y="16278"/>
                  </a:lnTo>
                  <a:lnTo>
                    <a:pt x="14186" y="16230"/>
                  </a:lnTo>
                  <a:lnTo>
                    <a:pt x="14283" y="16351"/>
                  </a:lnTo>
                  <a:lnTo>
                    <a:pt x="13967" y="16643"/>
                  </a:lnTo>
                  <a:lnTo>
                    <a:pt x="13821" y="16862"/>
                  </a:lnTo>
                  <a:lnTo>
                    <a:pt x="13675" y="17057"/>
                  </a:lnTo>
                  <a:lnTo>
                    <a:pt x="13675" y="17106"/>
                  </a:lnTo>
                  <a:lnTo>
                    <a:pt x="13724" y="17106"/>
                  </a:lnTo>
                  <a:lnTo>
                    <a:pt x="13967" y="16984"/>
                  </a:lnTo>
                  <a:lnTo>
                    <a:pt x="14210" y="16887"/>
                  </a:lnTo>
                  <a:lnTo>
                    <a:pt x="14381" y="16789"/>
                  </a:lnTo>
                  <a:lnTo>
                    <a:pt x="14527" y="16668"/>
                  </a:lnTo>
                  <a:lnTo>
                    <a:pt x="14600" y="16765"/>
                  </a:lnTo>
                  <a:lnTo>
                    <a:pt x="14575" y="16789"/>
                  </a:lnTo>
                  <a:lnTo>
                    <a:pt x="14259" y="17033"/>
                  </a:lnTo>
                  <a:lnTo>
                    <a:pt x="14113" y="17154"/>
                  </a:lnTo>
                  <a:lnTo>
                    <a:pt x="13991" y="17300"/>
                  </a:lnTo>
                  <a:lnTo>
                    <a:pt x="13991" y="17349"/>
                  </a:lnTo>
                  <a:lnTo>
                    <a:pt x="14016" y="17349"/>
                  </a:lnTo>
                  <a:lnTo>
                    <a:pt x="14210" y="17300"/>
                  </a:lnTo>
                  <a:lnTo>
                    <a:pt x="14356" y="17252"/>
                  </a:lnTo>
                  <a:lnTo>
                    <a:pt x="14551" y="17154"/>
                  </a:lnTo>
                  <a:lnTo>
                    <a:pt x="14721" y="17057"/>
                  </a:lnTo>
                  <a:lnTo>
                    <a:pt x="14746" y="17203"/>
                  </a:lnTo>
                  <a:lnTo>
                    <a:pt x="14624" y="17252"/>
                  </a:lnTo>
                  <a:lnTo>
                    <a:pt x="14478" y="17300"/>
                  </a:lnTo>
                  <a:lnTo>
                    <a:pt x="14332" y="17373"/>
                  </a:lnTo>
                  <a:lnTo>
                    <a:pt x="14259" y="17422"/>
                  </a:lnTo>
                  <a:lnTo>
                    <a:pt x="14186" y="17471"/>
                  </a:lnTo>
                  <a:lnTo>
                    <a:pt x="14137" y="17544"/>
                  </a:lnTo>
                  <a:lnTo>
                    <a:pt x="14162" y="17641"/>
                  </a:lnTo>
                  <a:lnTo>
                    <a:pt x="14210" y="17690"/>
                  </a:lnTo>
                  <a:lnTo>
                    <a:pt x="14283" y="17714"/>
                  </a:lnTo>
                  <a:lnTo>
                    <a:pt x="14429" y="17714"/>
                  </a:lnTo>
                  <a:lnTo>
                    <a:pt x="14575" y="17665"/>
                  </a:lnTo>
                  <a:lnTo>
                    <a:pt x="14697" y="17617"/>
                  </a:lnTo>
                  <a:lnTo>
                    <a:pt x="14697" y="17641"/>
                  </a:lnTo>
                  <a:lnTo>
                    <a:pt x="14600" y="17738"/>
                  </a:lnTo>
                  <a:lnTo>
                    <a:pt x="14502" y="17811"/>
                  </a:lnTo>
                  <a:lnTo>
                    <a:pt x="14405" y="17860"/>
                  </a:lnTo>
                  <a:lnTo>
                    <a:pt x="14283" y="17884"/>
                  </a:lnTo>
                  <a:lnTo>
                    <a:pt x="14162" y="17909"/>
                  </a:lnTo>
                  <a:lnTo>
                    <a:pt x="14040" y="17884"/>
                  </a:lnTo>
                  <a:lnTo>
                    <a:pt x="13772" y="17836"/>
                  </a:lnTo>
                  <a:lnTo>
                    <a:pt x="13529" y="17738"/>
                  </a:lnTo>
                  <a:lnTo>
                    <a:pt x="13261" y="17592"/>
                  </a:lnTo>
                  <a:lnTo>
                    <a:pt x="13067" y="17471"/>
                  </a:lnTo>
                  <a:lnTo>
                    <a:pt x="12896" y="17349"/>
                  </a:lnTo>
                  <a:lnTo>
                    <a:pt x="12726" y="17179"/>
                  </a:lnTo>
                  <a:lnTo>
                    <a:pt x="12556" y="16984"/>
                  </a:lnTo>
                  <a:lnTo>
                    <a:pt x="12337" y="16765"/>
                  </a:lnTo>
                  <a:lnTo>
                    <a:pt x="12239" y="16692"/>
                  </a:lnTo>
                  <a:lnTo>
                    <a:pt x="12118" y="16668"/>
                  </a:lnTo>
                  <a:lnTo>
                    <a:pt x="12458" y="16424"/>
                  </a:lnTo>
                  <a:lnTo>
                    <a:pt x="12799" y="16181"/>
                  </a:lnTo>
                  <a:lnTo>
                    <a:pt x="13115" y="15913"/>
                  </a:lnTo>
                  <a:lnTo>
                    <a:pt x="13407" y="15621"/>
                  </a:lnTo>
                  <a:close/>
                  <a:moveTo>
                    <a:pt x="2287" y="15548"/>
                  </a:moveTo>
                  <a:lnTo>
                    <a:pt x="2579" y="15840"/>
                  </a:lnTo>
                  <a:lnTo>
                    <a:pt x="2871" y="16084"/>
                  </a:lnTo>
                  <a:lnTo>
                    <a:pt x="3188" y="16351"/>
                  </a:lnTo>
                  <a:lnTo>
                    <a:pt x="3504" y="16570"/>
                  </a:lnTo>
                  <a:lnTo>
                    <a:pt x="3382" y="16765"/>
                  </a:lnTo>
                  <a:lnTo>
                    <a:pt x="3358" y="16741"/>
                  </a:lnTo>
                  <a:lnTo>
                    <a:pt x="3309" y="16668"/>
                  </a:lnTo>
                  <a:lnTo>
                    <a:pt x="3261" y="16619"/>
                  </a:lnTo>
                  <a:lnTo>
                    <a:pt x="3115" y="16522"/>
                  </a:lnTo>
                  <a:lnTo>
                    <a:pt x="2944" y="16449"/>
                  </a:lnTo>
                  <a:lnTo>
                    <a:pt x="2823" y="16351"/>
                  </a:lnTo>
                  <a:lnTo>
                    <a:pt x="2774" y="16351"/>
                  </a:lnTo>
                  <a:lnTo>
                    <a:pt x="2774" y="16376"/>
                  </a:lnTo>
                  <a:lnTo>
                    <a:pt x="2823" y="16522"/>
                  </a:lnTo>
                  <a:lnTo>
                    <a:pt x="2944" y="16668"/>
                  </a:lnTo>
                  <a:lnTo>
                    <a:pt x="2969" y="16692"/>
                  </a:lnTo>
                  <a:lnTo>
                    <a:pt x="2725" y="16546"/>
                  </a:lnTo>
                  <a:lnTo>
                    <a:pt x="2604" y="16497"/>
                  </a:lnTo>
                  <a:lnTo>
                    <a:pt x="2458" y="16473"/>
                  </a:lnTo>
                  <a:lnTo>
                    <a:pt x="2433" y="16473"/>
                  </a:lnTo>
                  <a:lnTo>
                    <a:pt x="2433" y="16522"/>
                  </a:lnTo>
                  <a:lnTo>
                    <a:pt x="2482" y="16619"/>
                  </a:lnTo>
                  <a:lnTo>
                    <a:pt x="2555" y="16692"/>
                  </a:lnTo>
                  <a:lnTo>
                    <a:pt x="2725" y="16862"/>
                  </a:lnTo>
                  <a:lnTo>
                    <a:pt x="2896" y="17008"/>
                  </a:lnTo>
                  <a:lnTo>
                    <a:pt x="3090" y="17130"/>
                  </a:lnTo>
                  <a:lnTo>
                    <a:pt x="2920" y="17300"/>
                  </a:lnTo>
                  <a:lnTo>
                    <a:pt x="2871" y="17276"/>
                  </a:lnTo>
                  <a:lnTo>
                    <a:pt x="2774" y="17203"/>
                  </a:lnTo>
                  <a:lnTo>
                    <a:pt x="2701" y="17106"/>
                  </a:lnTo>
                  <a:lnTo>
                    <a:pt x="2604" y="17008"/>
                  </a:lnTo>
                  <a:lnTo>
                    <a:pt x="2506" y="16935"/>
                  </a:lnTo>
                  <a:lnTo>
                    <a:pt x="2385" y="16887"/>
                  </a:lnTo>
                  <a:lnTo>
                    <a:pt x="2336" y="16862"/>
                  </a:lnTo>
                  <a:lnTo>
                    <a:pt x="2263" y="16887"/>
                  </a:lnTo>
                  <a:lnTo>
                    <a:pt x="2239" y="16911"/>
                  </a:lnTo>
                  <a:lnTo>
                    <a:pt x="2239" y="16960"/>
                  </a:lnTo>
                  <a:lnTo>
                    <a:pt x="2287" y="17057"/>
                  </a:lnTo>
                  <a:lnTo>
                    <a:pt x="2336" y="17179"/>
                  </a:lnTo>
                  <a:lnTo>
                    <a:pt x="2433" y="17300"/>
                  </a:lnTo>
                  <a:lnTo>
                    <a:pt x="2506" y="17422"/>
                  </a:lnTo>
                  <a:lnTo>
                    <a:pt x="2652" y="17544"/>
                  </a:lnTo>
                  <a:lnTo>
                    <a:pt x="2531" y="17617"/>
                  </a:lnTo>
                  <a:lnTo>
                    <a:pt x="2336" y="17519"/>
                  </a:lnTo>
                  <a:lnTo>
                    <a:pt x="2166" y="17398"/>
                  </a:lnTo>
                  <a:lnTo>
                    <a:pt x="2068" y="17325"/>
                  </a:lnTo>
                  <a:lnTo>
                    <a:pt x="1995" y="17300"/>
                  </a:lnTo>
                  <a:lnTo>
                    <a:pt x="1898" y="17252"/>
                  </a:lnTo>
                  <a:lnTo>
                    <a:pt x="1777" y="17227"/>
                  </a:lnTo>
                  <a:lnTo>
                    <a:pt x="1752" y="17252"/>
                  </a:lnTo>
                  <a:lnTo>
                    <a:pt x="1728" y="17276"/>
                  </a:lnTo>
                  <a:lnTo>
                    <a:pt x="1777" y="17398"/>
                  </a:lnTo>
                  <a:lnTo>
                    <a:pt x="1825" y="17519"/>
                  </a:lnTo>
                  <a:lnTo>
                    <a:pt x="1898" y="17641"/>
                  </a:lnTo>
                  <a:lnTo>
                    <a:pt x="1995" y="17738"/>
                  </a:lnTo>
                  <a:lnTo>
                    <a:pt x="2117" y="17860"/>
                  </a:lnTo>
                  <a:lnTo>
                    <a:pt x="1874" y="17763"/>
                  </a:lnTo>
                  <a:lnTo>
                    <a:pt x="1679" y="17665"/>
                  </a:lnTo>
                  <a:lnTo>
                    <a:pt x="1582" y="17617"/>
                  </a:lnTo>
                  <a:lnTo>
                    <a:pt x="1485" y="17592"/>
                  </a:lnTo>
                  <a:lnTo>
                    <a:pt x="1436" y="17592"/>
                  </a:lnTo>
                  <a:lnTo>
                    <a:pt x="1363" y="17641"/>
                  </a:lnTo>
                  <a:lnTo>
                    <a:pt x="1339" y="17690"/>
                  </a:lnTo>
                  <a:lnTo>
                    <a:pt x="1339" y="17738"/>
                  </a:lnTo>
                  <a:lnTo>
                    <a:pt x="1412" y="17860"/>
                  </a:lnTo>
                  <a:lnTo>
                    <a:pt x="1509" y="17957"/>
                  </a:lnTo>
                  <a:lnTo>
                    <a:pt x="1363" y="17909"/>
                  </a:lnTo>
                  <a:lnTo>
                    <a:pt x="1266" y="17836"/>
                  </a:lnTo>
                  <a:lnTo>
                    <a:pt x="1168" y="17738"/>
                  </a:lnTo>
                  <a:lnTo>
                    <a:pt x="1095" y="17592"/>
                  </a:lnTo>
                  <a:lnTo>
                    <a:pt x="1071" y="17422"/>
                  </a:lnTo>
                  <a:lnTo>
                    <a:pt x="1095" y="17227"/>
                  </a:lnTo>
                  <a:lnTo>
                    <a:pt x="1144" y="17057"/>
                  </a:lnTo>
                  <a:lnTo>
                    <a:pt x="1217" y="16887"/>
                  </a:lnTo>
                  <a:lnTo>
                    <a:pt x="1436" y="16522"/>
                  </a:lnTo>
                  <a:lnTo>
                    <a:pt x="1631" y="16254"/>
                  </a:lnTo>
                  <a:lnTo>
                    <a:pt x="1777" y="16059"/>
                  </a:lnTo>
                  <a:lnTo>
                    <a:pt x="1947" y="15889"/>
                  </a:lnTo>
                  <a:lnTo>
                    <a:pt x="2117" y="15719"/>
                  </a:lnTo>
                  <a:lnTo>
                    <a:pt x="2287" y="15548"/>
                  </a:lnTo>
                  <a:close/>
                  <a:moveTo>
                    <a:pt x="7689" y="2336"/>
                  </a:moveTo>
                  <a:lnTo>
                    <a:pt x="7203" y="2360"/>
                  </a:lnTo>
                  <a:lnTo>
                    <a:pt x="6716" y="2409"/>
                  </a:lnTo>
                  <a:lnTo>
                    <a:pt x="6205" y="2482"/>
                  </a:lnTo>
                  <a:lnTo>
                    <a:pt x="5718" y="2604"/>
                  </a:lnTo>
                  <a:lnTo>
                    <a:pt x="5256" y="2725"/>
                  </a:lnTo>
                  <a:lnTo>
                    <a:pt x="4794" y="2896"/>
                  </a:lnTo>
                  <a:lnTo>
                    <a:pt x="4404" y="3066"/>
                  </a:lnTo>
                  <a:lnTo>
                    <a:pt x="4015" y="3261"/>
                  </a:lnTo>
                  <a:lnTo>
                    <a:pt x="3626" y="3480"/>
                  </a:lnTo>
                  <a:lnTo>
                    <a:pt x="3261" y="3723"/>
                  </a:lnTo>
                  <a:lnTo>
                    <a:pt x="2896" y="3966"/>
                  </a:lnTo>
                  <a:lnTo>
                    <a:pt x="2555" y="4258"/>
                  </a:lnTo>
                  <a:lnTo>
                    <a:pt x="2214" y="4526"/>
                  </a:lnTo>
                  <a:lnTo>
                    <a:pt x="1923" y="4842"/>
                  </a:lnTo>
                  <a:lnTo>
                    <a:pt x="1655" y="5134"/>
                  </a:lnTo>
                  <a:lnTo>
                    <a:pt x="1412" y="5451"/>
                  </a:lnTo>
                  <a:lnTo>
                    <a:pt x="1217" y="5791"/>
                  </a:lnTo>
                  <a:lnTo>
                    <a:pt x="1071" y="6156"/>
                  </a:lnTo>
                  <a:lnTo>
                    <a:pt x="657" y="7105"/>
                  </a:lnTo>
                  <a:lnTo>
                    <a:pt x="463" y="7592"/>
                  </a:lnTo>
                  <a:lnTo>
                    <a:pt x="292" y="8078"/>
                  </a:lnTo>
                  <a:lnTo>
                    <a:pt x="171" y="8565"/>
                  </a:lnTo>
                  <a:lnTo>
                    <a:pt x="73" y="9052"/>
                  </a:lnTo>
                  <a:lnTo>
                    <a:pt x="25" y="9563"/>
                  </a:lnTo>
                  <a:lnTo>
                    <a:pt x="0" y="10074"/>
                  </a:lnTo>
                  <a:lnTo>
                    <a:pt x="25" y="10585"/>
                  </a:lnTo>
                  <a:lnTo>
                    <a:pt x="49" y="11096"/>
                  </a:lnTo>
                  <a:lnTo>
                    <a:pt x="122" y="11607"/>
                  </a:lnTo>
                  <a:lnTo>
                    <a:pt x="195" y="12093"/>
                  </a:lnTo>
                  <a:lnTo>
                    <a:pt x="268" y="12531"/>
                  </a:lnTo>
                  <a:lnTo>
                    <a:pt x="414" y="12945"/>
                  </a:lnTo>
                  <a:lnTo>
                    <a:pt x="584" y="13359"/>
                  </a:lnTo>
                  <a:lnTo>
                    <a:pt x="779" y="13723"/>
                  </a:lnTo>
                  <a:lnTo>
                    <a:pt x="1022" y="14088"/>
                  </a:lnTo>
                  <a:lnTo>
                    <a:pt x="1290" y="14453"/>
                  </a:lnTo>
                  <a:lnTo>
                    <a:pt x="1558" y="14794"/>
                  </a:lnTo>
                  <a:lnTo>
                    <a:pt x="1850" y="15135"/>
                  </a:lnTo>
                  <a:lnTo>
                    <a:pt x="1995" y="15281"/>
                  </a:lnTo>
                  <a:lnTo>
                    <a:pt x="1850" y="15378"/>
                  </a:lnTo>
                  <a:lnTo>
                    <a:pt x="1704" y="15500"/>
                  </a:lnTo>
                  <a:lnTo>
                    <a:pt x="1582" y="15621"/>
                  </a:lnTo>
                  <a:lnTo>
                    <a:pt x="1460" y="15767"/>
                  </a:lnTo>
                  <a:lnTo>
                    <a:pt x="1217" y="16084"/>
                  </a:lnTo>
                  <a:lnTo>
                    <a:pt x="1047" y="16351"/>
                  </a:lnTo>
                  <a:lnTo>
                    <a:pt x="925" y="16546"/>
                  </a:lnTo>
                  <a:lnTo>
                    <a:pt x="828" y="16741"/>
                  </a:lnTo>
                  <a:lnTo>
                    <a:pt x="730" y="16960"/>
                  </a:lnTo>
                  <a:lnTo>
                    <a:pt x="682" y="17179"/>
                  </a:lnTo>
                  <a:lnTo>
                    <a:pt x="633" y="17398"/>
                  </a:lnTo>
                  <a:lnTo>
                    <a:pt x="657" y="17617"/>
                  </a:lnTo>
                  <a:lnTo>
                    <a:pt x="706" y="17836"/>
                  </a:lnTo>
                  <a:lnTo>
                    <a:pt x="828" y="18055"/>
                  </a:lnTo>
                  <a:lnTo>
                    <a:pt x="901" y="18152"/>
                  </a:lnTo>
                  <a:lnTo>
                    <a:pt x="974" y="18225"/>
                  </a:lnTo>
                  <a:lnTo>
                    <a:pt x="1144" y="18322"/>
                  </a:lnTo>
                  <a:lnTo>
                    <a:pt x="1339" y="18395"/>
                  </a:lnTo>
                  <a:lnTo>
                    <a:pt x="1558" y="18420"/>
                  </a:lnTo>
                  <a:lnTo>
                    <a:pt x="1777" y="18420"/>
                  </a:lnTo>
                  <a:lnTo>
                    <a:pt x="1995" y="18371"/>
                  </a:lnTo>
                  <a:lnTo>
                    <a:pt x="2190" y="18322"/>
                  </a:lnTo>
                  <a:lnTo>
                    <a:pt x="2385" y="18249"/>
                  </a:lnTo>
                  <a:lnTo>
                    <a:pt x="2604" y="18128"/>
                  </a:lnTo>
                  <a:lnTo>
                    <a:pt x="2823" y="18006"/>
                  </a:lnTo>
                  <a:lnTo>
                    <a:pt x="3042" y="17836"/>
                  </a:lnTo>
                  <a:lnTo>
                    <a:pt x="3236" y="17665"/>
                  </a:lnTo>
                  <a:lnTo>
                    <a:pt x="3431" y="17471"/>
                  </a:lnTo>
                  <a:lnTo>
                    <a:pt x="3601" y="17276"/>
                  </a:lnTo>
                  <a:lnTo>
                    <a:pt x="3893" y="16838"/>
                  </a:lnTo>
                  <a:lnTo>
                    <a:pt x="4258" y="17081"/>
                  </a:lnTo>
                  <a:lnTo>
                    <a:pt x="4648" y="17276"/>
                  </a:lnTo>
                  <a:lnTo>
                    <a:pt x="4867" y="17398"/>
                  </a:lnTo>
                  <a:lnTo>
                    <a:pt x="5110" y="17495"/>
                  </a:lnTo>
                  <a:lnTo>
                    <a:pt x="5353" y="17568"/>
                  </a:lnTo>
                  <a:lnTo>
                    <a:pt x="5597" y="17641"/>
                  </a:lnTo>
                  <a:lnTo>
                    <a:pt x="6083" y="17738"/>
                  </a:lnTo>
                  <a:lnTo>
                    <a:pt x="6594" y="17811"/>
                  </a:lnTo>
                  <a:lnTo>
                    <a:pt x="7057" y="17884"/>
                  </a:lnTo>
                  <a:lnTo>
                    <a:pt x="7519" y="17909"/>
                  </a:lnTo>
                  <a:lnTo>
                    <a:pt x="8006" y="17909"/>
                  </a:lnTo>
                  <a:lnTo>
                    <a:pt x="8492" y="17860"/>
                  </a:lnTo>
                  <a:lnTo>
                    <a:pt x="8541" y="17884"/>
                  </a:lnTo>
                  <a:lnTo>
                    <a:pt x="8590" y="17860"/>
                  </a:lnTo>
                  <a:lnTo>
                    <a:pt x="8736" y="17811"/>
                  </a:lnTo>
                  <a:lnTo>
                    <a:pt x="8906" y="17787"/>
                  </a:lnTo>
                  <a:lnTo>
                    <a:pt x="9222" y="17738"/>
                  </a:lnTo>
                  <a:lnTo>
                    <a:pt x="9514" y="17690"/>
                  </a:lnTo>
                  <a:lnTo>
                    <a:pt x="9782" y="17592"/>
                  </a:lnTo>
                  <a:lnTo>
                    <a:pt x="10317" y="17398"/>
                  </a:lnTo>
                  <a:lnTo>
                    <a:pt x="11120" y="17130"/>
                  </a:lnTo>
                  <a:lnTo>
                    <a:pt x="11509" y="16984"/>
                  </a:lnTo>
                  <a:lnTo>
                    <a:pt x="11899" y="16789"/>
                  </a:lnTo>
                  <a:lnTo>
                    <a:pt x="11899" y="16814"/>
                  </a:lnTo>
                  <a:lnTo>
                    <a:pt x="11996" y="17033"/>
                  </a:lnTo>
                  <a:lnTo>
                    <a:pt x="12118" y="17227"/>
                  </a:lnTo>
                  <a:lnTo>
                    <a:pt x="12288" y="17446"/>
                  </a:lnTo>
                  <a:lnTo>
                    <a:pt x="12483" y="17641"/>
                  </a:lnTo>
                  <a:lnTo>
                    <a:pt x="12702" y="17811"/>
                  </a:lnTo>
                  <a:lnTo>
                    <a:pt x="12921" y="17957"/>
                  </a:lnTo>
                  <a:lnTo>
                    <a:pt x="13115" y="18079"/>
                  </a:lnTo>
                  <a:lnTo>
                    <a:pt x="13334" y="18176"/>
                  </a:lnTo>
                  <a:lnTo>
                    <a:pt x="13529" y="18249"/>
                  </a:lnTo>
                  <a:lnTo>
                    <a:pt x="13748" y="18298"/>
                  </a:lnTo>
                  <a:lnTo>
                    <a:pt x="13991" y="18347"/>
                  </a:lnTo>
                  <a:lnTo>
                    <a:pt x="14259" y="18347"/>
                  </a:lnTo>
                  <a:lnTo>
                    <a:pt x="14478" y="18322"/>
                  </a:lnTo>
                  <a:lnTo>
                    <a:pt x="14721" y="18249"/>
                  </a:lnTo>
                  <a:lnTo>
                    <a:pt x="14819" y="18176"/>
                  </a:lnTo>
                  <a:lnTo>
                    <a:pt x="14892" y="18103"/>
                  </a:lnTo>
                  <a:lnTo>
                    <a:pt x="14989" y="18030"/>
                  </a:lnTo>
                  <a:lnTo>
                    <a:pt x="15038" y="17933"/>
                  </a:lnTo>
                  <a:lnTo>
                    <a:pt x="15135" y="17763"/>
                  </a:lnTo>
                  <a:lnTo>
                    <a:pt x="15159" y="17568"/>
                  </a:lnTo>
                  <a:lnTo>
                    <a:pt x="15184" y="17373"/>
                  </a:lnTo>
                  <a:lnTo>
                    <a:pt x="15159" y="17203"/>
                  </a:lnTo>
                  <a:lnTo>
                    <a:pt x="15111" y="17008"/>
                  </a:lnTo>
                  <a:lnTo>
                    <a:pt x="15062" y="16838"/>
                  </a:lnTo>
                  <a:lnTo>
                    <a:pt x="14965" y="16643"/>
                  </a:lnTo>
                  <a:lnTo>
                    <a:pt x="14867" y="16473"/>
                  </a:lnTo>
                  <a:lnTo>
                    <a:pt x="14600" y="16132"/>
                  </a:lnTo>
                  <a:lnTo>
                    <a:pt x="14308" y="15792"/>
                  </a:lnTo>
                  <a:lnTo>
                    <a:pt x="13991" y="15524"/>
                  </a:lnTo>
                  <a:lnTo>
                    <a:pt x="13675" y="15281"/>
                  </a:lnTo>
                  <a:lnTo>
                    <a:pt x="13967" y="14916"/>
                  </a:lnTo>
                  <a:lnTo>
                    <a:pt x="14235" y="14551"/>
                  </a:lnTo>
                  <a:lnTo>
                    <a:pt x="14478" y="14137"/>
                  </a:lnTo>
                  <a:lnTo>
                    <a:pt x="14673" y="13748"/>
                  </a:lnTo>
                  <a:lnTo>
                    <a:pt x="14916" y="13237"/>
                  </a:lnTo>
                  <a:lnTo>
                    <a:pt x="15111" y="12677"/>
                  </a:lnTo>
                  <a:lnTo>
                    <a:pt x="15257" y="12118"/>
                  </a:lnTo>
                  <a:lnTo>
                    <a:pt x="15378" y="11534"/>
                  </a:lnTo>
                  <a:lnTo>
                    <a:pt x="15476" y="10950"/>
                  </a:lnTo>
                  <a:lnTo>
                    <a:pt x="15524" y="10366"/>
                  </a:lnTo>
                  <a:lnTo>
                    <a:pt x="15549" y="9782"/>
                  </a:lnTo>
                  <a:lnTo>
                    <a:pt x="15549" y="9222"/>
                  </a:lnTo>
                  <a:lnTo>
                    <a:pt x="15524" y="8979"/>
                  </a:lnTo>
                  <a:lnTo>
                    <a:pt x="15476" y="8735"/>
                  </a:lnTo>
                  <a:lnTo>
                    <a:pt x="15354" y="8249"/>
                  </a:lnTo>
                  <a:lnTo>
                    <a:pt x="15208" y="7786"/>
                  </a:lnTo>
                  <a:lnTo>
                    <a:pt x="15038" y="7348"/>
                  </a:lnTo>
                  <a:lnTo>
                    <a:pt x="14867" y="6910"/>
                  </a:lnTo>
                  <a:lnTo>
                    <a:pt x="14794" y="6691"/>
                  </a:lnTo>
                  <a:lnTo>
                    <a:pt x="14697" y="6472"/>
                  </a:lnTo>
                  <a:lnTo>
                    <a:pt x="14575" y="6278"/>
                  </a:lnTo>
                  <a:lnTo>
                    <a:pt x="14429" y="6107"/>
                  </a:lnTo>
                  <a:lnTo>
                    <a:pt x="14381" y="6107"/>
                  </a:lnTo>
                  <a:lnTo>
                    <a:pt x="13991" y="6034"/>
                  </a:lnTo>
                  <a:lnTo>
                    <a:pt x="13578" y="5961"/>
                  </a:lnTo>
                  <a:lnTo>
                    <a:pt x="13042" y="6521"/>
                  </a:lnTo>
                  <a:lnTo>
                    <a:pt x="12458" y="7105"/>
                  </a:lnTo>
                  <a:lnTo>
                    <a:pt x="12580" y="7202"/>
                  </a:lnTo>
                  <a:lnTo>
                    <a:pt x="12702" y="7324"/>
                  </a:lnTo>
                  <a:lnTo>
                    <a:pt x="12799" y="7470"/>
                  </a:lnTo>
                  <a:lnTo>
                    <a:pt x="12872" y="7616"/>
                  </a:lnTo>
                  <a:lnTo>
                    <a:pt x="13018" y="7957"/>
                  </a:lnTo>
                  <a:lnTo>
                    <a:pt x="13140" y="8249"/>
                  </a:lnTo>
                  <a:lnTo>
                    <a:pt x="13213" y="8468"/>
                  </a:lnTo>
                  <a:lnTo>
                    <a:pt x="13286" y="8687"/>
                  </a:lnTo>
                  <a:lnTo>
                    <a:pt x="13383" y="9173"/>
                  </a:lnTo>
                  <a:lnTo>
                    <a:pt x="13407" y="9684"/>
                  </a:lnTo>
                  <a:lnTo>
                    <a:pt x="13407" y="10147"/>
                  </a:lnTo>
                  <a:lnTo>
                    <a:pt x="13383" y="10585"/>
                  </a:lnTo>
                  <a:lnTo>
                    <a:pt x="13310" y="11023"/>
                  </a:lnTo>
                  <a:lnTo>
                    <a:pt x="13188" y="11436"/>
                  </a:lnTo>
                  <a:lnTo>
                    <a:pt x="13042" y="11850"/>
                  </a:lnTo>
                  <a:lnTo>
                    <a:pt x="12872" y="12264"/>
                  </a:lnTo>
                  <a:lnTo>
                    <a:pt x="12677" y="12653"/>
                  </a:lnTo>
                  <a:lnTo>
                    <a:pt x="12458" y="13018"/>
                  </a:lnTo>
                  <a:lnTo>
                    <a:pt x="12239" y="13383"/>
                  </a:lnTo>
                  <a:lnTo>
                    <a:pt x="11923" y="13748"/>
                  </a:lnTo>
                  <a:lnTo>
                    <a:pt x="11582" y="14088"/>
                  </a:lnTo>
                  <a:lnTo>
                    <a:pt x="11217" y="14380"/>
                  </a:lnTo>
                  <a:lnTo>
                    <a:pt x="10828" y="14648"/>
                  </a:lnTo>
                  <a:lnTo>
                    <a:pt x="10414" y="14867"/>
                  </a:lnTo>
                  <a:lnTo>
                    <a:pt x="9976" y="15062"/>
                  </a:lnTo>
                  <a:lnTo>
                    <a:pt x="9539" y="15256"/>
                  </a:lnTo>
                  <a:lnTo>
                    <a:pt x="9101" y="15427"/>
                  </a:lnTo>
                  <a:lnTo>
                    <a:pt x="8809" y="15524"/>
                  </a:lnTo>
                  <a:lnTo>
                    <a:pt x="8517" y="15597"/>
                  </a:lnTo>
                  <a:lnTo>
                    <a:pt x="8225" y="15646"/>
                  </a:lnTo>
                  <a:lnTo>
                    <a:pt x="7957" y="15670"/>
                  </a:lnTo>
                  <a:lnTo>
                    <a:pt x="7397" y="15670"/>
                  </a:lnTo>
                  <a:lnTo>
                    <a:pt x="7130" y="15646"/>
                  </a:lnTo>
                  <a:lnTo>
                    <a:pt x="6862" y="15597"/>
                  </a:lnTo>
                  <a:lnTo>
                    <a:pt x="6594" y="15548"/>
                  </a:lnTo>
                  <a:lnTo>
                    <a:pt x="6327" y="15475"/>
                  </a:lnTo>
                  <a:lnTo>
                    <a:pt x="5816" y="15281"/>
                  </a:lnTo>
                  <a:lnTo>
                    <a:pt x="5280" y="15062"/>
                  </a:lnTo>
                  <a:lnTo>
                    <a:pt x="4769" y="14770"/>
                  </a:lnTo>
                  <a:lnTo>
                    <a:pt x="4015" y="14307"/>
                  </a:lnTo>
                  <a:lnTo>
                    <a:pt x="3918" y="14259"/>
                  </a:lnTo>
                  <a:lnTo>
                    <a:pt x="3820" y="14161"/>
                  </a:lnTo>
                  <a:lnTo>
                    <a:pt x="3674" y="13991"/>
                  </a:lnTo>
                  <a:lnTo>
                    <a:pt x="3382" y="13602"/>
                  </a:lnTo>
                  <a:lnTo>
                    <a:pt x="3066" y="13164"/>
                  </a:lnTo>
                  <a:lnTo>
                    <a:pt x="2774" y="12726"/>
                  </a:lnTo>
                  <a:lnTo>
                    <a:pt x="2652" y="12483"/>
                  </a:lnTo>
                  <a:lnTo>
                    <a:pt x="2555" y="12239"/>
                  </a:lnTo>
                  <a:lnTo>
                    <a:pt x="2458" y="11972"/>
                  </a:lnTo>
                  <a:lnTo>
                    <a:pt x="2360" y="11728"/>
                  </a:lnTo>
                  <a:lnTo>
                    <a:pt x="2263" y="11242"/>
                  </a:lnTo>
                  <a:lnTo>
                    <a:pt x="2214" y="10731"/>
                  </a:lnTo>
                  <a:lnTo>
                    <a:pt x="2214" y="10220"/>
                  </a:lnTo>
                  <a:lnTo>
                    <a:pt x="2239" y="9684"/>
                  </a:lnTo>
                  <a:lnTo>
                    <a:pt x="2336" y="9149"/>
                  </a:lnTo>
                  <a:lnTo>
                    <a:pt x="2433" y="8662"/>
                  </a:lnTo>
                  <a:lnTo>
                    <a:pt x="2604" y="8151"/>
                  </a:lnTo>
                  <a:lnTo>
                    <a:pt x="2774" y="7713"/>
                  </a:lnTo>
                  <a:lnTo>
                    <a:pt x="2969" y="7324"/>
                  </a:lnTo>
                  <a:lnTo>
                    <a:pt x="3188" y="6959"/>
                  </a:lnTo>
                  <a:lnTo>
                    <a:pt x="3431" y="6618"/>
                  </a:lnTo>
                  <a:lnTo>
                    <a:pt x="3699" y="6302"/>
                  </a:lnTo>
                  <a:lnTo>
                    <a:pt x="4015" y="6010"/>
                  </a:lnTo>
                  <a:lnTo>
                    <a:pt x="4331" y="5742"/>
                  </a:lnTo>
                  <a:lnTo>
                    <a:pt x="4648" y="5499"/>
                  </a:lnTo>
                  <a:lnTo>
                    <a:pt x="5013" y="5280"/>
                  </a:lnTo>
                  <a:lnTo>
                    <a:pt x="5378" y="5086"/>
                  </a:lnTo>
                  <a:lnTo>
                    <a:pt x="5767" y="4915"/>
                  </a:lnTo>
                  <a:lnTo>
                    <a:pt x="6156" y="4794"/>
                  </a:lnTo>
                  <a:lnTo>
                    <a:pt x="6570" y="4672"/>
                  </a:lnTo>
                  <a:lnTo>
                    <a:pt x="6984" y="4599"/>
                  </a:lnTo>
                  <a:lnTo>
                    <a:pt x="7397" y="4550"/>
                  </a:lnTo>
                  <a:lnTo>
                    <a:pt x="7811" y="4526"/>
                  </a:lnTo>
                  <a:lnTo>
                    <a:pt x="8225" y="4526"/>
                  </a:lnTo>
                  <a:lnTo>
                    <a:pt x="8614" y="4575"/>
                  </a:lnTo>
                  <a:lnTo>
                    <a:pt x="8979" y="4623"/>
                  </a:lnTo>
                  <a:lnTo>
                    <a:pt x="9344" y="4696"/>
                  </a:lnTo>
                  <a:lnTo>
                    <a:pt x="9685" y="4794"/>
                  </a:lnTo>
                  <a:lnTo>
                    <a:pt x="10049" y="4940"/>
                  </a:lnTo>
                  <a:lnTo>
                    <a:pt x="10390" y="5086"/>
                  </a:lnTo>
                  <a:lnTo>
                    <a:pt x="10706" y="5280"/>
                  </a:lnTo>
                  <a:lnTo>
                    <a:pt x="10998" y="5499"/>
                  </a:lnTo>
                  <a:lnTo>
                    <a:pt x="11363" y="5134"/>
                  </a:lnTo>
                  <a:lnTo>
                    <a:pt x="11704" y="4745"/>
                  </a:lnTo>
                  <a:lnTo>
                    <a:pt x="11874" y="4575"/>
                  </a:lnTo>
                  <a:lnTo>
                    <a:pt x="11801" y="4258"/>
                  </a:lnTo>
                  <a:lnTo>
                    <a:pt x="11777" y="3942"/>
                  </a:lnTo>
                  <a:lnTo>
                    <a:pt x="11728" y="3650"/>
                  </a:lnTo>
                  <a:lnTo>
                    <a:pt x="11680" y="3382"/>
                  </a:lnTo>
                  <a:lnTo>
                    <a:pt x="11169" y="3042"/>
                  </a:lnTo>
                  <a:lnTo>
                    <a:pt x="10925" y="2871"/>
                  </a:lnTo>
                  <a:lnTo>
                    <a:pt x="10633" y="2750"/>
                  </a:lnTo>
                  <a:lnTo>
                    <a:pt x="10147" y="2579"/>
                  </a:lnTo>
                  <a:lnTo>
                    <a:pt x="9685" y="2458"/>
                  </a:lnTo>
                  <a:lnTo>
                    <a:pt x="9174" y="2385"/>
                  </a:lnTo>
                  <a:lnTo>
                    <a:pt x="8687" y="23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" name="Title 7">
            <a:extLst>
              <a:ext uri="{FF2B5EF4-FFF2-40B4-BE49-F238E27FC236}">
                <a16:creationId xmlns:a16="http://schemas.microsoft.com/office/drawing/2014/main" id="{B1358E4A-5487-4686-B622-44933BC8C642}"/>
              </a:ext>
            </a:extLst>
          </p:cNvPr>
          <p:cNvSpPr txBox="1">
            <a:spLocks/>
          </p:cNvSpPr>
          <p:nvPr/>
        </p:nvSpPr>
        <p:spPr>
          <a:xfrm>
            <a:off x="717632" y="1133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3000" b="0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algn="l"/>
            <a:r>
              <a:rPr lang="bg-BG" sz="3200" b="1" dirty="0"/>
              <a:t>Задача 4</a:t>
            </a:r>
            <a:r>
              <a:rPr lang="en-US" sz="3200" b="1" dirty="0"/>
              <a:t> -</a:t>
            </a:r>
            <a:r>
              <a:rPr lang="bg-BG" sz="3200" b="1" dirty="0"/>
              <a:t> математически модел </a:t>
            </a:r>
            <a:endParaRPr lang="en-US" sz="3200" b="1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83792BE-367E-493F-8E20-4FF99D137C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/>
              <p:nvPr/>
            </p:nvSpPr>
            <p:spPr>
              <a:xfrm>
                <a:off x="1118647" y="1890553"/>
                <a:ext cx="5797992" cy="336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𝑿</m:t>
                      </m:r>
                      <m:r>
                        <a:rPr lang="en-US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: 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</m:ctrlPr>
                            </m:eqArrPr>
                            <m:e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𝟓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𝟗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𝟏𝟐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𝟏𝟓𝟎𝟎</m:t>
                              </m:r>
                            </m:e>
                            <m:e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𝟏𝟎𝟎𝟎</m:t>
                              </m:r>
                            </m:e>
                            <m:e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𝟑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𝟓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𝟏𝟎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𝟖𝟎𝟎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𝟒𝟎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𝟏𝟑𝟎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≥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𝟑𝟎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𝟏𝟎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bg-BG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bg-BG" sz="2000" b="1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𝟔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 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𝒋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𝟐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𝟑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647" y="1890553"/>
                <a:ext cx="5797992" cy="3368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06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978" y="838199"/>
            <a:ext cx="7244071" cy="5075584"/>
          </a:xfrm>
        </p:spPr>
        <p:txBody>
          <a:bodyPr>
            <a:noAutofit/>
          </a:bodyPr>
          <a:lstStyle/>
          <a:p>
            <a:r>
              <a:rPr lang="bg-BG" sz="2800" dirty="0"/>
              <a:t>Училище</a:t>
            </a:r>
            <a:r>
              <a:rPr lang="ru-RU" sz="2800" dirty="0"/>
              <a:t> подготвя пътуване за 400 ученици. </a:t>
            </a:r>
            <a:r>
              <a:rPr lang="bg-BG" sz="2800" dirty="0"/>
              <a:t>Фирмата</a:t>
            </a:r>
            <a:r>
              <a:rPr lang="ru-RU" sz="2800" dirty="0"/>
              <a:t>, </a:t>
            </a:r>
            <a:r>
              <a:rPr lang="bg-BG" sz="2800" dirty="0"/>
              <a:t>която</a:t>
            </a:r>
            <a:r>
              <a:rPr lang="ru-RU" sz="2800" dirty="0"/>
              <a:t> осигурява транспорта, разполага с 10 автобуса с по 50 места и 8 автобуса с по 40 места, но има на разположение само 9 шофьори. Разходите за наем на големия автобус са 800 лв., а за малкия автобус - 600 лв. </a:t>
            </a:r>
          </a:p>
          <a:p>
            <a:r>
              <a:rPr lang="ru-RU" sz="2800" dirty="0"/>
              <a:t>Създадете </a:t>
            </a:r>
            <a:r>
              <a:rPr lang="bg-BG" sz="2800" dirty="0"/>
              <a:t>математически модел,</a:t>
            </a:r>
            <a:r>
              <a:rPr lang="en-US" sz="2800" dirty="0"/>
              <a:t> </a:t>
            </a:r>
            <a:r>
              <a:rPr lang="bg-BG" sz="2800" dirty="0"/>
              <a:t>чрез който да намерите оптимално решение </a:t>
            </a:r>
            <a:r>
              <a:rPr lang="ru-RU" sz="2800" dirty="0"/>
              <a:t>за организация на пътуването </a:t>
            </a:r>
            <a:r>
              <a:rPr lang="bg-BG" sz="2800" dirty="0"/>
              <a:t>при</a:t>
            </a:r>
            <a:r>
              <a:rPr lang="ru-RU" sz="2800" dirty="0"/>
              <a:t> възможно най-малки разходи.  </a:t>
            </a:r>
          </a:p>
          <a:p>
            <a:endParaRPr lang="ru-RU" sz="2800" dirty="0"/>
          </a:p>
          <a:p>
            <a:endParaRPr lang="ru-RU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bg-BG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F7666C5-1B1B-4B10-A547-34DA5792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</a:t>
            </a:r>
            <a:r>
              <a:rPr lang="en-US" sz="3600" dirty="0"/>
              <a:t>5</a:t>
            </a:r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27DF383-526E-4940-9C88-F24185B415F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59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5 - решение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/>
              <p:nvPr/>
            </p:nvSpPr>
            <p:spPr>
              <a:xfrm>
                <a:off x="1009006" y="936269"/>
                <a:ext cx="7125987" cy="123825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sz="1800" dirty="0"/>
              </a:p>
              <a:p>
                <a:r>
                  <a:rPr lang="bg-BG" sz="20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Неизвестни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 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брой големи автобуси под наем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брой малки автобуси под наем</a:t>
                </a:r>
              </a:p>
              <a:p>
                <a:pPr algn="ctr"/>
                <a:endParaRPr lang="en-US" sz="1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06" y="936269"/>
                <a:ext cx="7125987" cy="1238257"/>
              </a:xfrm>
              <a:prstGeom prst="rect">
                <a:avLst/>
              </a:prstGeom>
              <a:blipFill>
                <a:blip r:embed="rId2"/>
                <a:stretch>
                  <a:fillRect l="-768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/>
              <p:nvPr/>
            </p:nvSpPr>
            <p:spPr>
              <a:xfrm>
                <a:off x="990062" y="2534479"/>
                <a:ext cx="7125987" cy="1540564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Целева функция: </a:t>
                </a:r>
              </a:p>
              <a:p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Основната цел е да се намери оптималната комбинация от малки и големи автобуси, така че училището да има възможно най-малък разход.</a:t>
                </a:r>
                <a:endParaRPr lang="en-US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𝒛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1600" b="0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800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𝟏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𝟔𝟎𝟎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𝟐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→</m:t>
                      </m:r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𝒎𝒊𝒏</m:t>
                      </m:r>
                    </m:oMath>
                  </m:oMathPara>
                </a14:m>
                <a:endParaRPr lang="en-US" sz="1600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62" y="2534479"/>
                <a:ext cx="7125987" cy="1540564"/>
              </a:xfrm>
              <a:prstGeom prst="rect">
                <a:avLst/>
              </a:prstGeom>
              <a:blipFill>
                <a:blip r:embed="rId3"/>
                <a:stretch>
                  <a:fillRect l="-256" t="-1563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556B33B-C01C-41EF-867D-FA645C002B4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F19B35-ABBC-48A1-BCE7-031B2AAFD1BD}"/>
              </a:ext>
            </a:extLst>
          </p:cNvPr>
          <p:cNvSpPr/>
          <p:nvPr/>
        </p:nvSpPr>
        <p:spPr>
          <a:xfrm>
            <a:off x="1009006" y="4411490"/>
            <a:ext cx="7125987" cy="123825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g-BG" sz="16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Ограничения:</a:t>
            </a:r>
          </a:p>
          <a:p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Ограниченията са от гледна точка на</a:t>
            </a:r>
            <a:r>
              <a:rPr lang="en-US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 </a:t>
            </a:r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брой ученици (и съответно места в автобусите) и брой шофьори.</a:t>
            </a:r>
            <a:endParaRPr lang="bg-BG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58420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𝐳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800" b="1" i="1">
                          <a:latin typeface="Cambria Math" panose="02040503050406030204" pitchFamily="18" charset="0"/>
                        </a:rPr>
                        <m:t>𝟖𝟎𝟎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bg-BG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2800" b="1" i="1">
                          <a:latin typeface="Cambria Math" panose="02040503050406030204" pitchFamily="18" charset="0"/>
                        </a:rPr>
                        <m:t>𝟔𝟎𝟎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bg-BG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𝒎𝒊𝒏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053F4E6-5000-4F54-A983-EA35B653740D}"/>
              </a:ext>
            </a:extLst>
          </p:cNvPr>
          <p:cNvGrpSpPr/>
          <p:nvPr/>
        </p:nvGrpSpPr>
        <p:grpSpPr>
          <a:xfrm>
            <a:off x="1282988" y="5618491"/>
            <a:ext cx="4011466" cy="577850"/>
            <a:chOff x="4572000" y="5624511"/>
            <a:chExt cx="4011466" cy="577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76782C-36E0-494B-A1B9-9A07FF92AB9F}"/>
                </a:ext>
              </a:extLst>
            </p:cNvPr>
            <p:cNvSpPr/>
            <p:nvPr/>
          </p:nvSpPr>
          <p:spPr>
            <a:xfrm>
              <a:off x="4582966" y="5624511"/>
              <a:ext cx="4000500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Решете задачата в </a:t>
              </a:r>
              <a:r>
                <a: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Excel.</a:t>
              </a:r>
            </a:p>
          </p:txBody>
        </p:sp>
        <p:sp>
          <p:nvSpPr>
            <p:cNvPr id="15" name="Shape 375">
              <a:extLst>
                <a:ext uri="{FF2B5EF4-FFF2-40B4-BE49-F238E27FC236}">
                  <a16:creationId xmlns:a16="http://schemas.microsoft.com/office/drawing/2014/main" id="{D3FFFDB5-3F64-4721-BDE0-C607DD260E76}"/>
                </a:ext>
              </a:extLst>
            </p:cNvPr>
            <p:cNvSpPr/>
            <p:nvPr/>
          </p:nvSpPr>
          <p:spPr>
            <a:xfrm>
              <a:off x="4572000" y="5671284"/>
              <a:ext cx="387161" cy="402569"/>
            </a:xfrm>
            <a:custGeom>
              <a:avLst/>
              <a:gdLst/>
              <a:ahLst/>
              <a:cxnLst/>
              <a:rect l="0" t="0" r="0" b="0"/>
              <a:pathLst>
                <a:path w="17715" h="18420" extrusionOk="0">
                  <a:moveTo>
                    <a:pt x="14673" y="803"/>
                  </a:moveTo>
                  <a:lnTo>
                    <a:pt x="14746" y="1022"/>
                  </a:lnTo>
                  <a:lnTo>
                    <a:pt x="14794" y="1217"/>
                  </a:lnTo>
                  <a:lnTo>
                    <a:pt x="14843" y="1655"/>
                  </a:lnTo>
                  <a:lnTo>
                    <a:pt x="14892" y="2141"/>
                  </a:lnTo>
                  <a:lnTo>
                    <a:pt x="14916" y="2385"/>
                  </a:lnTo>
                  <a:lnTo>
                    <a:pt x="14940" y="2482"/>
                  </a:lnTo>
                  <a:lnTo>
                    <a:pt x="15013" y="2604"/>
                  </a:lnTo>
                  <a:lnTo>
                    <a:pt x="14770" y="2847"/>
                  </a:lnTo>
                  <a:lnTo>
                    <a:pt x="14697" y="2920"/>
                  </a:lnTo>
                  <a:lnTo>
                    <a:pt x="14648" y="2628"/>
                  </a:lnTo>
                  <a:lnTo>
                    <a:pt x="14600" y="2360"/>
                  </a:lnTo>
                  <a:lnTo>
                    <a:pt x="14527" y="2044"/>
                  </a:lnTo>
                  <a:lnTo>
                    <a:pt x="14405" y="1776"/>
                  </a:lnTo>
                  <a:lnTo>
                    <a:pt x="14308" y="1484"/>
                  </a:lnTo>
                  <a:lnTo>
                    <a:pt x="14210" y="1192"/>
                  </a:lnTo>
                  <a:lnTo>
                    <a:pt x="14673" y="803"/>
                  </a:lnTo>
                  <a:close/>
                  <a:moveTo>
                    <a:pt x="15695" y="2847"/>
                  </a:moveTo>
                  <a:lnTo>
                    <a:pt x="16400" y="2871"/>
                  </a:lnTo>
                  <a:lnTo>
                    <a:pt x="17106" y="2969"/>
                  </a:lnTo>
                  <a:lnTo>
                    <a:pt x="16984" y="3115"/>
                  </a:lnTo>
                  <a:lnTo>
                    <a:pt x="16960" y="3090"/>
                  </a:lnTo>
                  <a:lnTo>
                    <a:pt x="16887" y="3042"/>
                  </a:lnTo>
                  <a:lnTo>
                    <a:pt x="16790" y="2993"/>
                  </a:lnTo>
                  <a:lnTo>
                    <a:pt x="16595" y="2969"/>
                  </a:lnTo>
                  <a:lnTo>
                    <a:pt x="16400" y="2944"/>
                  </a:lnTo>
                  <a:lnTo>
                    <a:pt x="15914" y="2944"/>
                  </a:lnTo>
                  <a:lnTo>
                    <a:pt x="15622" y="2920"/>
                  </a:lnTo>
                  <a:lnTo>
                    <a:pt x="15695" y="2847"/>
                  </a:lnTo>
                  <a:close/>
                  <a:moveTo>
                    <a:pt x="14040" y="1314"/>
                  </a:moveTo>
                  <a:lnTo>
                    <a:pt x="14040" y="1484"/>
                  </a:lnTo>
                  <a:lnTo>
                    <a:pt x="14064" y="1655"/>
                  </a:lnTo>
                  <a:lnTo>
                    <a:pt x="14137" y="2020"/>
                  </a:lnTo>
                  <a:lnTo>
                    <a:pt x="14283" y="2871"/>
                  </a:lnTo>
                  <a:lnTo>
                    <a:pt x="14308" y="3066"/>
                  </a:lnTo>
                  <a:lnTo>
                    <a:pt x="14332" y="3236"/>
                  </a:lnTo>
                  <a:lnTo>
                    <a:pt x="14162" y="3382"/>
                  </a:lnTo>
                  <a:lnTo>
                    <a:pt x="14137" y="3139"/>
                  </a:lnTo>
                  <a:lnTo>
                    <a:pt x="14040" y="2871"/>
                  </a:lnTo>
                  <a:lnTo>
                    <a:pt x="13870" y="2433"/>
                  </a:lnTo>
                  <a:lnTo>
                    <a:pt x="13748" y="2068"/>
                  </a:lnTo>
                  <a:lnTo>
                    <a:pt x="13675" y="1703"/>
                  </a:lnTo>
                  <a:lnTo>
                    <a:pt x="13651" y="1630"/>
                  </a:lnTo>
                  <a:lnTo>
                    <a:pt x="13699" y="1582"/>
                  </a:lnTo>
                  <a:lnTo>
                    <a:pt x="14040" y="1314"/>
                  </a:lnTo>
                  <a:close/>
                  <a:moveTo>
                    <a:pt x="13359" y="1898"/>
                  </a:moveTo>
                  <a:lnTo>
                    <a:pt x="13432" y="2239"/>
                  </a:lnTo>
                  <a:lnTo>
                    <a:pt x="13553" y="2677"/>
                  </a:lnTo>
                  <a:lnTo>
                    <a:pt x="13699" y="3090"/>
                  </a:lnTo>
                  <a:lnTo>
                    <a:pt x="13772" y="3358"/>
                  </a:lnTo>
                  <a:lnTo>
                    <a:pt x="13821" y="3480"/>
                  </a:lnTo>
                  <a:lnTo>
                    <a:pt x="13894" y="3601"/>
                  </a:lnTo>
                  <a:lnTo>
                    <a:pt x="13724" y="3723"/>
                  </a:lnTo>
                  <a:lnTo>
                    <a:pt x="13699" y="3577"/>
                  </a:lnTo>
                  <a:lnTo>
                    <a:pt x="13675" y="3407"/>
                  </a:lnTo>
                  <a:lnTo>
                    <a:pt x="13578" y="3090"/>
                  </a:lnTo>
                  <a:lnTo>
                    <a:pt x="13529" y="2798"/>
                  </a:lnTo>
                  <a:lnTo>
                    <a:pt x="13456" y="2531"/>
                  </a:lnTo>
                  <a:lnTo>
                    <a:pt x="13383" y="2239"/>
                  </a:lnTo>
                  <a:lnTo>
                    <a:pt x="13237" y="1995"/>
                  </a:lnTo>
                  <a:lnTo>
                    <a:pt x="13359" y="1898"/>
                  </a:lnTo>
                  <a:close/>
                  <a:moveTo>
                    <a:pt x="15378" y="3188"/>
                  </a:moveTo>
                  <a:lnTo>
                    <a:pt x="15500" y="3236"/>
                  </a:lnTo>
                  <a:lnTo>
                    <a:pt x="15646" y="3261"/>
                  </a:lnTo>
                  <a:lnTo>
                    <a:pt x="15914" y="3285"/>
                  </a:lnTo>
                  <a:lnTo>
                    <a:pt x="16790" y="3358"/>
                  </a:lnTo>
                  <a:lnTo>
                    <a:pt x="16473" y="3723"/>
                  </a:lnTo>
                  <a:lnTo>
                    <a:pt x="16449" y="3650"/>
                  </a:lnTo>
                  <a:lnTo>
                    <a:pt x="16425" y="3601"/>
                  </a:lnTo>
                  <a:lnTo>
                    <a:pt x="16376" y="3553"/>
                  </a:lnTo>
                  <a:lnTo>
                    <a:pt x="16303" y="3528"/>
                  </a:lnTo>
                  <a:lnTo>
                    <a:pt x="16084" y="3455"/>
                  </a:lnTo>
                  <a:lnTo>
                    <a:pt x="15816" y="3431"/>
                  </a:lnTo>
                  <a:lnTo>
                    <a:pt x="15573" y="3431"/>
                  </a:lnTo>
                  <a:lnTo>
                    <a:pt x="15330" y="3455"/>
                  </a:lnTo>
                  <a:lnTo>
                    <a:pt x="15086" y="3455"/>
                  </a:lnTo>
                  <a:lnTo>
                    <a:pt x="15135" y="3431"/>
                  </a:lnTo>
                  <a:lnTo>
                    <a:pt x="15378" y="3188"/>
                  </a:lnTo>
                  <a:close/>
                  <a:moveTo>
                    <a:pt x="13067" y="2166"/>
                  </a:moveTo>
                  <a:lnTo>
                    <a:pt x="13115" y="2628"/>
                  </a:lnTo>
                  <a:lnTo>
                    <a:pt x="13164" y="3042"/>
                  </a:lnTo>
                  <a:lnTo>
                    <a:pt x="13188" y="3285"/>
                  </a:lnTo>
                  <a:lnTo>
                    <a:pt x="13213" y="3553"/>
                  </a:lnTo>
                  <a:lnTo>
                    <a:pt x="13261" y="3699"/>
                  </a:lnTo>
                  <a:lnTo>
                    <a:pt x="13286" y="3820"/>
                  </a:lnTo>
                  <a:lnTo>
                    <a:pt x="13359" y="3942"/>
                  </a:lnTo>
                  <a:lnTo>
                    <a:pt x="13432" y="4015"/>
                  </a:lnTo>
                  <a:lnTo>
                    <a:pt x="13213" y="4234"/>
                  </a:lnTo>
                  <a:lnTo>
                    <a:pt x="13140" y="3845"/>
                  </a:lnTo>
                  <a:lnTo>
                    <a:pt x="13042" y="3480"/>
                  </a:lnTo>
                  <a:lnTo>
                    <a:pt x="12994" y="3236"/>
                  </a:lnTo>
                  <a:lnTo>
                    <a:pt x="12921" y="2969"/>
                  </a:lnTo>
                  <a:lnTo>
                    <a:pt x="12823" y="2701"/>
                  </a:lnTo>
                  <a:lnTo>
                    <a:pt x="12702" y="2482"/>
                  </a:lnTo>
                  <a:lnTo>
                    <a:pt x="12872" y="2336"/>
                  </a:lnTo>
                  <a:lnTo>
                    <a:pt x="13067" y="2166"/>
                  </a:lnTo>
                  <a:close/>
                  <a:moveTo>
                    <a:pt x="14648" y="3796"/>
                  </a:moveTo>
                  <a:lnTo>
                    <a:pt x="14819" y="3869"/>
                  </a:lnTo>
                  <a:lnTo>
                    <a:pt x="15013" y="3893"/>
                  </a:lnTo>
                  <a:lnTo>
                    <a:pt x="15232" y="3918"/>
                  </a:lnTo>
                  <a:lnTo>
                    <a:pt x="16035" y="3918"/>
                  </a:lnTo>
                  <a:lnTo>
                    <a:pt x="16181" y="3966"/>
                  </a:lnTo>
                  <a:lnTo>
                    <a:pt x="16230" y="3966"/>
                  </a:lnTo>
                  <a:lnTo>
                    <a:pt x="16011" y="4185"/>
                  </a:lnTo>
                  <a:lnTo>
                    <a:pt x="15938" y="4258"/>
                  </a:lnTo>
                  <a:lnTo>
                    <a:pt x="15816" y="4210"/>
                  </a:lnTo>
                  <a:lnTo>
                    <a:pt x="15695" y="4161"/>
                  </a:lnTo>
                  <a:lnTo>
                    <a:pt x="15403" y="4137"/>
                  </a:lnTo>
                  <a:lnTo>
                    <a:pt x="14916" y="4137"/>
                  </a:lnTo>
                  <a:lnTo>
                    <a:pt x="14600" y="4112"/>
                  </a:lnTo>
                  <a:lnTo>
                    <a:pt x="14259" y="4112"/>
                  </a:lnTo>
                  <a:lnTo>
                    <a:pt x="14648" y="3796"/>
                  </a:lnTo>
                  <a:close/>
                  <a:moveTo>
                    <a:pt x="13943" y="4404"/>
                  </a:moveTo>
                  <a:lnTo>
                    <a:pt x="14283" y="4453"/>
                  </a:lnTo>
                  <a:lnTo>
                    <a:pt x="14648" y="4502"/>
                  </a:lnTo>
                  <a:lnTo>
                    <a:pt x="15354" y="4550"/>
                  </a:lnTo>
                  <a:lnTo>
                    <a:pt x="15524" y="4575"/>
                  </a:lnTo>
                  <a:lnTo>
                    <a:pt x="15330" y="4745"/>
                  </a:lnTo>
                  <a:lnTo>
                    <a:pt x="15184" y="4915"/>
                  </a:lnTo>
                  <a:lnTo>
                    <a:pt x="14697" y="4818"/>
                  </a:lnTo>
                  <a:lnTo>
                    <a:pt x="14186" y="4745"/>
                  </a:lnTo>
                  <a:lnTo>
                    <a:pt x="13699" y="4672"/>
                  </a:lnTo>
                  <a:lnTo>
                    <a:pt x="13797" y="4550"/>
                  </a:lnTo>
                  <a:lnTo>
                    <a:pt x="13943" y="4404"/>
                  </a:lnTo>
                  <a:close/>
                  <a:moveTo>
                    <a:pt x="14721" y="0"/>
                  </a:moveTo>
                  <a:lnTo>
                    <a:pt x="14673" y="24"/>
                  </a:lnTo>
                  <a:lnTo>
                    <a:pt x="14600" y="49"/>
                  </a:lnTo>
                  <a:lnTo>
                    <a:pt x="14551" y="97"/>
                  </a:lnTo>
                  <a:lnTo>
                    <a:pt x="14235" y="389"/>
                  </a:lnTo>
                  <a:lnTo>
                    <a:pt x="13894" y="681"/>
                  </a:lnTo>
                  <a:lnTo>
                    <a:pt x="13213" y="1217"/>
                  </a:lnTo>
                  <a:lnTo>
                    <a:pt x="12921" y="1460"/>
                  </a:lnTo>
                  <a:lnTo>
                    <a:pt x="12775" y="1606"/>
                  </a:lnTo>
                  <a:lnTo>
                    <a:pt x="12629" y="1752"/>
                  </a:lnTo>
                  <a:lnTo>
                    <a:pt x="12507" y="1922"/>
                  </a:lnTo>
                  <a:lnTo>
                    <a:pt x="12385" y="2093"/>
                  </a:lnTo>
                  <a:lnTo>
                    <a:pt x="12337" y="2263"/>
                  </a:lnTo>
                  <a:lnTo>
                    <a:pt x="12312" y="2458"/>
                  </a:lnTo>
                  <a:lnTo>
                    <a:pt x="12337" y="2506"/>
                  </a:lnTo>
                  <a:lnTo>
                    <a:pt x="12312" y="2531"/>
                  </a:lnTo>
                  <a:lnTo>
                    <a:pt x="12337" y="2774"/>
                  </a:lnTo>
                  <a:lnTo>
                    <a:pt x="12385" y="3017"/>
                  </a:lnTo>
                  <a:lnTo>
                    <a:pt x="12507" y="3504"/>
                  </a:lnTo>
                  <a:lnTo>
                    <a:pt x="12531" y="3796"/>
                  </a:lnTo>
                  <a:lnTo>
                    <a:pt x="12580" y="4137"/>
                  </a:lnTo>
                  <a:lnTo>
                    <a:pt x="12629" y="4453"/>
                  </a:lnTo>
                  <a:lnTo>
                    <a:pt x="12677" y="4599"/>
                  </a:lnTo>
                  <a:lnTo>
                    <a:pt x="12750" y="4745"/>
                  </a:lnTo>
                  <a:lnTo>
                    <a:pt x="12288" y="5256"/>
                  </a:lnTo>
                  <a:lnTo>
                    <a:pt x="11972" y="5621"/>
                  </a:lnTo>
                  <a:lnTo>
                    <a:pt x="11631" y="5961"/>
                  </a:lnTo>
                  <a:lnTo>
                    <a:pt x="10925" y="6643"/>
                  </a:lnTo>
                  <a:lnTo>
                    <a:pt x="10220" y="7300"/>
                  </a:lnTo>
                  <a:lnTo>
                    <a:pt x="9490" y="7981"/>
                  </a:lnTo>
                  <a:lnTo>
                    <a:pt x="9125" y="8370"/>
                  </a:lnTo>
                  <a:lnTo>
                    <a:pt x="8760" y="8760"/>
                  </a:lnTo>
                  <a:lnTo>
                    <a:pt x="8371" y="9149"/>
                  </a:lnTo>
                  <a:lnTo>
                    <a:pt x="8006" y="9538"/>
                  </a:lnTo>
                  <a:lnTo>
                    <a:pt x="7884" y="9490"/>
                  </a:lnTo>
                  <a:lnTo>
                    <a:pt x="7665" y="9490"/>
                  </a:lnTo>
                  <a:lnTo>
                    <a:pt x="7568" y="9514"/>
                  </a:lnTo>
                  <a:lnTo>
                    <a:pt x="7422" y="9538"/>
                  </a:lnTo>
                  <a:lnTo>
                    <a:pt x="7276" y="9587"/>
                  </a:lnTo>
                  <a:lnTo>
                    <a:pt x="7154" y="9684"/>
                  </a:lnTo>
                  <a:lnTo>
                    <a:pt x="7057" y="9830"/>
                  </a:lnTo>
                  <a:lnTo>
                    <a:pt x="6984" y="9976"/>
                  </a:lnTo>
                  <a:lnTo>
                    <a:pt x="6935" y="10147"/>
                  </a:lnTo>
                  <a:lnTo>
                    <a:pt x="6959" y="10317"/>
                  </a:lnTo>
                  <a:lnTo>
                    <a:pt x="7008" y="10487"/>
                  </a:lnTo>
                  <a:lnTo>
                    <a:pt x="7105" y="10633"/>
                  </a:lnTo>
                  <a:lnTo>
                    <a:pt x="7251" y="10755"/>
                  </a:lnTo>
                  <a:lnTo>
                    <a:pt x="7397" y="10828"/>
                  </a:lnTo>
                  <a:lnTo>
                    <a:pt x="7568" y="10877"/>
                  </a:lnTo>
                  <a:lnTo>
                    <a:pt x="7738" y="10901"/>
                  </a:lnTo>
                  <a:lnTo>
                    <a:pt x="7884" y="10877"/>
                  </a:lnTo>
                  <a:lnTo>
                    <a:pt x="8006" y="10804"/>
                  </a:lnTo>
                  <a:lnTo>
                    <a:pt x="8127" y="10731"/>
                  </a:lnTo>
                  <a:lnTo>
                    <a:pt x="8225" y="10633"/>
                  </a:lnTo>
                  <a:lnTo>
                    <a:pt x="8298" y="10512"/>
                  </a:lnTo>
                  <a:lnTo>
                    <a:pt x="8346" y="10390"/>
                  </a:lnTo>
                  <a:lnTo>
                    <a:pt x="8371" y="10244"/>
                  </a:lnTo>
                  <a:lnTo>
                    <a:pt x="8371" y="10098"/>
                  </a:lnTo>
                  <a:lnTo>
                    <a:pt x="8371" y="10049"/>
                  </a:lnTo>
                  <a:lnTo>
                    <a:pt x="8711" y="9733"/>
                  </a:lnTo>
                  <a:lnTo>
                    <a:pt x="9003" y="9392"/>
                  </a:lnTo>
                  <a:lnTo>
                    <a:pt x="9295" y="9052"/>
                  </a:lnTo>
                  <a:lnTo>
                    <a:pt x="9587" y="8760"/>
                  </a:lnTo>
                  <a:lnTo>
                    <a:pt x="10317" y="8054"/>
                  </a:lnTo>
                  <a:lnTo>
                    <a:pt x="11047" y="7373"/>
                  </a:lnTo>
                  <a:lnTo>
                    <a:pt x="11777" y="6691"/>
                  </a:lnTo>
                  <a:lnTo>
                    <a:pt x="12507" y="5986"/>
                  </a:lnTo>
                  <a:lnTo>
                    <a:pt x="12896" y="5548"/>
                  </a:lnTo>
                  <a:lnTo>
                    <a:pt x="13310" y="5086"/>
                  </a:lnTo>
                  <a:lnTo>
                    <a:pt x="13529" y="5159"/>
                  </a:lnTo>
                  <a:lnTo>
                    <a:pt x="13748" y="5207"/>
                  </a:lnTo>
                  <a:lnTo>
                    <a:pt x="14186" y="5280"/>
                  </a:lnTo>
                  <a:lnTo>
                    <a:pt x="14648" y="5353"/>
                  </a:lnTo>
                  <a:lnTo>
                    <a:pt x="15086" y="5426"/>
                  </a:lnTo>
                  <a:lnTo>
                    <a:pt x="15184" y="5426"/>
                  </a:lnTo>
                  <a:lnTo>
                    <a:pt x="15281" y="5402"/>
                  </a:lnTo>
                  <a:lnTo>
                    <a:pt x="15354" y="5353"/>
                  </a:lnTo>
                  <a:lnTo>
                    <a:pt x="15403" y="5280"/>
                  </a:lnTo>
                  <a:lnTo>
                    <a:pt x="15524" y="5207"/>
                  </a:lnTo>
                  <a:lnTo>
                    <a:pt x="15670" y="5134"/>
                  </a:lnTo>
                  <a:lnTo>
                    <a:pt x="15938" y="4940"/>
                  </a:lnTo>
                  <a:lnTo>
                    <a:pt x="16352" y="4526"/>
                  </a:lnTo>
                  <a:lnTo>
                    <a:pt x="16692" y="4210"/>
                  </a:lnTo>
                  <a:lnTo>
                    <a:pt x="17009" y="3869"/>
                  </a:lnTo>
                  <a:lnTo>
                    <a:pt x="17325" y="3504"/>
                  </a:lnTo>
                  <a:lnTo>
                    <a:pt x="17617" y="3115"/>
                  </a:lnTo>
                  <a:lnTo>
                    <a:pt x="17641" y="3066"/>
                  </a:lnTo>
                  <a:lnTo>
                    <a:pt x="17666" y="3017"/>
                  </a:lnTo>
                  <a:lnTo>
                    <a:pt x="17641" y="2896"/>
                  </a:lnTo>
                  <a:lnTo>
                    <a:pt x="17690" y="2774"/>
                  </a:lnTo>
                  <a:lnTo>
                    <a:pt x="17714" y="2701"/>
                  </a:lnTo>
                  <a:lnTo>
                    <a:pt x="17690" y="2652"/>
                  </a:lnTo>
                  <a:lnTo>
                    <a:pt x="17690" y="2579"/>
                  </a:lnTo>
                  <a:lnTo>
                    <a:pt x="17641" y="2531"/>
                  </a:lnTo>
                  <a:lnTo>
                    <a:pt x="17593" y="2506"/>
                  </a:lnTo>
                  <a:lnTo>
                    <a:pt x="17495" y="2482"/>
                  </a:lnTo>
                  <a:lnTo>
                    <a:pt x="16838" y="2360"/>
                  </a:lnTo>
                  <a:lnTo>
                    <a:pt x="16473" y="2312"/>
                  </a:lnTo>
                  <a:lnTo>
                    <a:pt x="16108" y="2287"/>
                  </a:lnTo>
                  <a:lnTo>
                    <a:pt x="16303" y="2068"/>
                  </a:lnTo>
                  <a:lnTo>
                    <a:pt x="16522" y="1801"/>
                  </a:lnTo>
                  <a:lnTo>
                    <a:pt x="16790" y="1582"/>
                  </a:lnTo>
                  <a:lnTo>
                    <a:pt x="17033" y="1338"/>
                  </a:lnTo>
                  <a:lnTo>
                    <a:pt x="17276" y="1095"/>
                  </a:lnTo>
                  <a:lnTo>
                    <a:pt x="17325" y="1022"/>
                  </a:lnTo>
                  <a:lnTo>
                    <a:pt x="17374" y="949"/>
                  </a:lnTo>
                  <a:lnTo>
                    <a:pt x="17374" y="876"/>
                  </a:lnTo>
                  <a:lnTo>
                    <a:pt x="17374" y="803"/>
                  </a:lnTo>
                  <a:lnTo>
                    <a:pt x="17325" y="681"/>
                  </a:lnTo>
                  <a:lnTo>
                    <a:pt x="17252" y="560"/>
                  </a:lnTo>
                  <a:lnTo>
                    <a:pt x="17155" y="487"/>
                  </a:lnTo>
                  <a:lnTo>
                    <a:pt x="17009" y="438"/>
                  </a:lnTo>
                  <a:lnTo>
                    <a:pt x="16960" y="462"/>
                  </a:lnTo>
                  <a:lnTo>
                    <a:pt x="16887" y="462"/>
                  </a:lnTo>
                  <a:lnTo>
                    <a:pt x="16838" y="511"/>
                  </a:lnTo>
                  <a:lnTo>
                    <a:pt x="16765" y="560"/>
                  </a:lnTo>
                  <a:lnTo>
                    <a:pt x="16571" y="803"/>
                  </a:lnTo>
                  <a:lnTo>
                    <a:pt x="16352" y="1022"/>
                  </a:lnTo>
                  <a:lnTo>
                    <a:pt x="16133" y="1241"/>
                  </a:lnTo>
                  <a:lnTo>
                    <a:pt x="15914" y="1460"/>
                  </a:lnTo>
                  <a:lnTo>
                    <a:pt x="15500" y="1971"/>
                  </a:lnTo>
                  <a:lnTo>
                    <a:pt x="15427" y="1436"/>
                  </a:lnTo>
                  <a:lnTo>
                    <a:pt x="15354" y="1095"/>
                  </a:lnTo>
                  <a:lnTo>
                    <a:pt x="15281" y="779"/>
                  </a:lnTo>
                  <a:lnTo>
                    <a:pt x="15184" y="462"/>
                  </a:lnTo>
                  <a:lnTo>
                    <a:pt x="15111" y="292"/>
                  </a:lnTo>
                  <a:lnTo>
                    <a:pt x="15013" y="146"/>
                  </a:lnTo>
                  <a:lnTo>
                    <a:pt x="14965" y="97"/>
                  </a:lnTo>
                  <a:lnTo>
                    <a:pt x="14916" y="49"/>
                  </a:lnTo>
                  <a:lnTo>
                    <a:pt x="14794" y="24"/>
                  </a:lnTo>
                  <a:lnTo>
                    <a:pt x="14721" y="0"/>
                  </a:lnTo>
                  <a:close/>
                  <a:moveTo>
                    <a:pt x="7543" y="6691"/>
                  </a:moveTo>
                  <a:lnTo>
                    <a:pt x="7203" y="6716"/>
                  </a:lnTo>
                  <a:lnTo>
                    <a:pt x="6886" y="6789"/>
                  </a:lnTo>
                  <a:lnTo>
                    <a:pt x="6570" y="6862"/>
                  </a:lnTo>
                  <a:lnTo>
                    <a:pt x="6254" y="6983"/>
                  </a:lnTo>
                  <a:lnTo>
                    <a:pt x="5962" y="7105"/>
                  </a:lnTo>
                  <a:lnTo>
                    <a:pt x="5670" y="7275"/>
                  </a:lnTo>
                  <a:lnTo>
                    <a:pt x="5402" y="7470"/>
                  </a:lnTo>
                  <a:lnTo>
                    <a:pt x="5159" y="7713"/>
                  </a:lnTo>
                  <a:lnTo>
                    <a:pt x="4940" y="7957"/>
                  </a:lnTo>
                  <a:lnTo>
                    <a:pt x="4745" y="8249"/>
                  </a:lnTo>
                  <a:lnTo>
                    <a:pt x="4599" y="8565"/>
                  </a:lnTo>
                  <a:lnTo>
                    <a:pt x="4477" y="8857"/>
                  </a:lnTo>
                  <a:lnTo>
                    <a:pt x="4380" y="9149"/>
                  </a:lnTo>
                  <a:lnTo>
                    <a:pt x="4307" y="9441"/>
                  </a:lnTo>
                  <a:lnTo>
                    <a:pt x="4258" y="9733"/>
                  </a:lnTo>
                  <a:lnTo>
                    <a:pt x="4234" y="10025"/>
                  </a:lnTo>
                  <a:lnTo>
                    <a:pt x="4234" y="10317"/>
                  </a:lnTo>
                  <a:lnTo>
                    <a:pt x="4258" y="10609"/>
                  </a:lnTo>
                  <a:lnTo>
                    <a:pt x="4307" y="10901"/>
                  </a:lnTo>
                  <a:lnTo>
                    <a:pt x="4356" y="11193"/>
                  </a:lnTo>
                  <a:lnTo>
                    <a:pt x="4453" y="11461"/>
                  </a:lnTo>
                  <a:lnTo>
                    <a:pt x="4550" y="11728"/>
                  </a:lnTo>
                  <a:lnTo>
                    <a:pt x="4696" y="11996"/>
                  </a:lnTo>
                  <a:lnTo>
                    <a:pt x="4842" y="12239"/>
                  </a:lnTo>
                  <a:lnTo>
                    <a:pt x="5013" y="12458"/>
                  </a:lnTo>
                  <a:lnTo>
                    <a:pt x="5207" y="12677"/>
                  </a:lnTo>
                  <a:lnTo>
                    <a:pt x="5426" y="12872"/>
                  </a:lnTo>
                  <a:lnTo>
                    <a:pt x="5670" y="13067"/>
                  </a:lnTo>
                  <a:lnTo>
                    <a:pt x="5913" y="13213"/>
                  </a:lnTo>
                  <a:lnTo>
                    <a:pt x="6181" y="13334"/>
                  </a:lnTo>
                  <a:lnTo>
                    <a:pt x="6473" y="13456"/>
                  </a:lnTo>
                  <a:lnTo>
                    <a:pt x="6740" y="13529"/>
                  </a:lnTo>
                  <a:lnTo>
                    <a:pt x="7032" y="13602"/>
                  </a:lnTo>
                  <a:lnTo>
                    <a:pt x="7324" y="13650"/>
                  </a:lnTo>
                  <a:lnTo>
                    <a:pt x="7933" y="13650"/>
                  </a:lnTo>
                  <a:lnTo>
                    <a:pt x="8225" y="13626"/>
                  </a:lnTo>
                  <a:lnTo>
                    <a:pt x="8541" y="13577"/>
                  </a:lnTo>
                  <a:lnTo>
                    <a:pt x="8833" y="13505"/>
                  </a:lnTo>
                  <a:lnTo>
                    <a:pt x="9125" y="13407"/>
                  </a:lnTo>
                  <a:lnTo>
                    <a:pt x="9393" y="13310"/>
                  </a:lnTo>
                  <a:lnTo>
                    <a:pt x="9660" y="13164"/>
                  </a:lnTo>
                  <a:lnTo>
                    <a:pt x="9903" y="12994"/>
                  </a:lnTo>
                  <a:lnTo>
                    <a:pt x="10147" y="12823"/>
                  </a:lnTo>
                  <a:lnTo>
                    <a:pt x="10390" y="12604"/>
                  </a:lnTo>
                  <a:lnTo>
                    <a:pt x="10585" y="12361"/>
                  </a:lnTo>
                  <a:lnTo>
                    <a:pt x="10779" y="12118"/>
                  </a:lnTo>
                  <a:lnTo>
                    <a:pt x="10925" y="11826"/>
                  </a:lnTo>
                  <a:lnTo>
                    <a:pt x="11071" y="11558"/>
                  </a:lnTo>
                  <a:lnTo>
                    <a:pt x="11193" y="11242"/>
                  </a:lnTo>
                  <a:lnTo>
                    <a:pt x="11266" y="10950"/>
                  </a:lnTo>
                  <a:lnTo>
                    <a:pt x="11339" y="10633"/>
                  </a:lnTo>
                  <a:lnTo>
                    <a:pt x="11388" y="10317"/>
                  </a:lnTo>
                  <a:lnTo>
                    <a:pt x="11388" y="9976"/>
                  </a:lnTo>
                  <a:lnTo>
                    <a:pt x="11363" y="9660"/>
                  </a:lnTo>
                  <a:lnTo>
                    <a:pt x="11315" y="9368"/>
                  </a:lnTo>
                  <a:lnTo>
                    <a:pt x="11242" y="9052"/>
                  </a:lnTo>
                  <a:lnTo>
                    <a:pt x="11120" y="8760"/>
                  </a:lnTo>
                  <a:lnTo>
                    <a:pt x="10974" y="8492"/>
                  </a:lnTo>
                  <a:lnTo>
                    <a:pt x="10147" y="9295"/>
                  </a:lnTo>
                  <a:lnTo>
                    <a:pt x="9733" y="9733"/>
                  </a:lnTo>
                  <a:lnTo>
                    <a:pt x="9636" y="9855"/>
                  </a:lnTo>
                  <a:lnTo>
                    <a:pt x="9636" y="9879"/>
                  </a:lnTo>
                  <a:lnTo>
                    <a:pt x="9636" y="10244"/>
                  </a:lnTo>
                  <a:lnTo>
                    <a:pt x="9587" y="10609"/>
                  </a:lnTo>
                  <a:lnTo>
                    <a:pt x="9539" y="10779"/>
                  </a:lnTo>
                  <a:lnTo>
                    <a:pt x="9466" y="10950"/>
                  </a:lnTo>
                  <a:lnTo>
                    <a:pt x="9393" y="11096"/>
                  </a:lnTo>
                  <a:lnTo>
                    <a:pt x="9295" y="11242"/>
                  </a:lnTo>
                  <a:lnTo>
                    <a:pt x="9149" y="11363"/>
                  </a:lnTo>
                  <a:lnTo>
                    <a:pt x="9003" y="11485"/>
                  </a:lnTo>
                  <a:lnTo>
                    <a:pt x="8882" y="11582"/>
                  </a:lnTo>
                  <a:lnTo>
                    <a:pt x="8736" y="11655"/>
                  </a:lnTo>
                  <a:lnTo>
                    <a:pt x="8590" y="11704"/>
                  </a:lnTo>
                  <a:lnTo>
                    <a:pt x="8444" y="11728"/>
                  </a:lnTo>
                  <a:lnTo>
                    <a:pt x="8127" y="11777"/>
                  </a:lnTo>
                  <a:lnTo>
                    <a:pt x="7811" y="11777"/>
                  </a:lnTo>
                  <a:lnTo>
                    <a:pt x="7470" y="11728"/>
                  </a:lnTo>
                  <a:lnTo>
                    <a:pt x="7178" y="11631"/>
                  </a:lnTo>
                  <a:lnTo>
                    <a:pt x="6886" y="11509"/>
                  </a:lnTo>
                  <a:lnTo>
                    <a:pt x="6643" y="11339"/>
                  </a:lnTo>
                  <a:lnTo>
                    <a:pt x="6521" y="11217"/>
                  </a:lnTo>
                  <a:lnTo>
                    <a:pt x="6400" y="11096"/>
                  </a:lnTo>
                  <a:lnTo>
                    <a:pt x="6327" y="10974"/>
                  </a:lnTo>
                  <a:lnTo>
                    <a:pt x="6254" y="10852"/>
                  </a:lnTo>
                  <a:lnTo>
                    <a:pt x="6132" y="10560"/>
                  </a:lnTo>
                  <a:lnTo>
                    <a:pt x="6059" y="10244"/>
                  </a:lnTo>
                  <a:lnTo>
                    <a:pt x="6059" y="9928"/>
                  </a:lnTo>
                  <a:lnTo>
                    <a:pt x="6083" y="9636"/>
                  </a:lnTo>
                  <a:lnTo>
                    <a:pt x="6181" y="9319"/>
                  </a:lnTo>
                  <a:lnTo>
                    <a:pt x="6302" y="9052"/>
                  </a:lnTo>
                  <a:lnTo>
                    <a:pt x="6400" y="8906"/>
                  </a:lnTo>
                  <a:lnTo>
                    <a:pt x="6497" y="8808"/>
                  </a:lnTo>
                  <a:lnTo>
                    <a:pt x="6594" y="8687"/>
                  </a:lnTo>
                  <a:lnTo>
                    <a:pt x="6716" y="8614"/>
                  </a:lnTo>
                  <a:lnTo>
                    <a:pt x="6984" y="8468"/>
                  </a:lnTo>
                  <a:lnTo>
                    <a:pt x="7276" y="8370"/>
                  </a:lnTo>
                  <a:lnTo>
                    <a:pt x="7495" y="8322"/>
                  </a:lnTo>
                  <a:lnTo>
                    <a:pt x="7689" y="8322"/>
                  </a:lnTo>
                  <a:lnTo>
                    <a:pt x="8054" y="8370"/>
                  </a:lnTo>
                  <a:lnTo>
                    <a:pt x="8200" y="8200"/>
                  </a:lnTo>
                  <a:lnTo>
                    <a:pt x="8565" y="7811"/>
                  </a:lnTo>
                  <a:lnTo>
                    <a:pt x="8955" y="7421"/>
                  </a:lnTo>
                  <a:lnTo>
                    <a:pt x="9344" y="7032"/>
                  </a:lnTo>
                  <a:lnTo>
                    <a:pt x="9295" y="6983"/>
                  </a:lnTo>
                  <a:lnTo>
                    <a:pt x="9247" y="6959"/>
                  </a:lnTo>
                  <a:lnTo>
                    <a:pt x="8906" y="6862"/>
                  </a:lnTo>
                  <a:lnTo>
                    <a:pt x="8565" y="6764"/>
                  </a:lnTo>
                  <a:lnTo>
                    <a:pt x="8225" y="6716"/>
                  </a:lnTo>
                  <a:lnTo>
                    <a:pt x="7884" y="6691"/>
                  </a:lnTo>
                  <a:close/>
                  <a:moveTo>
                    <a:pt x="13407" y="15621"/>
                  </a:moveTo>
                  <a:lnTo>
                    <a:pt x="13505" y="15694"/>
                  </a:lnTo>
                  <a:lnTo>
                    <a:pt x="13310" y="15865"/>
                  </a:lnTo>
                  <a:lnTo>
                    <a:pt x="13213" y="15962"/>
                  </a:lnTo>
                  <a:lnTo>
                    <a:pt x="13115" y="16059"/>
                  </a:lnTo>
                  <a:lnTo>
                    <a:pt x="12969" y="16278"/>
                  </a:lnTo>
                  <a:lnTo>
                    <a:pt x="12969" y="16303"/>
                  </a:lnTo>
                  <a:lnTo>
                    <a:pt x="12969" y="16351"/>
                  </a:lnTo>
                  <a:lnTo>
                    <a:pt x="12994" y="16400"/>
                  </a:lnTo>
                  <a:lnTo>
                    <a:pt x="13067" y="16424"/>
                  </a:lnTo>
                  <a:lnTo>
                    <a:pt x="13115" y="16424"/>
                  </a:lnTo>
                  <a:lnTo>
                    <a:pt x="13140" y="16400"/>
                  </a:lnTo>
                  <a:lnTo>
                    <a:pt x="13237" y="16327"/>
                  </a:lnTo>
                  <a:lnTo>
                    <a:pt x="13334" y="16254"/>
                  </a:lnTo>
                  <a:lnTo>
                    <a:pt x="13553" y="16132"/>
                  </a:lnTo>
                  <a:lnTo>
                    <a:pt x="13699" y="16035"/>
                  </a:lnTo>
                  <a:lnTo>
                    <a:pt x="13845" y="15938"/>
                  </a:lnTo>
                  <a:lnTo>
                    <a:pt x="13918" y="15986"/>
                  </a:lnTo>
                  <a:lnTo>
                    <a:pt x="13772" y="16132"/>
                  </a:lnTo>
                  <a:lnTo>
                    <a:pt x="13651" y="16254"/>
                  </a:lnTo>
                  <a:lnTo>
                    <a:pt x="13553" y="16351"/>
                  </a:lnTo>
                  <a:lnTo>
                    <a:pt x="13456" y="16497"/>
                  </a:lnTo>
                  <a:lnTo>
                    <a:pt x="13407" y="16570"/>
                  </a:lnTo>
                  <a:lnTo>
                    <a:pt x="13383" y="16643"/>
                  </a:lnTo>
                  <a:lnTo>
                    <a:pt x="13383" y="16692"/>
                  </a:lnTo>
                  <a:lnTo>
                    <a:pt x="13432" y="16741"/>
                  </a:lnTo>
                  <a:lnTo>
                    <a:pt x="13553" y="16741"/>
                  </a:lnTo>
                  <a:lnTo>
                    <a:pt x="13675" y="16668"/>
                  </a:lnTo>
                  <a:lnTo>
                    <a:pt x="13870" y="16497"/>
                  </a:lnTo>
                  <a:lnTo>
                    <a:pt x="14137" y="16278"/>
                  </a:lnTo>
                  <a:lnTo>
                    <a:pt x="14186" y="16230"/>
                  </a:lnTo>
                  <a:lnTo>
                    <a:pt x="14283" y="16351"/>
                  </a:lnTo>
                  <a:lnTo>
                    <a:pt x="13967" y="16643"/>
                  </a:lnTo>
                  <a:lnTo>
                    <a:pt x="13821" y="16862"/>
                  </a:lnTo>
                  <a:lnTo>
                    <a:pt x="13675" y="17057"/>
                  </a:lnTo>
                  <a:lnTo>
                    <a:pt x="13675" y="17106"/>
                  </a:lnTo>
                  <a:lnTo>
                    <a:pt x="13724" y="17106"/>
                  </a:lnTo>
                  <a:lnTo>
                    <a:pt x="13967" y="16984"/>
                  </a:lnTo>
                  <a:lnTo>
                    <a:pt x="14210" y="16887"/>
                  </a:lnTo>
                  <a:lnTo>
                    <a:pt x="14381" y="16789"/>
                  </a:lnTo>
                  <a:lnTo>
                    <a:pt x="14527" y="16668"/>
                  </a:lnTo>
                  <a:lnTo>
                    <a:pt x="14600" y="16765"/>
                  </a:lnTo>
                  <a:lnTo>
                    <a:pt x="14575" y="16789"/>
                  </a:lnTo>
                  <a:lnTo>
                    <a:pt x="14259" y="17033"/>
                  </a:lnTo>
                  <a:lnTo>
                    <a:pt x="14113" y="17154"/>
                  </a:lnTo>
                  <a:lnTo>
                    <a:pt x="13991" y="17300"/>
                  </a:lnTo>
                  <a:lnTo>
                    <a:pt x="13991" y="17349"/>
                  </a:lnTo>
                  <a:lnTo>
                    <a:pt x="14016" y="17349"/>
                  </a:lnTo>
                  <a:lnTo>
                    <a:pt x="14210" y="17300"/>
                  </a:lnTo>
                  <a:lnTo>
                    <a:pt x="14356" y="17252"/>
                  </a:lnTo>
                  <a:lnTo>
                    <a:pt x="14551" y="17154"/>
                  </a:lnTo>
                  <a:lnTo>
                    <a:pt x="14721" y="17057"/>
                  </a:lnTo>
                  <a:lnTo>
                    <a:pt x="14746" y="17203"/>
                  </a:lnTo>
                  <a:lnTo>
                    <a:pt x="14624" y="17252"/>
                  </a:lnTo>
                  <a:lnTo>
                    <a:pt x="14478" y="17300"/>
                  </a:lnTo>
                  <a:lnTo>
                    <a:pt x="14332" y="17373"/>
                  </a:lnTo>
                  <a:lnTo>
                    <a:pt x="14259" y="17422"/>
                  </a:lnTo>
                  <a:lnTo>
                    <a:pt x="14186" y="17471"/>
                  </a:lnTo>
                  <a:lnTo>
                    <a:pt x="14137" y="17544"/>
                  </a:lnTo>
                  <a:lnTo>
                    <a:pt x="14162" y="17641"/>
                  </a:lnTo>
                  <a:lnTo>
                    <a:pt x="14210" y="17690"/>
                  </a:lnTo>
                  <a:lnTo>
                    <a:pt x="14283" y="17714"/>
                  </a:lnTo>
                  <a:lnTo>
                    <a:pt x="14429" y="17714"/>
                  </a:lnTo>
                  <a:lnTo>
                    <a:pt x="14575" y="17665"/>
                  </a:lnTo>
                  <a:lnTo>
                    <a:pt x="14697" y="17617"/>
                  </a:lnTo>
                  <a:lnTo>
                    <a:pt x="14697" y="17641"/>
                  </a:lnTo>
                  <a:lnTo>
                    <a:pt x="14600" y="17738"/>
                  </a:lnTo>
                  <a:lnTo>
                    <a:pt x="14502" y="17811"/>
                  </a:lnTo>
                  <a:lnTo>
                    <a:pt x="14405" y="17860"/>
                  </a:lnTo>
                  <a:lnTo>
                    <a:pt x="14283" y="17884"/>
                  </a:lnTo>
                  <a:lnTo>
                    <a:pt x="14162" y="17909"/>
                  </a:lnTo>
                  <a:lnTo>
                    <a:pt x="14040" y="17884"/>
                  </a:lnTo>
                  <a:lnTo>
                    <a:pt x="13772" y="17836"/>
                  </a:lnTo>
                  <a:lnTo>
                    <a:pt x="13529" y="17738"/>
                  </a:lnTo>
                  <a:lnTo>
                    <a:pt x="13261" y="17592"/>
                  </a:lnTo>
                  <a:lnTo>
                    <a:pt x="13067" y="17471"/>
                  </a:lnTo>
                  <a:lnTo>
                    <a:pt x="12896" y="17349"/>
                  </a:lnTo>
                  <a:lnTo>
                    <a:pt x="12726" y="17179"/>
                  </a:lnTo>
                  <a:lnTo>
                    <a:pt x="12556" y="16984"/>
                  </a:lnTo>
                  <a:lnTo>
                    <a:pt x="12337" y="16765"/>
                  </a:lnTo>
                  <a:lnTo>
                    <a:pt x="12239" y="16692"/>
                  </a:lnTo>
                  <a:lnTo>
                    <a:pt x="12118" y="16668"/>
                  </a:lnTo>
                  <a:lnTo>
                    <a:pt x="12458" y="16424"/>
                  </a:lnTo>
                  <a:lnTo>
                    <a:pt x="12799" y="16181"/>
                  </a:lnTo>
                  <a:lnTo>
                    <a:pt x="13115" y="15913"/>
                  </a:lnTo>
                  <a:lnTo>
                    <a:pt x="13407" y="15621"/>
                  </a:lnTo>
                  <a:close/>
                  <a:moveTo>
                    <a:pt x="2287" y="15548"/>
                  </a:moveTo>
                  <a:lnTo>
                    <a:pt x="2579" y="15840"/>
                  </a:lnTo>
                  <a:lnTo>
                    <a:pt x="2871" y="16084"/>
                  </a:lnTo>
                  <a:lnTo>
                    <a:pt x="3188" y="16351"/>
                  </a:lnTo>
                  <a:lnTo>
                    <a:pt x="3504" y="16570"/>
                  </a:lnTo>
                  <a:lnTo>
                    <a:pt x="3382" y="16765"/>
                  </a:lnTo>
                  <a:lnTo>
                    <a:pt x="3358" y="16741"/>
                  </a:lnTo>
                  <a:lnTo>
                    <a:pt x="3309" y="16668"/>
                  </a:lnTo>
                  <a:lnTo>
                    <a:pt x="3261" y="16619"/>
                  </a:lnTo>
                  <a:lnTo>
                    <a:pt x="3115" y="16522"/>
                  </a:lnTo>
                  <a:lnTo>
                    <a:pt x="2944" y="16449"/>
                  </a:lnTo>
                  <a:lnTo>
                    <a:pt x="2823" y="16351"/>
                  </a:lnTo>
                  <a:lnTo>
                    <a:pt x="2774" y="16351"/>
                  </a:lnTo>
                  <a:lnTo>
                    <a:pt x="2774" y="16376"/>
                  </a:lnTo>
                  <a:lnTo>
                    <a:pt x="2823" y="16522"/>
                  </a:lnTo>
                  <a:lnTo>
                    <a:pt x="2944" y="16668"/>
                  </a:lnTo>
                  <a:lnTo>
                    <a:pt x="2969" y="16692"/>
                  </a:lnTo>
                  <a:lnTo>
                    <a:pt x="2725" y="16546"/>
                  </a:lnTo>
                  <a:lnTo>
                    <a:pt x="2604" y="16497"/>
                  </a:lnTo>
                  <a:lnTo>
                    <a:pt x="2458" y="16473"/>
                  </a:lnTo>
                  <a:lnTo>
                    <a:pt x="2433" y="16473"/>
                  </a:lnTo>
                  <a:lnTo>
                    <a:pt x="2433" y="16522"/>
                  </a:lnTo>
                  <a:lnTo>
                    <a:pt x="2482" y="16619"/>
                  </a:lnTo>
                  <a:lnTo>
                    <a:pt x="2555" y="16692"/>
                  </a:lnTo>
                  <a:lnTo>
                    <a:pt x="2725" y="16862"/>
                  </a:lnTo>
                  <a:lnTo>
                    <a:pt x="2896" y="17008"/>
                  </a:lnTo>
                  <a:lnTo>
                    <a:pt x="3090" y="17130"/>
                  </a:lnTo>
                  <a:lnTo>
                    <a:pt x="2920" y="17300"/>
                  </a:lnTo>
                  <a:lnTo>
                    <a:pt x="2871" y="17276"/>
                  </a:lnTo>
                  <a:lnTo>
                    <a:pt x="2774" y="17203"/>
                  </a:lnTo>
                  <a:lnTo>
                    <a:pt x="2701" y="17106"/>
                  </a:lnTo>
                  <a:lnTo>
                    <a:pt x="2604" y="17008"/>
                  </a:lnTo>
                  <a:lnTo>
                    <a:pt x="2506" y="16935"/>
                  </a:lnTo>
                  <a:lnTo>
                    <a:pt x="2385" y="16887"/>
                  </a:lnTo>
                  <a:lnTo>
                    <a:pt x="2336" y="16862"/>
                  </a:lnTo>
                  <a:lnTo>
                    <a:pt x="2263" y="16887"/>
                  </a:lnTo>
                  <a:lnTo>
                    <a:pt x="2239" y="16911"/>
                  </a:lnTo>
                  <a:lnTo>
                    <a:pt x="2239" y="16960"/>
                  </a:lnTo>
                  <a:lnTo>
                    <a:pt x="2287" y="17057"/>
                  </a:lnTo>
                  <a:lnTo>
                    <a:pt x="2336" y="17179"/>
                  </a:lnTo>
                  <a:lnTo>
                    <a:pt x="2433" y="17300"/>
                  </a:lnTo>
                  <a:lnTo>
                    <a:pt x="2506" y="17422"/>
                  </a:lnTo>
                  <a:lnTo>
                    <a:pt x="2652" y="17544"/>
                  </a:lnTo>
                  <a:lnTo>
                    <a:pt x="2531" y="17617"/>
                  </a:lnTo>
                  <a:lnTo>
                    <a:pt x="2336" y="17519"/>
                  </a:lnTo>
                  <a:lnTo>
                    <a:pt x="2166" y="17398"/>
                  </a:lnTo>
                  <a:lnTo>
                    <a:pt x="2068" y="17325"/>
                  </a:lnTo>
                  <a:lnTo>
                    <a:pt x="1995" y="17300"/>
                  </a:lnTo>
                  <a:lnTo>
                    <a:pt x="1898" y="17252"/>
                  </a:lnTo>
                  <a:lnTo>
                    <a:pt x="1777" y="17227"/>
                  </a:lnTo>
                  <a:lnTo>
                    <a:pt x="1752" y="17252"/>
                  </a:lnTo>
                  <a:lnTo>
                    <a:pt x="1728" y="17276"/>
                  </a:lnTo>
                  <a:lnTo>
                    <a:pt x="1777" y="17398"/>
                  </a:lnTo>
                  <a:lnTo>
                    <a:pt x="1825" y="17519"/>
                  </a:lnTo>
                  <a:lnTo>
                    <a:pt x="1898" y="17641"/>
                  </a:lnTo>
                  <a:lnTo>
                    <a:pt x="1995" y="17738"/>
                  </a:lnTo>
                  <a:lnTo>
                    <a:pt x="2117" y="17860"/>
                  </a:lnTo>
                  <a:lnTo>
                    <a:pt x="1874" y="17763"/>
                  </a:lnTo>
                  <a:lnTo>
                    <a:pt x="1679" y="17665"/>
                  </a:lnTo>
                  <a:lnTo>
                    <a:pt x="1582" y="17617"/>
                  </a:lnTo>
                  <a:lnTo>
                    <a:pt x="1485" y="17592"/>
                  </a:lnTo>
                  <a:lnTo>
                    <a:pt x="1436" y="17592"/>
                  </a:lnTo>
                  <a:lnTo>
                    <a:pt x="1363" y="17641"/>
                  </a:lnTo>
                  <a:lnTo>
                    <a:pt x="1339" y="17690"/>
                  </a:lnTo>
                  <a:lnTo>
                    <a:pt x="1339" y="17738"/>
                  </a:lnTo>
                  <a:lnTo>
                    <a:pt x="1412" y="17860"/>
                  </a:lnTo>
                  <a:lnTo>
                    <a:pt x="1509" y="17957"/>
                  </a:lnTo>
                  <a:lnTo>
                    <a:pt x="1363" y="17909"/>
                  </a:lnTo>
                  <a:lnTo>
                    <a:pt x="1266" y="17836"/>
                  </a:lnTo>
                  <a:lnTo>
                    <a:pt x="1168" y="17738"/>
                  </a:lnTo>
                  <a:lnTo>
                    <a:pt x="1095" y="17592"/>
                  </a:lnTo>
                  <a:lnTo>
                    <a:pt x="1071" y="17422"/>
                  </a:lnTo>
                  <a:lnTo>
                    <a:pt x="1095" y="17227"/>
                  </a:lnTo>
                  <a:lnTo>
                    <a:pt x="1144" y="17057"/>
                  </a:lnTo>
                  <a:lnTo>
                    <a:pt x="1217" y="16887"/>
                  </a:lnTo>
                  <a:lnTo>
                    <a:pt x="1436" y="16522"/>
                  </a:lnTo>
                  <a:lnTo>
                    <a:pt x="1631" y="16254"/>
                  </a:lnTo>
                  <a:lnTo>
                    <a:pt x="1777" y="16059"/>
                  </a:lnTo>
                  <a:lnTo>
                    <a:pt x="1947" y="15889"/>
                  </a:lnTo>
                  <a:lnTo>
                    <a:pt x="2117" y="15719"/>
                  </a:lnTo>
                  <a:lnTo>
                    <a:pt x="2287" y="15548"/>
                  </a:lnTo>
                  <a:close/>
                  <a:moveTo>
                    <a:pt x="7689" y="2336"/>
                  </a:moveTo>
                  <a:lnTo>
                    <a:pt x="7203" y="2360"/>
                  </a:lnTo>
                  <a:lnTo>
                    <a:pt x="6716" y="2409"/>
                  </a:lnTo>
                  <a:lnTo>
                    <a:pt x="6205" y="2482"/>
                  </a:lnTo>
                  <a:lnTo>
                    <a:pt x="5718" y="2604"/>
                  </a:lnTo>
                  <a:lnTo>
                    <a:pt x="5256" y="2725"/>
                  </a:lnTo>
                  <a:lnTo>
                    <a:pt x="4794" y="2896"/>
                  </a:lnTo>
                  <a:lnTo>
                    <a:pt x="4404" y="3066"/>
                  </a:lnTo>
                  <a:lnTo>
                    <a:pt x="4015" y="3261"/>
                  </a:lnTo>
                  <a:lnTo>
                    <a:pt x="3626" y="3480"/>
                  </a:lnTo>
                  <a:lnTo>
                    <a:pt x="3261" y="3723"/>
                  </a:lnTo>
                  <a:lnTo>
                    <a:pt x="2896" y="3966"/>
                  </a:lnTo>
                  <a:lnTo>
                    <a:pt x="2555" y="4258"/>
                  </a:lnTo>
                  <a:lnTo>
                    <a:pt x="2214" y="4526"/>
                  </a:lnTo>
                  <a:lnTo>
                    <a:pt x="1923" y="4842"/>
                  </a:lnTo>
                  <a:lnTo>
                    <a:pt x="1655" y="5134"/>
                  </a:lnTo>
                  <a:lnTo>
                    <a:pt x="1412" y="5451"/>
                  </a:lnTo>
                  <a:lnTo>
                    <a:pt x="1217" y="5791"/>
                  </a:lnTo>
                  <a:lnTo>
                    <a:pt x="1071" y="6156"/>
                  </a:lnTo>
                  <a:lnTo>
                    <a:pt x="657" y="7105"/>
                  </a:lnTo>
                  <a:lnTo>
                    <a:pt x="463" y="7592"/>
                  </a:lnTo>
                  <a:lnTo>
                    <a:pt x="292" y="8078"/>
                  </a:lnTo>
                  <a:lnTo>
                    <a:pt x="171" y="8565"/>
                  </a:lnTo>
                  <a:lnTo>
                    <a:pt x="73" y="9052"/>
                  </a:lnTo>
                  <a:lnTo>
                    <a:pt x="25" y="9563"/>
                  </a:lnTo>
                  <a:lnTo>
                    <a:pt x="0" y="10074"/>
                  </a:lnTo>
                  <a:lnTo>
                    <a:pt x="25" y="10585"/>
                  </a:lnTo>
                  <a:lnTo>
                    <a:pt x="49" y="11096"/>
                  </a:lnTo>
                  <a:lnTo>
                    <a:pt x="122" y="11607"/>
                  </a:lnTo>
                  <a:lnTo>
                    <a:pt x="195" y="12093"/>
                  </a:lnTo>
                  <a:lnTo>
                    <a:pt x="268" y="12531"/>
                  </a:lnTo>
                  <a:lnTo>
                    <a:pt x="414" y="12945"/>
                  </a:lnTo>
                  <a:lnTo>
                    <a:pt x="584" y="13359"/>
                  </a:lnTo>
                  <a:lnTo>
                    <a:pt x="779" y="13723"/>
                  </a:lnTo>
                  <a:lnTo>
                    <a:pt x="1022" y="14088"/>
                  </a:lnTo>
                  <a:lnTo>
                    <a:pt x="1290" y="14453"/>
                  </a:lnTo>
                  <a:lnTo>
                    <a:pt x="1558" y="14794"/>
                  </a:lnTo>
                  <a:lnTo>
                    <a:pt x="1850" y="15135"/>
                  </a:lnTo>
                  <a:lnTo>
                    <a:pt x="1995" y="15281"/>
                  </a:lnTo>
                  <a:lnTo>
                    <a:pt x="1850" y="15378"/>
                  </a:lnTo>
                  <a:lnTo>
                    <a:pt x="1704" y="15500"/>
                  </a:lnTo>
                  <a:lnTo>
                    <a:pt x="1582" y="15621"/>
                  </a:lnTo>
                  <a:lnTo>
                    <a:pt x="1460" y="15767"/>
                  </a:lnTo>
                  <a:lnTo>
                    <a:pt x="1217" y="16084"/>
                  </a:lnTo>
                  <a:lnTo>
                    <a:pt x="1047" y="16351"/>
                  </a:lnTo>
                  <a:lnTo>
                    <a:pt x="925" y="16546"/>
                  </a:lnTo>
                  <a:lnTo>
                    <a:pt x="828" y="16741"/>
                  </a:lnTo>
                  <a:lnTo>
                    <a:pt x="730" y="16960"/>
                  </a:lnTo>
                  <a:lnTo>
                    <a:pt x="682" y="17179"/>
                  </a:lnTo>
                  <a:lnTo>
                    <a:pt x="633" y="17398"/>
                  </a:lnTo>
                  <a:lnTo>
                    <a:pt x="657" y="17617"/>
                  </a:lnTo>
                  <a:lnTo>
                    <a:pt x="706" y="17836"/>
                  </a:lnTo>
                  <a:lnTo>
                    <a:pt x="828" y="18055"/>
                  </a:lnTo>
                  <a:lnTo>
                    <a:pt x="901" y="18152"/>
                  </a:lnTo>
                  <a:lnTo>
                    <a:pt x="974" y="18225"/>
                  </a:lnTo>
                  <a:lnTo>
                    <a:pt x="1144" y="18322"/>
                  </a:lnTo>
                  <a:lnTo>
                    <a:pt x="1339" y="18395"/>
                  </a:lnTo>
                  <a:lnTo>
                    <a:pt x="1558" y="18420"/>
                  </a:lnTo>
                  <a:lnTo>
                    <a:pt x="1777" y="18420"/>
                  </a:lnTo>
                  <a:lnTo>
                    <a:pt x="1995" y="18371"/>
                  </a:lnTo>
                  <a:lnTo>
                    <a:pt x="2190" y="18322"/>
                  </a:lnTo>
                  <a:lnTo>
                    <a:pt x="2385" y="18249"/>
                  </a:lnTo>
                  <a:lnTo>
                    <a:pt x="2604" y="18128"/>
                  </a:lnTo>
                  <a:lnTo>
                    <a:pt x="2823" y="18006"/>
                  </a:lnTo>
                  <a:lnTo>
                    <a:pt x="3042" y="17836"/>
                  </a:lnTo>
                  <a:lnTo>
                    <a:pt x="3236" y="17665"/>
                  </a:lnTo>
                  <a:lnTo>
                    <a:pt x="3431" y="17471"/>
                  </a:lnTo>
                  <a:lnTo>
                    <a:pt x="3601" y="17276"/>
                  </a:lnTo>
                  <a:lnTo>
                    <a:pt x="3893" y="16838"/>
                  </a:lnTo>
                  <a:lnTo>
                    <a:pt x="4258" y="17081"/>
                  </a:lnTo>
                  <a:lnTo>
                    <a:pt x="4648" y="17276"/>
                  </a:lnTo>
                  <a:lnTo>
                    <a:pt x="4867" y="17398"/>
                  </a:lnTo>
                  <a:lnTo>
                    <a:pt x="5110" y="17495"/>
                  </a:lnTo>
                  <a:lnTo>
                    <a:pt x="5353" y="17568"/>
                  </a:lnTo>
                  <a:lnTo>
                    <a:pt x="5597" y="17641"/>
                  </a:lnTo>
                  <a:lnTo>
                    <a:pt x="6083" y="17738"/>
                  </a:lnTo>
                  <a:lnTo>
                    <a:pt x="6594" y="17811"/>
                  </a:lnTo>
                  <a:lnTo>
                    <a:pt x="7057" y="17884"/>
                  </a:lnTo>
                  <a:lnTo>
                    <a:pt x="7519" y="17909"/>
                  </a:lnTo>
                  <a:lnTo>
                    <a:pt x="8006" y="17909"/>
                  </a:lnTo>
                  <a:lnTo>
                    <a:pt x="8492" y="17860"/>
                  </a:lnTo>
                  <a:lnTo>
                    <a:pt x="8541" y="17884"/>
                  </a:lnTo>
                  <a:lnTo>
                    <a:pt x="8590" y="17860"/>
                  </a:lnTo>
                  <a:lnTo>
                    <a:pt x="8736" y="17811"/>
                  </a:lnTo>
                  <a:lnTo>
                    <a:pt x="8906" y="17787"/>
                  </a:lnTo>
                  <a:lnTo>
                    <a:pt x="9222" y="17738"/>
                  </a:lnTo>
                  <a:lnTo>
                    <a:pt x="9514" y="17690"/>
                  </a:lnTo>
                  <a:lnTo>
                    <a:pt x="9782" y="17592"/>
                  </a:lnTo>
                  <a:lnTo>
                    <a:pt x="10317" y="17398"/>
                  </a:lnTo>
                  <a:lnTo>
                    <a:pt x="11120" y="17130"/>
                  </a:lnTo>
                  <a:lnTo>
                    <a:pt x="11509" y="16984"/>
                  </a:lnTo>
                  <a:lnTo>
                    <a:pt x="11899" y="16789"/>
                  </a:lnTo>
                  <a:lnTo>
                    <a:pt x="11899" y="16814"/>
                  </a:lnTo>
                  <a:lnTo>
                    <a:pt x="11996" y="17033"/>
                  </a:lnTo>
                  <a:lnTo>
                    <a:pt x="12118" y="17227"/>
                  </a:lnTo>
                  <a:lnTo>
                    <a:pt x="12288" y="17446"/>
                  </a:lnTo>
                  <a:lnTo>
                    <a:pt x="12483" y="17641"/>
                  </a:lnTo>
                  <a:lnTo>
                    <a:pt x="12702" y="17811"/>
                  </a:lnTo>
                  <a:lnTo>
                    <a:pt x="12921" y="17957"/>
                  </a:lnTo>
                  <a:lnTo>
                    <a:pt x="13115" y="18079"/>
                  </a:lnTo>
                  <a:lnTo>
                    <a:pt x="13334" y="18176"/>
                  </a:lnTo>
                  <a:lnTo>
                    <a:pt x="13529" y="18249"/>
                  </a:lnTo>
                  <a:lnTo>
                    <a:pt x="13748" y="18298"/>
                  </a:lnTo>
                  <a:lnTo>
                    <a:pt x="13991" y="18347"/>
                  </a:lnTo>
                  <a:lnTo>
                    <a:pt x="14259" y="18347"/>
                  </a:lnTo>
                  <a:lnTo>
                    <a:pt x="14478" y="18322"/>
                  </a:lnTo>
                  <a:lnTo>
                    <a:pt x="14721" y="18249"/>
                  </a:lnTo>
                  <a:lnTo>
                    <a:pt x="14819" y="18176"/>
                  </a:lnTo>
                  <a:lnTo>
                    <a:pt x="14892" y="18103"/>
                  </a:lnTo>
                  <a:lnTo>
                    <a:pt x="14989" y="18030"/>
                  </a:lnTo>
                  <a:lnTo>
                    <a:pt x="15038" y="17933"/>
                  </a:lnTo>
                  <a:lnTo>
                    <a:pt x="15135" y="17763"/>
                  </a:lnTo>
                  <a:lnTo>
                    <a:pt x="15159" y="17568"/>
                  </a:lnTo>
                  <a:lnTo>
                    <a:pt x="15184" y="17373"/>
                  </a:lnTo>
                  <a:lnTo>
                    <a:pt x="15159" y="17203"/>
                  </a:lnTo>
                  <a:lnTo>
                    <a:pt x="15111" y="17008"/>
                  </a:lnTo>
                  <a:lnTo>
                    <a:pt x="15062" y="16838"/>
                  </a:lnTo>
                  <a:lnTo>
                    <a:pt x="14965" y="16643"/>
                  </a:lnTo>
                  <a:lnTo>
                    <a:pt x="14867" y="16473"/>
                  </a:lnTo>
                  <a:lnTo>
                    <a:pt x="14600" y="16132"/>
                  </a:lnTo>
                  <a:lnTo>
                    <a:pt x="14308" y="15792"/>
                  </a:lnTo>
                  <a:lnTo>
                    <a:pt x="13991" y="15524"/>
                  </a:lnTo>
                  <a:lnTo>
                    <a:pt x="13675" y="15281"/>
                  </a:lnTo>
                  <a:lnTo>
                    <a:pt x="13967" y="14916"/>
                  </a:lnTo>
                  <a:lnTo>
                    <a:pt x="14235" y="14551"/>
                  </a:lnTo>
                  <a:lnTo>
                    <a:pt x="14478" y="14137"/>
                  </a:lnTo>
                  <a:lnTo>
                    <a:pt x="14673" y="13748"/>
                  </a:lnTo>
                  <a:lnTo>
                    <a:pt x="14916" y="13237"/>
                  </a:lnTo>
                  <a:lnTo>
                    <a:pt x="15111" y="12677"/>
                  </a:lnTo>
                  <a:lnTo>
                    <a:pt x="15257" y="12118"/>
                  </a:lnTo>
                  <a:lnTo>
                    <a:pt x="15378" y="11534"/>
                  </a:lnTo>
                  <a:lnTo>
                    <a:pt x="15476" y="10950"/>
                  </a:lnTo>
                  <a:lnTo>
                    <a:pt x="15524" y="10366"/>
                  </a:lnTo>
                  <a:lnTo>
                    <a:pt x="15549" y="9782"/>
                  </a:lnTo>
                  <a:lnTo>
                    <a:pt x="15549" y="9222"/>
                  </a:lnTo>
                  <a:lnTo>
                    <a:pt x="15524" y="8979"/>
                  </a:lnTo>
                  <a:lnTo>
                    <a:pt x="15476" y="8735"/>
                  </a:lnTo>
                  <a:lnTo>
                    <a:pt x="15354" y="8249"/>
                  </a:lnTo>
                  <a:lnTo>
                    <a:pt x="15208" y="7786"/>
                  </a:lnTo>
                  <a:lnTo>
                    <a:pt x="15038" y="7348"/>
                  </a:lnTo>
                  <a:lnTo>
                    <a:pt x="14867" y="6910"/>
                  </a:lnTo>
                  <a:lnTo>
                    <a:pt x="14794" y="6691"/>
                  </a:lnTo>
                  <a:lnTo>
                    <a:pt x="14697" y="6472"/>
                  </a:lnTo>
                  <a:lnTo>
                    <a:pt x="14575" y="6278"/>
                  </a:lnTo>
                  <a:lnTo>
                    <a:pt x="14429" y="6107"/>
                  </a:lnTo>
                  <a:lnTo>
                    <a:pt x="14381" y="6107"/>
                  </a:lnTo>
                  <a:lnTo>
                    <a:pt x="13991" y="6034"/>
                  </a:lnTo>
                  <a:lnTo>
                    <a:pt x="13578" y="5961"/>
                  </a:lnTo>
                  <a:lnTo>
                    <a:pt x="13042" y="6521"/>
                  </a:lnTo>
                  <a:lnTo>
                    <a:pt x="12458" y="7105"/>
                  </a:lnTo>
                  <a:lnTo>
                    <a:pt x="12580" y="7202"/>
                  </a:lnTo>
                  <a:lnTo>
                    <a:pt x="12702" y="7324"/>
                  </a:lnTo>
                  <a:lnTo>
                    <a:pt x="12799" y="7470"/>
                  </a:lnTo>
                  <a:lnTo>
                    <a:pt x="12872" y="7616"/>
                  </a:lnTo>
                  <a:lnTo>
                    <a:pt x="13018" y="7957"/>
                  </a:lnTo>
                  <a:lnTo>
                    <a:pt x="13140" y="8249"/>
                  </a:lnTo>
                  <a:lnTo>
                    <a:pt x="13213" y="8468"/>
                  </a:lnTo>
                  <a:lnTo>
                    <a:pt x="13286" y="8687"/>
                  </a:lnTo>
                  <a:lnTo>
                    <a:pt x="13383" y="9173"/>
                  </a:lnTo>
                  <a:lnTo>
                    <a:pt x="13407" y="9684"/>
                  </a:lnTo>
                  <a:lnTo>
                    <a:pt x="13407" y="10147"/>
                  </a:lnTo>
                  <a:lnTo>
                    <a:pt x="13383" y="10585"/>
                  </a:lnTo>
                  <a:lnTo>
                    <a:pt x="13310" y="11023"/>
                  </a:lnTo>
                  <a:lnTo>
                    <a:pt x="13188" y="11436"/>
                  </a:lnTo>
                  <a:lnTo>
                    <a:pt x="13042" y="11850"/>
                  </a:lnTo>
                  <a:lnTo>
                    <a:pt x="12872" y="12264"/>
                  </a:lnTo>
                  <a:lnTo>
                    <a:pt x="12677" y="12653"/>
                  </a:lnTo>
                  <a:lnTo>
                    <a:pt x="12458" y="13018"/>
                  </a:lnTo>
                  <a:lnTo>
                    <a:pt x="12239" y="13383"/>
                  </a:lnTo>
                  <a:lnTo>
                    <a:pt x="11923" y="13748"/>
                  </a:lnTo>
                  <a:lnTo>
                    <a:pt x="11582" y="14088"/>
                  </a:lnTo>
                  <a:lnTo>
                    <a:pt x="11217" y="14380"/>
                  </a:lnTo>
                  <a:lnTo>
                    <a:pt x="10828" y="14648"/>
                  </a:lnTo>
                  <a:lnTo>
                    <a:pt x="10414" y="14867"/>
                  </a:lnTo>
                  <a:lnTo>
                    <a:pt x="9976" y="15062"/>
                  </a:lnTo>
                  <a:lnTo>
                    <a:pt x="9539" y="15256"/>
                  </a:lnTo>
                  <a:lnTo>
                    <a:pt x="9101" y="15427"/>
                  </a:lnTo>
                  <a:lnTo>
                    <a:pt x="8809" y="15524"/>
                  </a:lnTo>
                  <a:lnTo>
                    <a:pt x="8517" y="15597"/>
                  </a:lnTo>
                  <a:lnTo>
                    <a:pt x="8225" y="15646"/>
                  </a:lnTo>
                  <a:lnTo>
                    <a:pt x="7957" y="15670"/>
                  </a:lnTo>
                  <a:lnTo>
                    <a:pt x="7397" y="15670"/>
                  </a:lnTo>
                  <a:lnTo>
                    <a:pt x="7130" y="15646"/>
                  </a:lnTo>
                  <a:lnTo>
                    <a:pt x="6862" y="15597"/>
                  </a:lnTo>
                  <a:lnTo>
                    <a:pt x="6594" y="15548"/>
                  </a:lnTo>
                  <a:lnTo>
                    <a:pt x="6327" y="15475"/>
                  </a:lnTo>
                  <a:lnTo>
                    <a:pt x="5816" y="15281"/>
                  </a:lnTo>
                  <a:lnTo>
                    <a:pt x="5280" y="15062"/>
                  </a:lnTo>
                  <a:lnTo>
                    <a:pt x="4769" y="14770"/>
                  </a:lnTo>
                  <a:lnTo>
                    <a:pt x="4015" y="14307"/>
                  </a:lnTo>
                  <a:lnTo>
                    <a:pt x="3918" y="14259"/>
                  </a:lnTo>
                  <a:lnTo>
                    <a:pt x="3820" y="14161"/>
                  </a:lnTo>
                  <a:lnTo>
                    <a:pt x="3674" y="13991"/>
                  </a:lnTo>
                  <a:lnTo>
                    <a:pt x="3382" y="13602"/>
                  </a:lnTo>
                  <a:lnTo>
                    <a:pt x="3066" y="13164"/>
                  </a:lnTo>
                  <a:lnTo>
                    <a:pt x="2774" y="12726"/>
                  </a:lnTo>
                  <a:lnTo>
                    <a:pt x="2652" y="12483"/>
                  </a:lnTo>
                  <a:lnTo>
                    <a:pt x="2555" y="12239"/>
                  </a:lnTo>
                  <a:lnTo>
                    <a:pt x="2458" y="11972"/>
                  </a:lnTo>
                  <a:lnTo>
                    <a:pt x="2360" y="11728"/>
                  </a:lnTo>
                  <a:lnTo>
                    <a:pt x="2263" y="11242"/>
                  </a:lnTo>
                  <a:lnTo>
                    <a:pt x="2214" y="10731"/>
                  </a:lnTo>
                  <a:lnTo>
                    <a:pt x="2214" y="10220"/>
                  </a:lnTo>
                  <a:lnTo>
                    <a:pt x="2239" y="9684"/>
                  </a:lnTo>
                  <a:lnTo>
                    <a:pt x="2336" y="9149"/>
                  </a:lnTo>
                  <a:lnTo>
                    <a:pt x="2433" y="8662"/>
                  </a:lnTo>
                  <a:lnTo>
                    <a:pt x="2604" y="8151"/>
                  </a:lnTo>
                  <a:lnTo>
                    <a:pt x="2774" y="7713"/>
                  </a:lnTo>
                  <a:lnTo>
                    <a:pt x="2969" y="7324"/>
                  </a:lnTo>
                  <a:lnTo>
                    <a:pt x="3188" y="6959"/>
                  </a:lnTo>
                  <a:lnTo>
                    <a:pt x="3431" y="6618"/>
                  </a:lnTo>
                  <a:lnTo>
                    <a:pt x="3699" y="6302"/>
                  </a:lnTo>
                  <a:lnTo>
                    <a:pt x="4015" y="6010"/>
                  </a:lnTo>
                  <a:lnTo>
                    <a:pt x="4331" y="5742"/>
                  </a:lnTo>
                  <a:lnTo>
                    <a:pt x="4648" y="5499"/>
                  </a:lnTo>
                  <a:lnTo>
                    <a:pt x="5013" y="5280"/>
                  </a:lnTo>
                  <a:lnTo>
                    <a:pt x="5378" y="5086"/>
                  </a:lnTo>
                  <a:lnTo>
                    <a:pt x="5767" y="4915"/>
                  </a:lnTo>
                  <a:lnTo>
                    <a:pt x="6156" y="4794"/>
                  </a:lnTo>
                  <a:lnTo>
                    <a:pt x="6570" y="4672"/>
                  </a:lnTo>
                  <a:lnTo>
                    <a:pt x="6984" y="4599"/>
                  </a:lnTo>
                  <a:lnTo>
                    <a:pt x="7397" y="4550"/>
                  </a:lnTo>
                  <a:lnTo>
                    <a:pt x="7811" y="4526"/>
                  </a:lnTo>
                  <a:lnTo>
                    <a:pt x="8225" y="4526"/>
                  </a:lnTo>
                  <a:lnTo>
                    <a:pt x="8614" y="4575"/>
                  </a:lnTo>
                  <a:lnTo>
                    <a:pt x="8979" y="4623"/>
                  </a:lnTo>
                  <a:lnTo>
                    <a:pt x="9344" y="4696"/>
                  </a:lnTo>
                  <a:lnTo>
                    <a:pt x="9685" y="4794"/>
                  </a:lnTo>
                  <a:lnTo>
                    <a:pt x="10049" y="4940"/>
                  </a:lnTo>
                  <a:lnTo>
                    <a:pt x="10390" y="5086"/>
                  </a:lnTo>
                  <a:lnTo>
                    <a:pt x="10706" y="5280"/>
                  </a:lnTo>
                  <a:lnTo>
                    <a:pt x="10998" y="5499"/>
                  </a:lnTo>
                  <a:lnTo>
                    <a:pt x="11363" y="5134"/>
                  </a:lnTo>
                  <a:lnTo>
                    <a:pt x="11704" y="4745"/>
                  </a:lnTo>
                  <a:lnTo>
                    <a:pt x="11874" y="4575"/>
                  </a:lnTo>
                  <a:lnTo>
                    <a:pt x="11801" y="4258"/>
                  </a:lnTo>
                  <a:lnTo>
                    <a:pt x="11777" y="3942"/>
                  </a:lnTo>
                  <a:lnTo>
                    <a:pt x="11728" y="3650"/>
                  </a:lnTo>
                  <a:lnTo>
                    <a:pt x="11680" y="3382"/>
                  </a:lnTo>
                  <a:lnTo>
                    <a:pt x="11169" y="3042"/>
                  </a:lnTo>
                  <a:lnTo>
                    <a:pt x="10925" y="2871"/>
                  </a:lnTo>
                  <a:lnTo>
                    <a:pt x="10633" y="2750"/>
                  </a:lnTo>
                  <a:lnTo>
                    <a:pt x="10147" y="2579"/>
                  </a:lnTo>
                  <a:lnTo>
                    <a:pt x="9685" y="2458"/>
                  </a:lnTo>
                  <a:lnTo>
                    <a:pt x="9174" y="2385"/>
                  </a:lnTo>
                  <a:lnTo>
                    <a:pt x="8687" y="23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" name="Title 7">
            <a:extLst>
              <a:ext uri="{FF2B5EF4-FFF2-40B4-BE49-F238E27FC236}">
                <a16:creationId xmlns:a16="http://schemas.microsoft.com/office/drawing/2014/main" id="{B1358E4A-5487-4686-B622-44933BC8C642}"/>
              </a:ext>
            </a:extLst>
          </p:cNvPr>
          <p:cNvSpPr txBox="1">
            <a:spLocks/>
          </p:cNvSpPr>
          <p:nvPr/>
        </p:nvSpPr>
        <p:spPr>
          <a:xfrm>
            <a:off x="717632" y="1133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3000" b="0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algn="l"/>
            <a:r>
              <a:rPr lang="bg-BG" sz="3200" b="1" dirty="0"/>
              <a:t>Задача 5 </a:t>
            </a:r>
            <a:r>
              <a:rPr lang="en-US" sz="3200" b="1" dirty="0"/>
              <a:t>-</a:t>
            </a:r>
            <a:r>
              <a:rPr lang="bg-BG" sz="3200" b="1" dirty="0"/>
              <a:t> математически модел </a:t>
            </a:r>
            <a:endParaRPr lang="en-US" sz="3200" b="1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83792BE-367E-493F-8E20-4FF99D137C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/>
              <p:nvPr/>
            </p:nvSpPr>
            <p:spPr>
              <a:xfrm>
                <a:off x="1118647" y="1890553"/>
                <a:ext cx="5797992" cy="2363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𝑿</m:t>
                      </m:r>
                      <m:r>
                        <a:rPr lang="en-US" sz="28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: 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28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</m:ctrlPr>
                            </m:eqArrPr>
                            <m:e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𝟓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𝟎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𝟒𝟎</m:t>
                                  </m:r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≥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𝟒𝟎𝟎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𝟗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𝟏𝟎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𝟖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 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𝒋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𝟏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8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647" y="1890553"/>
                <a:ext cx="5797992" cy="2363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425D407-880D-41AF-ACC4-388718E8C15D}"/>
              </a:ext>
            </a:extLst>
          </p:cNvPr>
          <p:cNvGrpSpPr/>
          <p:nvPr/>
        </p:nvGrpSpPr>
        <p:grpSpPr>
          <a:xfrm>
            <a:off x="5294454" y="2971800"/>
            <a:ext cx="2866678" cy="577850"/>
            <a:chOff x="5294454" y="2971800"/>
            <a:chExt cx="2866678" cy="57785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7718F953-6184-4C0C-BD0D-F61D6B2FF4E1}"/>
                </a:ext>
              </a:extLst>
            </p:cNvPr>
            <p:cNvSpPr/>
            <p:nvPr/>
          </p:nvSpPr>
          <p:spPr>
            <a:xfrm>
              <a:off x="5294454" y="2971800"/>
              <a:ext cx="271459" cy="57647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1F4239-8051-4C54-97B9-844B5B8682EE}"/>
                </a:ext>
              </a:extLst>
            </p:cNvPr>
            <p:cNvSpPr/>
            <p:nvPr/>
          </p:nvSpPr>
          <p:spPr>
            <a:xfrm>
              <a:off x="5672145" y="2971800"/>
              <a:ext cx="2488987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Тези две ограничения са излишни.</a:t>
              </a:r>
              <a:endParaRPr lang="en-US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30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978" y="838200"/>
            <a:ext cx="7367781" cy="5441950"/>
          </a:xfrm>
        </p:spPr>
        <p:txBody>
          <a:bodyPr>
            <a:normAutofit lnSpcReduction="10000"/>
          </a:bodyPr>
          <a:lstStyle/>
          <a:p>
            <a:r>
              <a:rPr lang="bg-BG" sz="1700" dirty="0"/>
              <a:t>Предприятие разполага с три вида ресурси – материали, работна сила и оборудване. С тези ресурси то произвежда 4 вида продукти, като количествата ресурси, необходими за производството им, са зададени в следната таблица: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bg-BG" sz="1700" dirty="0"/>
          </a:p>
          <a:p>
            <a:r>
              <a:rPr lang="bg-BG" sz="1700" dirty="0"/>
              <a:t>Съществуват и допълнителни изисквания:</a:t>
            </a:r>
          </a:p>
          <a:p>
            <a:r>
              <a:rPr lang="bg-BG" sz="1700" dirty="0"/>
              <a:t>От първия вид продукция се произвеждат не повече от 5 единици, от втория не по-малко от 8, а третия и четвъртия са в отношение не по-малко от 1:2.</a:t>
            </a:r>
          </a:p>
          <a:p>
            <a:r>
              <a:rPr lang="bg-BG" sz="1700" dirty="0"/>
              <a:t>Съставете математически модел, чрез който да се определи оптималния план за производство на продукция при условие, че приходите от различните видове продукция са както следва: 17, 35, 20 и 15.</a:t>
            </a:r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F7666C5-1B1B-4B10-A547-34DA5792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6</a:t>
            </a:r>
            <a:endParaRPr lang="en-US" sz="3600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27DF383-526E-4940-9C88-F24185B415F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graphicFrame>
        <p:nvGraphicFramePr>
          <p:cNvPr id="5" name="Shape 220">
            <a:extLst>
              <a:ext uri="{FF2B5EF4-FFF2-40B4-BE49-F238E27FC236}">
                <a16:creationId xmlns:a16="http://schemas.microsoft.com/office/drawing/2014/main" id="{906113BE-77C8-477B-B558-15B04B338B14}"/>
              </a:ext>
            </a:extLst>
          </p:cNvPr>
          <p:cNvGraphicFramePr/>
          <p:nvPr/>
        </p:nvGraphicFramePr>
        <p:xfrm>
          <a:off x="1020629" y="2028549"/>
          <a:ext cx="7070477" cy="1810569"/>
        </p:xfrm>
        <a:graphic>
          <a:graphicData uri="http://schemas.openxmlformats.org/drawingml/2006/table">
            <a:tbl>
              <a:tblPr>
                <a:noFill/>
                <a:tableStyleId>{DE05D1AB-BAE4-4E3A-A547-ADA6829F2946}</a:tableStyleId>
              </a:tblPr>
              <a:tblGrid>
                <a:gridCol w="1305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583">
                  <a:extLst>
                    <a:ext uri="{9D8B030D-6E8A-4147-A177-3AD203B41FA5}">
                      <a16:colId xmlns:a16="http://schemas.microsoft.com/office/drawing/2014/main" val="1277664891"/>
                    </a:ext>
                  </a:extLst>
                </a:gridCol>
                <a:gridCol w="2068436">
                  <a:extLst>
                    <a:ext uri="{9D8B030D-6E8A-4147-A177-3AD203B41FA5}">
                      <a16:colId xmlns:a16="http://schemas.microsoft.com/office/drawing/2014/main" val="4084599370"/>
                    </a:ext>
                  </a:extLst>
                </a:gridCol>
              </a:tblGrid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 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Продукт 1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Продукт 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Продукт 3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Продукт 4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Разполагаем обем на ресурсите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Материали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3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60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Работна сила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14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18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30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400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Оборудване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14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8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16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130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359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6 - решение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/>
              <p:nvPr/>
            </p:nvSpPr>
            <p:spPr>
              <a:xfrm>
                <a:off x="1009006" y="936270"/>
                <a:ext cx="7125987" cy="1536118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dirty="0"/>
              </a:p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Неизвестни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 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количество от продукт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количество от продукт 2 </a:t>
                </a:r>
                <a:endParaRPr lang="bg-BG" sz="1600" b="1" i="1" dirty="0">
                  <a:solidFill>
                    <a:srgbClr val="505670"/>
                  </a:solidFill>
                  <a:latin typeface="Cambria Math" panose="02040503050406030204" pitchFamily="18" charset="0"/>
                  <a:cs typeface="Varela Round"/>
                  <a:sym typeface="Varela Round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bg-BG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количество от продукт 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bg-BG" sz="1600" b="1" i="1" smtClean="0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количество от продукт 4</a:t>
                </a:r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06" y="936270"/>
                <a:ext cx="7125987" cy="1536118"/>
              </a:xfrm>
              <a:prstGeom prst="rect">
                <a:avLst/>
              </a:prstGeom>
              <a:blipFill>
                <a:blip r:embed="rId2"/>
                <a:stretch>
                  <a:fillRect l="-341" b="-3906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/>
              <p:nvPr/>
            </p:nvSpPr>
            <p:spPr>
              <a:xfrm>
                <a:off x="990062" y="2725515"/>
                <a:ext cx="7125987" cy="123825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6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Целева функция: </a:t>
                </a:r>
              </a:p>
              <a:p>
                <a:r>
                  <a:rPr lang="bg-BG" sz="16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Основната цел е да максимизираме приходите на предприятието от продажби.</a:t>
                </a:r>
                <a:endParaRPr lang="en-US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𝒛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en-US" sz="160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1600" b="1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𝟏</m:t>
                      </m:r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𝟕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𝟏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𝟑𝟓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𝟐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bg-BG" sz="1600" b="1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𝟐𝟎</m:t>
                          </m:r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𝟑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𝟏𝟓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bg-BG" sz="16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𝟒</m:t>
                          </m:r>
                        </m:sub>
                      </m:sSub>
                      <m:r>
                        <a:rPr lang="bg-BG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→</m:t>
                      </m:r>
                      <m:r>
                        <a:rPr lang="en-US" sz="16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𝒎𝒂𝒙</m:t>
                      </m:r>
                    </m:oMath>
                  </m:oMathPara>
                </a14:m>
                <a:endParaRPr lang="en-US" sz="16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62" y="2725515"/>
                <a:ext cx="7125987" cy="1238257"/>
              </a:xfrm>
              <a:prstGeom prst="rect">
                <a:avLst/>
              </a:prstGeom>
              <a:blipFill>
                <a:blip r:embed="rId3"/>
                <a:stretch>
                  <a:fillRect l="-256" t="-4348" b="-1449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556B33B-C01C-41EF-867D-FA645C002B4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F19B35-ABBC-48A1-BCE7-031B2AAFD1BD}"/>
              </a:ext>
            </a:extLst>
          </p:cNvPr>
          <p:cNvSpPr/>
          <p:nvPr/>
        </p:nvSpPr>
        <p:spPr>
          <a:xfrm>
            <a:off x="1009006" y="4411490"/>
            <a:ext cx="7125987" cy="123825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g-BG" sz="16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Ограничения:</a:t>
            </a:r>
          </a:p>
          <a:p>
            <a:r>
              <a:rPr lang="bg-BG" sz="16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Ограниченията са от гледна точка на налични ресурси и производствен процес.</a:t>
            </a:r>
          </a:p>
          <a:p>
            <a:endParaRPr lang="bg-BG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370406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sym typeface="Arial"/>
                        </a:rPr>
                        <m:t>𝒛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sym typeface="Arial"/>
                            </a:rPr>
                            <m:t>𝒙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r>
                        <a:rPr lang="bg-BG" sz="2000" b="1" i="1">
                          <a:latin typeface="Cambria Math" panose="02040503050406030204" pitchFamily="18" charset="0"/>
                        </a:rPr>
                        <m:t>𝟏𝟕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2000" b="1" i="1">
                          <a:latin typeface="Cambria Math" panose="02040503050406030204" pitchFamily="18" charset="0"/>
                        </a:rPr>
                        <m:t>𝟑𝟓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sz="2000" b="1" i="1">
                              <a:latin typeface="Cambria Math" panose="02040503050406030204" pitchFamily="18" charset="0"/>
                            </a:rPr>
                            <m:t>𝟐𝟎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bg-BG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2000" b="1" i="1">
                          <a:latin typeface="Cambria Math" panose="02040503050406030204" pitchFamily="18" charset="0"/>
                        </a:rPr>
                        <m:t>𝟏𝟓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bg-BG" sz="2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bg-BG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𝒎𝒂𝒙</m:t>
                      </m:r>
                    </m:oMath>
                  </m:oMathPara>
                </a14:m>
                <a:endParaRPr lang="bg-BG" sz="2000" b="1" i="1" dirty="0">
                  <a:latin typeface="Cambria Math" panose="02040503050406030204" pitchFamily="18" charset="0"/>
                  <a:sym typeface="Arial"/>
                </a:endParaRPr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053F4E6-5000-4F54-A983-EA35B653740D}"/>
              </a:ext>
            </a:extLst>
          </p:cNvPr>
          <p:cNvGrpSpPr/>
          <p:nvPr/>
        </p:nvGrpSpPr>
        <p:grpSpPr>
          <a:xfrm>
            <a:off x="1282988" y="5618491"/>
            <a:ext cx="4011466" cy="577850"/>
            <a:chOff x="4572000" y="5624511"/>
            <a:chExt cx="4011466" cy="577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76782C-36E0-494B-A1B9-9A07FF92AB9F}"/>
                </a:ext>
              </a:extLst>
            </p:cNvPr>
            <p:cNvSpPr/>
            <p:nvPr/>
          </p:nvSpPr>
          <p:spPr>
            <a:xfrm>
              <a:off x="4582966" y="5624511"/>
              <a:ext cx="4000500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Решете задачата в </a:t>
              </a:r>
              <a:r>
                <a: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Excel.</a:t>
              </a:r>
            </a:p>
          </p:txBody>
        </p:sp>
        <p:sp>
          <p:nvSpPr>
            <p:cNvPr id="15" name="Shape 375">
              <a:extLst>
                <a:ext uri="{FF2B5EF4-FFF2-40B4-BE49-F238E27FC236}">
                  <a16:creationId xmlns:a16="http://schemas.microsoft.com/office/drawing/2014/main" id="{D3FFFDB5-3F64-4721-BDE0-C607DD260E76}"/>
                </a:ext>
              </a:extLst>
            </p:cNvPr>
            <p:cNvSpPr/>
            <p:nvPr/>
          </p:nvSpPr>
          <p:spPr>
            <a:xfrm>
              <a:off x="4572000" y="5671284"/>
              <a:ext cx="387161" cy="402569"/>
            </a:xfrm>
            <a:custGeom>
              <a:avLst/>
              <a:gdLst/>
              <a:ahLst/>
              <a:cxnLst/>
              <a:rect l="0" t="0" r="0" b="0"/>
              <a:pathLst>
                <a:path w="17715" h="18420" extrusionOk="0">
                  <a:moveTo>
                    <a:pt x="14673" y="803"/>
                  </a:moveTo>
                  <a:lnTo>
                    <a:pt x="14746" y="1022"/>
                  </a:lnTo>
                  <a:lnTo>
                    <a:pt x="14794" y="1217"/>
                  </a:lnTo>
                  <a:lnTo>
                    <a:pt x="14843" y="1655"/>
                  </a:lnTo>
                  <a:lnTo>
                    <a:pt x="14892" y="2141"/>
                  </a:lnTo>
                  <a:lnTo>
                    <a:pt x="14916" y="2385"/>
                  </a:lnTo>
                  <a:lnTo>
                    <a:pt x="14940" y="2482"/>
                  </a:lnTo>
                  <a:lnTo>
                    <a:pt x="15013" y="2604"/>
                  </a:lnTo>
                  <a:lnTo>
                    <a:pt x="14770" y="2847"/>
                  </a:lnTo>
                  <a:lnTo>
                    <a:pt x="14697" y="2920"/>
                  </a:lnTo>
                  <a:lnTo>
                    <a:pt x="14648" y="2628"/>
                  </a:lnTo>
                  <a:lnTo>
                    <a:pt x="14600" y="2360"/>
                  </a:lnTo>
                  <a:lnTo>
                    <a:pt x="14527" y="2044"/>
                  </a:lnTo>
                  <a:lnTo>
                    <a:pt x="14405" y="1776"/>
                  </a:lnTo>
                  <a:lnTo>
                    <a:pt x="14308" y="1484"/>
                  </a:lnTo>
                  <a:lnTo>
                    <a:pt x="14210" y="1192"/>
                  </a:lnTo>
                  <a:lnTo>
                    <a:pt x="14673" y="803"/>
                  </a:lnTo>
                  <a:close/>
                  <a:moveTo>
                    <a:pt x="15695" y="2847"/>
                  </a:moveTo>
                  <a:lnTo>
                    <a:pt x="16400" y="2871"/>
                  </a:lnTo>
                  <a:lnTo>
                    <a:pt x="17106" y="2969"/>
                  </a:lnTo>
                  <a:lnTo>
                    <a:pt x="16984" y="3115"/>
                  </a:lnTo>
                  <a:lnTo>
                    <a:pt x="16960" y="3090"/>
                  </a:lnTo>
                  <a:lnTo>
                    <a:pt x="16887" y="3042"/>
                  </a:lnTo>
                  <a:lnTo>
                    <a:pt x="16790" y="2993"/>
                  </a:lnTo>
                  <a:lnTo>
                    <a:pt x="16595" y="2969"/>
                  </a:lnTo>
                  <a:lnTo>
                    <a:pt x="16400" y="2944"/>
                  </a:lnTo>
                  <a:lnTo>
                    <a:pt x="15914" y="2944"/>
                  </a:lnTo>
                  <a:lnTo>
                    <a:pt x="15622" y="2920"/>
                  </a:lnTo>
                  <a:lnTo>
                    <a:pt x="15695" y="2847"/>
                  </a:lnTo>
                  <a:close/>
                  <a:moveTo>
                    <a:pt x="14040" y="1314"/>
                  </a:moveTo>
                  <a:lnTo>
                    <a:pt x="14040" y="1484"/>
                  </a:lnTo>
                  <a:lnTo>
                    <a:pt x="14064" y="1655"/>
                  </a:lnTo>
                  <a:lnTo>
                    <a:pt x="14137" y="2020"/>
                  </a:lnTo>
                  <a:lnTo>
                    <a:pt x="14283" y="2871"/>
                  </a:lnTo>
                  <a:lnTo>
                    <a:pt x="14308" y="3066"/>
                  </a:lnTo>
                  <a:lnTo>
                    <a:pt x="14332" y="3236"/>
                  </a:lnTo>
                  <a:lnTo>
                    <a:pt x="14162" y="3382"/>
                  </a:lnTo>
                  <a:lnTo>
                    <a:pt x="14137" y="3139"/>
                  </a:lnTo>
                  <a:lnTo>
                    <a:pt x="14040" y="2871"/>
                  </a:lnTo>
                  <a:lnTo>
                    <a:pt x="13870" y="2433"/>
                  </a:lnTo>
                  <a:lnTo>
                    <a:pt x="13748" y="2068"/>
                  </a:lnTo>
                  <a:lnTo>
                    <a:pt x="13675" y="1703"/>
                  </a:lnTo>
                  <a:lnTo>
                    <a:pt x="13651" y="1630"/>
                  </a:lnTo>
                  <a:lnTo>
                    <a:pt x="13699" y="1582"/>
                  </a:lnTo>
                  <a:lnTo>
                    <a:pt x="14040" y="1314"/>
                  </a:lnTo>
                  <a:close/>
                  <a:moveTo>
                    <a:pt x="13359" y="1898"/>
                  </a:moveTo>
                  <a:lnTo>
                    <a:pt x="13432" y="2239"/>
                  </a:lnTo>
                  <a:lnTo>
                    <a:pt x="13553" y="2677"/>
                  </a:lnTo>
                  <a:lnTo>
                    <a:pt x="13699" y="3090"/>
                  </a:lnTo>
                  <a:lnTo>
                    <a:pt x="13772" y="3358"/>
                  </a:lnTo>
                  <a:lnTo>
                    <a:pt x="13821" y="3480"/>
                  </a:lnTo>
                  <a:lnTo>
                    <a:pt x="13894" y="3601"/>
                  </a:lnTo>
                  <a:lnTo>
                    <a:pt x="13724" y="3723"/>
                  </a:lnTo>
                  <a:lnTo>
                    <a:pt x="13699" y="3577"/>
                  </a:lnTo>
                  <a:lnTo>
                    <a:pt x="13675" y="3407"/>
                  </a:lnTo>
                  <a:lnTo>
                    <a:pt x="13578" y="3090"/>
                  </a:lnTo>
                  <a:lnTo>
                    <a:pt x="13529" y="2798"/>
                  </a:lnTo>
                  <a:lnTo>
                    <a:pt x="13456" y="2531"/>
                  </a:lnTo>
                  <a:lnTo>
                    <a:pt x="13383" y="2239"/>
                  </a:lnTo>
                  <a:lnTo>
                    <a:pt x="13237" y="1995"/>
                  </a:lnTo>
                  <a:lnTo>
                    <a:pt x="13359" y="1898"/>
                  </a:lnTo>
                  <a:close/>
                  <a:moveTo>
                    <a:pt x="15378" y="3188"/>
                  </a:moveTo>
                  <a:lnTo>
                    <a:pt x="15500" y="3236"/>
                  </a:lnTo>
                  <a:lnTo>
                    <a:pt x="15646" y="3261"/>
                  </a:lnTo>
                  <a:lnTo>
                    <a:pt x="15914" y="3285"/>
                  </a:lnTo>
                  <a:lnTo>
                    <a:pt x="16790" y="3358"/>
                  </a:lnTo>
                  <a:lnTo>
                    <a:pt x="16473" y="3723"/>
                  </a:lnTo>
                  <a:lnTo>
                    <a:pt x="16449" y="3650"/>
                  </a:lnTo>
                  <a:lnTo>
                    <a:pt x="16425" y="3601"/>
                  </a:lnTo>
                  <a:lnTo>
                    <a:pt x="16376" y="3553"/>
                  </a:lnTo>
                  <a:lnTo>
                    <a:pt x="16303" y="3528"/>
                  </a:lnTo>
                  <a:lnTo>
                    <a:pt x="16084" y="3455"/>
                  </a:lnTo>
                  <a:lnTo>
                    <a:pt x="15816" y="3431"/>
                  </a:lnTo>
                  <a:lnTo>
                    <a:pt x="15573" y="3431"/>
                  </a:lnTo>
                  <a:lnTo>
                    <a:pt x="15330" y="3455"/>
                  </a:lnTo>
                  <a:lnTo>
                    <a:pt x="15086" y="3455"/>
                  </a:lnTo>
                  <a:lnTo>
                    <a:pt x="15135" y="3431"/>
                  </a:lnTo>
                  <a:lnTo>
                    <a:pt x="15378" y="3188"/>
                  </a:lnTo>
                  <a:close/>
                  <a:moveTo>
                    <a:pt x="13067" y="2166"/>
                  </a:moveTo>
                  <a:lnTo>
                    <a:pt x="13115" y="2628"/>
                  </a:lnTo>
                  <a:lnTo>
                    <a:pt x="13164" y="3042"/>
                  </a:lnTo>
                  <a:lnTo>
                    <a:pt x="13188" y="3285"/>
                  </a:lnTo>
                  <a:lnTo>
                    <a:pt x="13213" y="3553"/>
                  </a:lnTo>
                  <a:lnTo>
                    <a:pt x="13261" y="3699"/>
                  </a:lnTo>
                  <a:lnTo>
                    <a:pt x="13286" y="3820"/>
                  </a:lnTo>
                  <a:lnTo>
                    <a:pt x="13359" y="3942"/>
                  </a:lnTo>
                  <a:lnTo>
                    <a:pt x="13432" y="4015"/>
                  </a:lnTo>
                  <a:lnTo>
                    <a:pt x="13213" y="4234"/>
                  </a:lnTo>
                  <a:lnTo>
                    <a:pt x="13140" y="3845"/>
                  </a:lnTo>
                  <a:lnTo>
                    <a:pt x="13042" y="3480"/>
                  </a:lnTo>
                  <a:lnTo>
                    <a:pt x="12994" y="3236"/>
                  </a:lnTo>
                  <a:lnTo>
                    <a:pt x="12921" y="2969"/>
                  </a:lnTo>
                  <a:lnTo>
                    <a:pt x="12823" y="2701"/>
                  </a:lnTo>
                  <a:lnTo>
                    <a:pt x="12702" y="2482"/>
                  </a:lnTo>
                  <a:lnTo>
                    <a:pt x="12872" y="2336"/>
                  </a:lnTo>
                  <a:lnTo>
                    <a:pt x="13067" y="2166"/>
                  </a:lnTo>
                  <a:close/>
                  <a:moveTo>
                    <a:pt x="14648" y="3796"/>
                  </a:moveTo>
                  <a:lnTo>
                    <a:pt x="14819" y="3869"/>
                  </a:lnTo>
                  <a:lnTo>
                    <a:pt x="15013" y="3893"/>
                  </a:lnTo>
                  <a:lnTo>
                    <a:pt x="15232" y="3918"/>
                  </a:lnTo>
                  <a:lnTo>
                    <a:pt x="16035" y="3918"/>
                  </a:lnTo>
                  <a:lnTo>
                    <a:pt x="16181" y="3966"/>
                  </a:lnTo>
                  <a:lnTo>
                    <a:pt x="16230" y="3966"/>
                  </a:lnTo>
                  <a:lnTo>
                    <a:pt x="16011" y="4185"/>
                  </a:lnTo>
                  <a:lnTo>
                    <a:pt x="15938" y="4258"/>
                  </a:lnTo>
                  <a:lnTo>
                    <a:pt x="15816" y="4210"/>
                  </a:lnTo>
                  <a:lnTo>
                    <a:pt x="15695" y="4161"/>
                  </a:lnTo>
                  <a:lnTo>
                    <a:pt x="15403" y="4137"/>
                  </a:lnTo>
                  <a:lnTo>
                    <a:pt x="14916" y="4137"/>
                  </a:lnTo>
                  <a:lnTo>
                    <a:pt x="14600" y="4112"/>
                  </a:lnTo>
                  <a:lnTo>
                    <a:pt x="14259" y="4112"/>
                  </a:lnTo>
                  <a:lnTo>
                    <a:pt x="14648" y="3796"/>
                  </a:lnTo>
                  <a:close/>
                  <a:moveTo>
                    <a:pt x="13943" y="4404"/>
                  </a:moveTo>
                  <a:lnTo>
                    <a:pt x="14283" y="4453"/>
                  </a:lnTo>
                  <a:lnTo>
                    <a:pt x="14648" y="4502"/>
                  </a:lnTo>
                  <a:lnTo>
                    <a:pt x="15354" y="4550"/>
                  </a:lnTo>
                  <a:lnTo>
                    <a:pt x="15524" y="4575"/>
                  </a:lnTo>
                  <a:lnTo>
                    <a:pt x="15330" y="4745"/>
                  </a:lnTo>
                  <a:lnTo>
                    <a:pt x="15184" y="4915"/>
                  </a:lnTo>
                  <a:lnTo>
                    <a:pt x="14697" y="4818"/>
                  </a:lnTo>
                  <a:lnTo>
                    <a:pt x="14186" y="4745"/>
                  </a:lnTo>
                  <a:lnTo>
                    <a:pt x="13699" y="4672"/>
                  </a:lnTo>
                  <a:lnTo>
                    <a:pt x="13797" y="4550"/>
                  </a:lnTo>
                  <a:lnTo>
                    <a:pt x="13943" y="4404"/>
                  </a:lnTo>
                  <a:close/>
                  <a:moveTo>
                    <a:pt x="14721" y="0"/>
                  </a:moveTo>
                  <a:lnTo>
                    <a:pt x="14673" y="24"/>
                  </a:lnTo>
                  <a:lnTo>
                    <a:pt x="14600" y="49"/>
                  </a:lnTo>
                  <a:lnTo>
                    <a:pt x="14551" y="97"/>
                  </a:lnTo>
                  <a:lnTo>
                    <a:pt x="14235" y="389"/>
                  </a:lnTo>
                  <a:lnTo>
                    <a:pt x="13894" y="681"/>
                  </a:lnTo>
                  <a:lnTo>
                    <a:pt x="13213" y="1217"/>
                  </a:lnTo>
                  <a:lnTo>
                    <a:pt x="12921" y="1460"/>
                  </a:lnTo>
                  <a:lnTo>
                    <a:pt x="12775" y="1606"/>
                  </a:lnTo>
                  <a:lnTo>
                    <a:pt x="12629" y="1752"/>
                  </a:lnTo>
                  <a:lnTo>
                    <a:pt x="12507" y="1922"/>
                  </a:lnTo>
                  <a:lnTo>
                    <a:pt x="12385" y="2093"/>
                  </a:lnTo>
                  <a:lnTo>
                    <a:pt x="12337" y="2263"/>
                  </a:lnTo>
                  <a:lnTo>
                    <a:pt x="12312" y="2458"/>
                  </a:lnTo>
                  <a:lnTo>
                    <a:pt x="12337" y="2506"/>
                  </a:lnTo>
                  <a:lnTo>
                    <a:pt x="12312" y="2531"/>
                  </a:lnTo>
                  <a:lnTo>
                    <a:pt x="12337" y="2774"/>
                  </a:lnTo>
                  <a:lnTo>
                    <a:pt x="12385" y="3017"/>
                  </a:lnTo>
                  <a:lnTo>
                    <a:pt x="12507" y="3504"/>
                  </a:lnTo>
                  <a:lnTo>
                    <a:pt x="12531" y="3796"/>
                  </a:lnTo>
                  <a:lnTo>
                    <a:pt x="12580" y="4137"/>
                  </a:lnTo>
                  <a:lnTo>
                    <a:pt x="12629" y="4453"/>
                  </a:lnTo>
                  <a:lnTo>
                    <a:pt x="12677" y="4599"/>
                  </a:lnTo>
                  <a:lnTo>
                    <a:pt x="12750" y="4745"/>
                  </a:lnTo>
                  <a:lnTo>
                    <a:pt x="12288" y="5256"/>
                  </a:lnTo>
                  <a:lnTo>
                    <a:pt x="11972" y="5621"/>
                  </a:lnTo>
                  <a:lnTo>
                    <a:pt x="11631" y="5961"/>
                  </a:lnTo>
                  <a:lnTo>
                    <a:pt x="10925" y="6643"/>
                  </a:lnTo>
                  <a:lnTo>
                    <a:pt x="10220" y="7300"/>
                  </a:lnTo>
                  <a:lnTo>
                    <a:pt x="9490" y="7981"/>
                  </a:lnTo>
                  <a:lnTo>
                    <a:pt x="9125" y="8370"/>
                  </a:lnTo>
                  <a:lnTo>
                    <a:pt x="8760" y="8760"/>
                  </a:lnTo>
                  <a:lnTo>
                    <a:pt x="8371" y="9149"/>
                  </a:lnTo>
                  <a:lnTo>
                    <a:pt x="8006" y="9538"/>
                  </a:lnTo>
                  <a:lnTo>
                    <a:pt x="7884" y="9490"/>
                  </a:lnTo>
                  <a:lnTo>
                    <a:pt x="7665" y="9490"/>
                  </a:lnTo>
                  <a:lnTo>
                    <a:pt x="7568" y="9514"/>
                  </a:lnTo>
                  <a:lnTo>
                    <a:pt x="7422" y="9538"/>
                  </a:lnTo>
                  <a:lnTo>
                    <a:pt x="7276" y="9587"/>
                  </a:lnTo>
                  <a:lnTo>
                    <a:pt x="7154" y="9684"/>
                  </a:lnTo>
                  <a:lnTo>
                    <a:pt x="7057" y="9830"/>
                  </a:lnTo>
                  <a:lnTo>
                    <a:pt x="6984" y="9976"/>
                  </a:lnTo>
                  <a:lnTo>
                    <a:pt x="6935" y="10147"/>
                  </a:lnTo>
                  <a:lnTo>
                    <a:pt x="6959" y="10317"/>
                  </a:lnTo>
                  <a:lnTo>
                    <a:pt x="7008" y="10487"/>
                  </a:lnTo>
                  <a:lnTo>
                    <a:pt x="7105" y="10633"/>
                  </a:lnTo>
                  <a:lnTo>
                    <a:pt x="7251" y="10755"/>
                  </a:lnTo>
                  <a:lnTo>
                    <a:pt x="7397" y="10828"/>
                  </a:lnTo>
                  <a:lnTo>
                    <a:pt x="7568" y="10877"/>
                  </a:lnTo>
                  <a:lnTo>
                    <a:pt x="7738" y="10901"/>
                  </a:lnTo>
                  <a:lnTo>
                    <a:pt x="7884" y="10877"/>
                  </a:lnTo>
                  <a:lnTo>
                    <a:pt x="8006" y="10804"/>
                  </a:lnTo>
                  <a:lnTo>
                    <a:pt x="8127" y="10731"/>
                  </a:lnTo>
                  <a:lnTo>
                    <a:pt x="8225" y="10633"/>
                  </a:lnTo>
                  <a:lnTo>
                    <a:pt x="8298" y="10512"/>
                  </a:lnTo>
                  <a:lnTo>
                    <a:pt x="8346" y="10390"/>
                  </a:lnTo>
                  <a:lnTo>
                    <a:pt x="8371" y="10244"/>
                  </a:lnTo>
                  <a:lnTo>
                    <a:pt x="8371" y="10098"/>
                  </a:lnTo>
                  <a:lnTo>
                    <a:pt x="8371" y="10049"/>
                  </a:lnTo>
                  <a:lnTo>
                    <a:pt x="8711" y="9733"/>
                  </a:lnTo>
                  <a:lnTo>
                    <a:pt x="9003" y="9392"/>
                  </a:lnTo>
                  <a:lnTo>
                    <a:pt x="9295" y="9052"/>
                  </a:lnTo>
                  <a:lnTo>
                    <a:pt x="9587" y="8760"/>
                  </a:lnTo>
                  <a:lnTo>
                    <a:pt x="10317" y="8054"/>
                  </a:lnTo>
                  <a:lnTo>
                    <a:pt x="11047" y="7373"/>
                  </a:lnTo>
                  <a:lnTo>
                    <a:pt x="11777" y="6691"/>
                  </a:lnTo>
                  <a:lnTo>
                    <a:pt x="12507" y="5986"/>
                  </a:lnTo>
                  <a:lnTo>
                    <a:pt x="12896" y="5548"/>
                  </a:lnTo>
                  <a:lnTo>
                    <a:pt x="13310" y="5086"/>
                  </a:lnTo>
                  <a:lnTo>
                    <a:pt x="13529" y="5159"/>
                  </a:lnTo>
                  <a:lnTo>
                    <a:pt x="13748" y="5207"/>
                  </a:lnTo>
                  <a:lnTo>
                    <a:pt x="14186" y="5280"/>
                  </a:lnTo>
                  <a:lnTo>
                    <a:pt x="14648" y="5353"/>
                  </a:lnTo>
                  <a:lnTo>
                    <a:pt x="15086" y="5426"/>
                  </a:lnTo>
                  <a:lnTo>
                    <a:pt x="15184" y="5426"/>
                  </a:lnTo>
                  <a:lnTo>
                    <a:pt x="15281" y="5402"/>
                  </a:lnTo>
                  <a:lnTo>
                    <a:pt x="15354" y="5353"/>
                  </a:lnTo>
                  <a:lnTo>
                    <a:pt x="15403" y="5280"/>
                  </a:lnTo>
                  <a:lnTo>
                    <a:pt x="15524" y="5207"/>
                  </a:lnTo>
                  <a:lnTo>
                    <a:pt x="15670" y="5134"/>
                  </a:lnTo>
                  <a:lnTo>
                    <a:pt x="15938" y="4940"/>
                  </a:lnTo>
                  <a:lnTo>
                    <a:pt x="16352" y="4526"/>
                  </a:lnTo>
                  <a:lnTo>
                    <a:pt x="16692" y="4210"/>
                  </a:lnTo>
                  <a:lnTo>
                    <a:pt x="17009" y="3869"/>
                  </a:lnTo>
                  <a:lnTo>
                    <a:pt x="17325" y="3504"/>
                  </a:lnTo>
                  <a:lnTo>
                    <a:pt x="17617" y="3115"/>
                  </a:lnTo>
                  <a:lnTo>
                    <a:pt x="17641" y="3066"/>
                  </a:lnTo>
                  <a:lnTo>
                    <a:pt x="17666" y="3017"/>
                  </a:lnTo>
                  <a:lnTo>
                    <a:pt x="17641" y="2896"/>
                  </a:lnTo>
                  <a:lnTo>
                    <a:pt x="17690" y="2774"/>
                  </a:lnTo>
                  <a:lnTo>
                    <a:pt x="17714" y="2701"/>
                  </a:lnTo>
                  <a:lnTo>
                    <a:pt x="17690" y="2652"/>
                  </a:lnTo>
                  <a:lnTo>
                    <a:pt x="17690" y="2579"/>
                  </a:lnTo>
                  <a:lnTo>
                    <a:pt x="17641" y="2531"/>
                  </a:lnTo>
                  <a:lnTo>
                    <a:pt x="17593" y="2506"/>
                  </a:lnTo>
                  <a:lnTo>
                    <a:pt x="17495" y="2482"/>
                  </a:lnTo>
                  <a:lnTo>
                    <a:pt x="16838" y="2360"/>
                  </a:lnTo>
                  <a:lnTo>
                    <a:pt x="16473" y="2312"/>
                  </a:lnTo>
                  <a:lnTo>
                    <a:pt x="16108" y="2287"/>
                  </a:lnTo>
                  <a:lnTo>
                    <a:pt x="16303" y="2068"/>
                  </a:lnTo>
                  <a:lnTo>
                    <a:pt x="16522" y="1801"/>
                  </a:lnTo>
                  <a:lnTo>
                    <a:pt x="16790" y="1582"/>
                  </a:lnTo>
                  <a:lnTo>
                    <a:pt x="17033" y="1338"/>
                  </a:lnTo>
                  <a:lnTo>
                    <a:pt x="17276" y="1095"/>
                  </a:lnTo>
                  <a:lnTo>
                    <a:pt x="17325" y="1022"/>
                  </a:lnTo>
                  <a:lnTo>
                    <a:pt x="17374" y="949"/>
                  </a:lnTo>
                  <a:lnTo>
                    <a:pt x="17374" y="876"/>
                  </a:lnTo>
                  <a:lnTo>
                    <a:pt x="17374" y="803"/>
                  </a:lnTo>
                  <a:lnTo>
                    <a:pt x="17325" y="681"/>
                  </a:lnTo>
                  <a:lnTo>
                    <a:pt x="17252" y="560"/>
                  </a:lnTo>
                  <a:lnTo>
                    <a:pt x="17155" y="487"/>
                  </a:lnTo>
                  <a:lnTo>
                    <a:pt x="17009" y="438"/>
                  </a:lnTo>
                  <a:lnTo>
                    <a:pt x="16960" y="462"/>
                  </a:lnTo>
                  <a:lnTo>
                    <a:pt x="16887" y="462"/>
                  </a:lnTo>
                  <a:lnTo>
                    <a:pt x="16838" y="511"/>
                  </a:lnTo>
                  <a:lnTo>
                    <a:pt x="16765" y="560"/>
                  </a:lnTo>
                  <a:lnTo>
                    <a:pt x="16571" y="803"/>
                  </a:lnTo>
                  <a:lnTo>
                    <a:pt x="16352" y="1022"/>
                  </a:lnTo>
                  <a:lnTo>
                    <a:pt x="16133" y="1241"/>
                  </a:lnTo>
                  <a:lnTo>
                    <a:pt x="15914" y="1460"/>
                  </a:lnTo>
                  <a:lnTo>
                    <a:pt x="15500" y="1971"/>
                  </a:lnTo>
                  <a:lnTo>
                    <a:pt x="15427" y="1436"/>
                  </a:lnTo>
                  <a:lnTo>
                    <a:pt x="15354" y="1095"/>
                  </a:lnTo>
                  <a:lnTo>
                    <a:pt x="15281" y="779"/>
                  </a:lnTo>
                  <a:lnTo>
                    <a:pt x="15184" y="462"/>
                  </a:lnTo>
                  <a:lnTo>
                    <a:pt x="15111" y="292"/>
                  </a:lnTo>
                  <a:lnTo>
                    <a:pt x="15013" y="146"/>
                  </a:lnTo>
                  <a:lnTo>
                    <a:pt x="14965" y="97"/>
                  </a:lnTo>
                  <a:lnTo>
                    <a:pt x="14916" y="49"/>
                  </a:lnTo>
                  <a:lnTo>
                    <a:pt x="14794" y="24"/>
                  </a:lnTo>
                  <a:lnTo>
                    <a:pt x="14721" y="0"/>
                  </a:lnTo>
                  <a:close/>
                  <a:moveTo>
                    <a:pt x="7543" y="6691"/>
                  </a:moveTo>
                  <a:lnTo>
                    <a:pt x="7203" y="6716"/>
                  </a:lnTo>
                  <a:lnTo>
                    <a:pt x="6886" y="6789"/>
                  </a:lnTo>
                  <a:lnTo>
                    <a:pt x="6570" y="6862"/>
                  </a:lnTo>
                  <a:lnTo>
                    <a:pt x="6254" y="6983"/>
                  </a:lnTo>
                  <a:lnTo>
                    <a:pt x="5962" y="7105"/>
                  </a:lnTo>
                  <a:lnTo>
                    <a:pt x="5670" y="7275"/>
                  </a:lnTo>
                  <a:lnTo>
                    <a:pt x="5402" y="7470"/>
                  </a:lnTo>
                  <a:lnTo>
                    <a:pt x="5159" y="7713"/>
                  </a:lnTo>
                  <a:lnTo>
                    <a:pt x="4940" y="7957"/>
                  </a:lnTo>
                  <a:lnTo>
                    <a:pt x="4745" y="8249"/>
                  </a:lnTo>
                  <a:lnTo>
                    <a:pt x="4599" y="8565"/>
                  </a:lnTo>
                  <a:lnTo>
                    <a:pt x="4477" y="8857"/>
                  </a:lnTo>
                  <a:lnTo>
                    <a:pt x="4380" y="9149"/>
                  </a:lnTo>
                  <a:lnTo>
                    <a:pt x="4307" y="9441"/>
                  </a:lnTo>
                  <a:lnTo>
                    <a:pt x="4258" y="9733"/>
                  </a:lnTo>
                  <a:lnTo>
                    <a:pt x="4234" y="10025"/>
                  </a:lnTo>
                  <a:lnTo>
                    <a:pt x="4234" y="10317"/>
                  </a:lnTo>
                  <a:lnTo>
                    <a:pt x="4258" y="10609"/>
                  </a:lnTo>
                  <a:lnTo>
                    <a:pt x="4307" y="10901"/>
                  </a:lnTo>
                  <a:lnTo>
                    <a:pt x="4356" y="11193"/>
                  </a:lnTo>
                  <a:lnTo>
                    <a:pt x="4453" y="11461"/>
                  </a:lnTo>
                  <a:lnTo>
                    <a:pt x="4550" y="11728"/>
                  </a:lnTo>
                  <a:lnTo>
                    <a:pt x="4696" y="11996"/>
                  </a:lnTo>
                  <a:lnTo>
                    <a:pt x="4842" y="12239"/>
                  </a:lnTo>
                  <a:lnTo>
                    <a:pt x="5013" y="12458"/>
                  </a:lnTo>
                  <a:lnTo>
                    <a:pt x="5207" y="12677"/>
                  </a:lnTo>
                  <a:lnTo>
                    <a:pt x="5426" y="12872"/>
                  </a:lnTo>
                  <a:lnTo>
                    <a:pt x="5670" y="13067"/>
                  </a:lnTo>
                  <a:lnTo>
                    <a:pt x="5913" y="13213"/>
                  </a:lnTo>
                  <a:lnTo>
                    <a:pt x="6181" y="13334"/>
                  </a:lnTo>
                  <a:lnTo>
                    <a:pt x="6473" y="13456"/>
                  </a:lnTo>
                  <a:lnTo>
                    <a:pt x="6740" y="13529"/>
                  </a:lnTo>
                  <a:lnTo>
                    <a:pt x="7032" y="13602"/>
                  </a:lnTo>
                  <a:lnTo>
                    <a:pt x="7324" y="13650"/>
                  </a:lnTo>
                  <a:lnTo>
                    <a:pt x="7933" y="13650"/>
                  </a:lnTo>
                  <a:lnTo>
                    <a:pt x="8225" y="13626"/>
                  </a:lnTo>
                  <a:lnTo>
                    <a:pt x="8541" y="13577"/>
                  </a:lnTo>
                  <a:lnTo>
                    <a:pt x="8833" y="13505"/>
                  </a:lnTo>
                  <a:lnTo>
                    <a:pt x="9125" y="13407"/>
                  </a:lnTo>
                  <a:lnTo>
                    <a:pt x="9393" y="13310"/>
                  </a:lnTo>
                  <a:lnTo>
                    <a:pt x="9660" y="13164"/>
                  </a:lnTo>
                  <a:lnTo>
                    <a:pt x="9903" y="12994"/>
                  </a:lnTo>
                  <a:lnTo>
                    <a:pt x="10147" y="12823"/>
                  </a:lnTo>
                  <a:lnTo>
                    <a:pt x="10390" y="12604"/>
                  </a:lnTo>
                  <a:lnTo>
                    <a:pt x="10585" y="12361"/>
                  </a:lnTo>
                  <a:lnTo>
                    <a:pt x="10779" y="12118"/>
                  </a:lnTo>
                  <a:lnTo>
                    <a:pt x="10925" y="11826"/>
                  </a:lnTo>
                  <a:lnTo>
                    <a:pt x="11071" y="11558"/>
                  </a:lnTo>
                  <a:lnTo>
                    <a:pt x="11193" y="11242"/>
                  </a:lnTo>
                  <a:lnTo>
                    <a:pt x="11266" y="10950"/>
                  </a:lnTo>
                  <a:lnTo>
                    <a:pt x="11339" y="10633"/>
                  </a:lnTo>
                  <a:lnTo>
                    <a:pt x="11388" y="10317"/>
                  </a:lnTo>
                  <a:lnTo>
                    <a:pt x="11388" y="9976"/>
                  </a:lnTo>
                  <a:lnTo>
                    <a:pt x="11363" y="9660"/>
                  </a:lnTo>
                  <a:lnTo>
                    <a:pt x="11315" y="9368"/>
                  </a:lnTo>
                  <a:lnTo>
                    <a:pt x="11242" y="9052"/>
                  </a:lnTo>
                  <a:lnTo>
                    <a:pt x="11120" y="8760"/>
                  </a:lnTo>
                  <a:lnTo>
                    <a:pt x="10974" y="8492"/>
                  </a:lnTo>
                  <a:lnTo>
                    <a:pt x="10147" y="9295"/>
                  </a:lnTo>
                  <a:lnTo>
                    <a:pt x="9733" y="9733"/>
                  </a:lnTo>
                  <a:lnTo>
                    <a:pt x="9636" y="9855"/>
                  </a:lnTo>
                  <a:lnTo>
                    <a:pt x="9636" y="9879"/>
                  </a:lnTo>
                  <a:lnTo>
                    <a:pt x="9636" y="10244"/>
                  </a:lnTo>
                  <a:lnTo>
                    <a:pt x="9587" y="10609"/>
                  </a:lnTo>
                  <a:lnTo>
                    <a:pt x="9539" y="10779"/>
                  </a:lnTo>
                  <a:lnTo>
                    <a:pt x="9466" y="10950"/>
                  </a:lnTo>
                  <a:lnTo>
                    <a:pt x="9393" y="11096"/>
                  </a:lnTo>
                  <a:lnTo>
                    <a:pt x="9295" y="11242"/>
                  </a:lnTo>
                  <a:lnTo>
                    <a:pt x="9149" y="11363"/>
                  </a:lnTo>
                  <a:lnTo>
                    <a:pt x="9003" y="11485"/>
                  </a:lnTo>
                  <a:lnTo>
                    <a:pt x="8882" y="11582"/>
                  </a:lnTo>
                  <a:lnTo>
                    <a:pt x="8736" y="11655"/>
                  </a:lnTo>
                  <a:lnTo>
                    <a:pt x="8590" y="11704"/>
                  </a:lnTo>
                  <a:lnTo>
                    <a:pt x="8444" y="11728"/>
                  </a:lnTo>
                  <a:lnTo>
                    <a:pt x="8127" y="11777"/>
                  </a:lnTo>
                  <a:lnTo>
                    <a:pt x="7811" y="11777"/>
                  </a:lnTo>
                  <a:lnTo>
                    <a:pt x="7470" y="11728"/>
                  </a:lnTo>
                  <a:lnTo>
                    <a:pt x="7178" y="11631"/>
                  </a:lnTo>
                  <a:lnTo>
                    <a:pt x="6886" y="11509"/>
                  </a:lnTo>
                  <a:lnTo>
                    <a:pt x="6643" y="11339"/>
                  </a:lnTo>
                  <a:lnTo>
                    <a:pt x="6521" y="11217"/>
                  </a:lnTo>
                  <a:lnTo>
                    <a:pt x="6400" y="11096"/>
                  </a:lnTo>
                  <a:lnTo>
                    <a:pt x="6327" y="10974"/>
                  </a:lnTo>
                  <a:lnTo>
                    <a:pt x="6254" y="10852"/>
                  </a:lnTo>
                  <a:lnTo>
                    <a:pt x="6132" y="10560"/>
                  </a:lnTo>
                  <a:lnTo>
                    <a:pt x="6059" y="10244"/>
                  </a:lnTo>
                  <a:lnTo>
                    <a:pt x="6059" y="9928"/>
                  </a:lnTo>
                  <a:lnTo>
                    <a:pt x="6083" y="9636"/>
                  </a:lnTo>
                  <a:lnTo>
                    <a:pt x="6181" y="9319"/>
                  </a:lnTo>
                  <a:lnTo>
                    <a:pt x="6302" y="9052"/>
                  </a:lnTo>
                  <a:lnTo>
                    <a:pt x="6400" y="8906"/>
                  </a:lnTo>
                  <a:lnTo>
                    <a:pt x="6497" y="8808"/>
                  </a:lnTo>
                  <a:lnTo>
                    <a:pt x="6594" y="8687"/>
                  </a:lnTo>
                  <a:lnTo>
                    <a:pt x="6716" y="8614"/>
                  </a:lnTo>
                  <a:lnTo>
                    <a:pt x="6984" y="8468"/>
                  </a:lnTo>
                  <a:lnTo>
                    <a:pt x="7276" y="8370"/>
                  </a:lnTo>
                  <a:lnTo>
                    <a:pt x="7495" y="8322"/>
                  </a:lnTo>
                  <a:lnTo>
                    <a:pt x="7689" y="8322"/>
                  </a:lnTo>
                  <a:lnTo>
                    <a:pt x="8054" y="8370"/>
                  </a:lnTo>
                  <a:lnTo>
                    <a:pt x="8200" y="8200"/>
                  </a:lnTo>
                  <a:lnTo>
                    <a:pt x="8565" y="7811"/>
                  </a:lnTo>
                  <a:lnTo>
                    <a:pt x="8955" y="7421"/>
                  </a:lnTo>
                  <a:lnTo>
                    <a:pt x="9344" y="7032"/>
                  </a:lnTo>
                  <a:lnTo>
                    <a:pt x="9295" y="6983"/>
                  </a:lnTo>
                  <a:lnTo>
                    <a:pt x="9247" y="6959"/>
                  </a:lnTo>
                  <a:lnTo>
                    <a:pt x="8906" y="6862"/>
                  </a:lnTo>
                  <a:lnTo>
                    <a:pt x="8565" y="6764"/>
                  </a:lnTo>
                  <a:lnTo>
                    <a:pt x="8225" y="6716"/>
                  </a:lnTo>
                  <a:lnTo>
                    <a:pt x="7884" y="6691"/>
                  </a:lnTo>
                  <a:close/>
                  <a:moveTo>
                    <a:pt x="13407" y="15621"/>
                  </a:moveTo>
                  <a:lnTo>
                    <a:pt x="13505" y="15694"/>
                  </a:lnTo>
                  <a:lnTo>
                    <a:pt x="13310" y="15865"/>
                  </a:lnTo>
                  <a:lnTo>
                    <a:pt x="13213" y="15962"/>
                  </a:lnTo>
                  <a:lnTo>
                    <a:pt x="13115" y="16059"/>
                  </a:lnTo>
                  <a:lnTo>
                    <a:pt x="12969" y="16278"/>
                  </a:lnTo>
                  <a:lnTo>
                    <a:pt x="12969" y="16303"/>
                  </a:lnTo>
                  <a:lnTo>
                    <a:pt x="12969" y="16351"/>
                  </a:lnTo>
                  <a:lnTo>
                    <a:pt x="12994" y="16400"/>
                  </a:lnTo>
                  <a:lnTo>
                    <a:pt x="13067" y="16424"/>
                  </a:lnTo>
                  <a:lnTo>
                    <a:pt x="13115" y="16424"/>
                  </a:lnTo>
                  <a:lnTo>
                    <a:pt x="13140" y="16400"/>
                  </a:lnTo>
                  <a:lnTo>
                    <a:pt x="13237" y="16327"/>
                  </a:lnTo>
                  <a:lnTo>
                    <a:pt x="13334" y="16254"/>
                  </a:lnTo>
                  <a:lnTo>
                    <a:pt x="13553" y="16132"/>
                  </a:lnTo>
                  <a:lnTo>
                    <a:pt x="13699" y="16035"/>
                  </a:lnTo>
                  <a:lnTo>
                    <a:pt x="13845" y="15938"/>
                  </a:lnTo>
                  <a:lnTo>
                    <a:pt x="13918" y="15986"/>
                  </a:lnTo>
                  <a:lnTo>
                    <a:pt x="13772" y="16132"/>
                  </a:lnTo>
                  <a:lnTo>
                    <a:pt x="13651" y="16254"/>
                  </a:lnTo>
                  <a:lnTo>
                    <a:pt x="13553" y="16351"/>
                  </a:lnTo>
                  <a:lnTo>
                    <a:pt x="13456" y="16497"/>
                  </a:lnTo>
                  <a:lnTo>
                    <a:pt x="13407" y="16570"/>
                  </a:lnTo>
                  <a:lnTo>
                    <a:pt x="13383" y="16643"/>
                  </a:lnTo>
                  <a:lnTo>
                    <a:pt x="13383" y="16692"/>
                  </a:lnTo>
                  <a:lnTo>
                    <a:pt x="13432" y="16741"/>
                  </a:lnTo>
                  <a:lnTo>
                    <a:pt x="13553" y="16741"/>
                  </a:lnTo>
                  <a:lnTo>
                    <a:pt x="13675" y="16668"/>
                  </a:lnTo>
                  <a:lnTo>
                    <a:pt x="13870" y="16497"/>
                  </a:lnTo>
                  <a:lnTo>
                    <a:pt x="14137" y="16278"/>
                  </a:lnTo>
                  <a:lnTo>
                    <a:pt x="14186" y="16230"/>
                  </a:lnTo>
                  <a:lnTo>
                    <a:pt x="14283" y="16351"/>
                  </a:lnTo>
                  <a:lnTo>
                    <a:pt x="13967" y="16643"/>
                  </a:lnTo>
                  <a:lnTo>
                    <a:pt x="13821" y="16862"/>
                  </a:lnTo>
                  <a:lnTo>
                    <a:pt x="13675" y="17057"/>
                  </a:lnTo>
                  <a:lnTo>
                    <a:pt x="13675" y="17106"/>
                  </a:lnTo>
                  <a:lnTo>
                    <a:pt x="13724" y="17106"/>
                  </a:lnTo>
                  <a:lnTo>
                    <a:pt x="13967" y="16984"/>
                  </a:lnTo>
                  <a:lnTo>
                    <a:pt x="14210" y="16887"/>
                  </a:lnTo>
                  <a:lnTo>
                    <a:pt x="14381" y="16789"/>
                  </a:lnTo>
                  <a:lnTo>
                    <a:pt x="14527" y="16668"/>
                  </a:lnTo>
                  <a:lnTo>
                    <a:pt x="14600" y="16765"/>
                  </a:lnTo>
                  <a:lnTo>
                    <a:pt x="14575" y="16789"/>
                  </a:lnTo>
                  <a:lnTo>
                    <a:pt x="14259" y="17033"/>
                  </a:lnTo>
                  <a:lnTo>
                    <a:pt x="14113" y="17154"/>
                  </a:lnTo>
                  <a:lnTo>
                    <a:pt x="13991" y="17300"/>
                  </a:lnTo>
                  <a:lnTo>
                    <a:pt x="13991" y="17349"/>
                  </a:lnTo>
                  <a:lnTo>
                    <a:pt x="14016" y="17349"/>
                  </a:lnTo>
                  <a:lnTo>
                    <a:pt x="14210" y="17300"/>
                  </a:lnTo>
                  <a:lnTo>
                    <a:pt x="14356" y="17252"/>
                  </a:lnTo>
                  <a:lnTo>
                    <a:pt x="14551" y="17154"/>
                  </a:lnTo>
                  <a:lnTo>
                    <a:pt x="14721" y="17057"/>
                  </a:lnTo>
                  <a:lnTo>
                    <a:pt x="14746" y="17203"/>
                  </a:lnTo>
                  <a:lnTo>
                    <a:pt x="14624" y="17252"/>
                  </a:lnTo>
                  <a:lnTo>
                    <a:pt x="14478" y="17300"/>
                  </a:lnTo>
                  <a:lnTo>
                    <a:pt x="14332" y="17373"/>
                  </a:lnTo>
                  <a:lnTo>
                    <a:pt x="14259" y="17422"/>
                  </a:lnTo>
                  <a:lnTo>
                    <a:pt x="14186" y="17471"/>
                  </a:lnTo>
                  <a:lnTo>
                    <a:pt x="14137" y="17544"/>
                  </a:lnTo>
                  <a:lnTo>
                    <a:pt x="14162" y="17641"/>
                  </a:lnTo>
                  <a:lnTo>
                    <a:pt x="14210" y="17690"/>
                  </a:lnTo>
                  <a:lnTo>
                    <a:pt x="14283" y="17714"/>
                  </a:lnTo>
                  <a:lnTo>
                    <a:pt x="14429" y="17714"/>
                  </a:lnTo>
                  <a:lnTo>
                    <a:pt x="14575" y="17665"/>
                  </a:lnTo>
                  <a:lnTo>
                    <a:pt x="14697" y="17617"/>
                  </a:lnTo>
                  <a:lnTo>
                    <a:pt x="14697" y="17641"/>
                  </a:lnTo>
                  <a:lnTo>
                    <a:pt x="14600" y="17738"/>
                  </a:lnTo>
                  <a:lnTo>
                    <a:pt x="14502" y="17811"/>
                  </a:lnTo>
                  <a:lnTo>
                    <a:pt x="14405" y="17860"/>
                  </a:lnTo>
                  <a:lnTo>
                    <a:pt x="14283" y="17884"/>
                  </a:lnTo>
                  <a:lnTo>
                    <a:pt x="14162" y="17909"/>
                  </a:lnTo>
                  <a:lnTo>
                    <a:pt x="14040" y="17884"/>
                  </a:lnTo>
                  <a:lnTo>
                    <a:pt x="13772" y="17836"/>
                  </a:lnTo>
                  <a:lnTo>
                    <a:pt x="13529" y="17738"/>
                  </a:lnTo>
                  <a:lnTo>
                    <a:pt x="13261" y="17592"/>
                  </a:lnTo>
                  <a:lnTo>
                    <a:pt x="13067" y="17471"/>
                  </a:lnTo>
                  <a:lnTo>
                    <a:pt x="12896" y="17349"/>
                  </a:lnTo>
                  <a:lnTo>
                    <a:pt x="12726" y="17179"/>
                  </a:lnTo>
                  <a:lnTo>
                    <a:pt x="12556" y="16984"/>
                  </a:lnTo>
                  <a:lnTo>
                    <a:pt x="12337" y="16765"/>
                  </a:lnTo>
                  <a:lnTo>
                    <a:pt x="12239" y="16692"/>
                  </a:lnTo>
                  <a:lnTo>
                    <a:pt x="12118" y="16668"/>
                  </a:lnTo>
                  <a:lnTo>
                    <a:pt x="12458" y="16424"/>
                  </a:lnTo>
                  <a:lnTo>
                    <a:pt x="12799" y="16181"/>
                  </a:lnTo>
                  <a:lnTo>
                    <a:pt x="13115" y="15913"/>
                  </a:lnTo>
                  <a:lnTo>
                    <a:pt x="13407" y="15621"/>
                  </a:lnTo>
                  <a:close/>
                  <a:moveTo>
                    <a:pt x="2287" y="15548"/>
                  </a:moveTo>
                  <a:lnTo>
                    <a:pt x="2579" y="15840"/>
                  </a:lnTo>
                  <a:lnTo>
                    <a:pt x="2871" y="16084"/>
                  </a:lnTo>
                  <a:lnTo>
                    <a:pt x="3188" y="16351"/>
                  </a:lnTo>
                  <a:lnTo>
                    <a:pt x="3504" y="16570"/>
                  </a:lnTo>
                  <a:lnTo>
                    <a:pt x="3382" y="16765"/>
                  </a:lnTo>
                  <a:lnTo>
                    <a:pt x="3358" y="16741"/>
                  </a:lnTo>
                  <a:lnTo>
                    <a:pt x="3309" y="16668"/>
                  </a:lnTo>
                  <a:lnTo>
                    <a:pt x="3261" y="16619"/>
                  </a:lnTo>
                  <a:lnTo>
                    <a:pt x="3115" y="16522"/>
                  </a:lnTo>
                  <a:lnTo>
                    <a:pt x="2944" y="16449"/>
                  </a:lnTo>
                  <a:lnTo>
                    <a:pt x="2823" y="16351"/>
                  </a:lnTo>
                  <a:lnTo>
                    <a:pt x="2774" y="16351"/>
                  </a:lnTo>
                  <a:lnTo>
                    <a:pt x="2774" y="16376"/>
                  </a:lnTo>
                  <a:lnTo>
                    <a:pt x="2823" y="16522"/>
                  </a:lnTo>
                  <a:lnTo>
                    <a:pt x="2944" y="16668"/>
                  </a:lnTo>
                  <a:lnTo>
                    <a:pt x="2969" y="16692"/>
                  </a:lnTo>
                  <a:lnTo>
                    <a:pt x="2725" y="16546"/>
                  </a:lnTo>
                  <a:lnTo>
                    <a:pt x="2604" y="16497"/>
                  </a:lnTo>
                  <a:lnTo>
                    <a:pt x="2458" y="16473"/>
                  </a:lnTo>
                  <a:lnTo>
                    <a:pt x="2433" y="16473"/>
                  </a:lnTo>
                  <a:lnTo>
                    <a:pt x="2433" y="16522"/>
                  </a:lnTo>
                  <a:lnTo>
                    <a:pt x="2482" y="16619"/>
                  </a:lnTo>
                  <a:lnTo>
                    <a:pt x="2555" y="16692"/>
                  </a:lnTo>
                  <a:lnTo>
                    <a:pt x="2725" y="16862"/>
                  </a:lnTo>
                  <a:lnTo>
                    <a:pt x="2896" y="17008"/>
                  </a:lnTo>
                  <a:lnTo>
                    <a:pt x="3090" y="17130"/>
                  </a:lnTo>
                  <a:lnTo>
                    <a:pt x="2920" y="17300"/>
                  </a:lnTo>
                  <a:lnTo>
                    <a:pt x="2871" y="17276"/>
                  </a:lnTo>
                  <a:lnTo>
                    <a:pt x="2774" y="17203"/>
                  </a:lnTo>
                  <a:lnTo>
                    <a:pt x="2701" y="17106"/>
                  </a:lnTo>
                  <a:lnTo>
                    <a:pt x="2604" y="17008"/>
                  </a:lnTo>
                  <a:lnTo>
                    <a:pt x="2506" y="16935"/>
                  </a:lnTo>
                  <a:lnTo>
                    <a:pt x="2385" y="16887"/>
                  </a:lnTo>
                  <a:lnTo>
                    <a:pt x="2336" y="16862"/>
                  </a:lnTo>
                  <a:lnTo>
                    <a:pt x="2263" y="16887"/>
                  </a:lnTo>
                  <a:lnTo>
                    <a:pt x="2239" y="16911"/>
                  </a:lnTo>
                  <a:lnTo>
                    <a:pt x="2239" y="16960"/>
                  </a:lnTo>
                  <a:lnTo>
                    <a:pt x="2287" y="17057"/>
                  </a:lnTo>
                  <a:lnTo>
                    <a:pt x="2336" y="17179"/>
                  </a:lnTo>
                  <a:lnTo>
                    <a:pt x="2433" y="17300"/>
                  </a:lnTo>
                  <a:lnTo>
                    <a:pt x="2506" y="17422"/>
                  </a:lnTo>
                  <a:lnTo>
                    <a:pt x="2652" y="17544"/>
                  </a:lnTo>
                  <a:lnTo>
                    <a:pt x="2531" y="17617"/>
                  </a:lnTo>
                  <a:lnTo>
                    <a:pt x="2336" y="17519"/>
                  </a:lnTo>
                  <a:lnTo>
                    <a:pt x="2166" y="17398"/>
                  </a:lnTo>
                  <a:lnTo>
                    <a:pt x="2068" y="17325"/>
                  </a:lnTo>
                  <a:lnTo>
                    <a:pt x="1995" y="17300"/>
                  </a:lnTo>
                  <a:lnTo>
                    <a:pt x="1898" y="17252"/>
                  </a:lnTo>
                  <a:lnTo>
                    <a:pt x="1777" y="17227"/>
                  </a:lnTo>
                  <a:lnTo>
                    <a:pt x="1752" y="17252"/>
                  </a:lnTo>
                  <a:lnTo>
                    <a:pt x="1728" y="17276"/>
                  </a:lnTo>
                  <a:lnTo>
                    <a:pt x="1777" y="17398"/>
                  </a:lnTo>
                  <a:lnTo>
                    <a:pt x="1825" y="17519"/>
                  </a:lnTo>
                  <a:lnTo>
                    <a:pt x="1898" y="17641"/>
                  </a:lnTo>
                  <a:lnTo>
                    <a:pt x="1995" y="17738"/>
                  </a:lnTo>
                  <a:lnTo>
                    <a:pt x="2117" y="17860"/>
                  </a:lnTo>
                  <a:lnTo>
                    <a:pt x="1874" y="17763"/>
                  </a:lnTo>
                  <a:lnTo>
                    <a:pt x="1679" y="17665"/>
                  </a:lnTo>
                  <a:lnTo>
                    <a:pt x="1582" y="17617"/>
                  </a:lnTo>
                  <a:lnTo>
                    <a:pt x="1485" y="17592"/>
                  </a:lnTo>
                  <a:lnTo>
                    <a:pt x="1436" y="17592"/>
                  </a:lnTo>
                  <a:lnTo>
                    <a:pt x="1363" y="17641"/>
                  </a:lnTo>
                  <a:lnTo>
                    <a:pt x="1339" y="17690"/>
                  </a:lnTo>
                  <a:lnTo>
                    <a:pt x="1339" y="17738"/>
                  </a:lnTo>
                  <a:lnTo>
                    <a:pt x="1412" y="17860"/>
                  </a:lnTo>
                  <a:lnTo>
                    <a:pt x="1509" y="17957"/>
                  </a:lnTo>
                  <a:lnTo>
                    <a:pt x="1363" y="17909"/>
                  </a:lnTo>
                  <a:lnTo>
                    <a:pt x="1266" y="17836"/>
                  </a:lnTo>
                  <a:lnTo>
                    <a:pt x="1168" y="17738"/>
                  </a:lnTo>
                  <a:lnTo>
                    <a:pt x="1095" y="17592"/>
                  </a:lnTo>
                  <a:lnTo>
                    <a:pt x="1071" y="17422"/>
                  </a:lnTo>
                  <a:lnTo>
                    <a:pt x="1095" y="17227"/>
                  </a:lnTo>
                  <a:lnTo>
                    <a:pt x="1144" y="17057"/>
                  </a:lnTo>
                  <a:lnTo>
                    <a:pt x="1217" y="16887"/>
                  </a:lnTo>
                  <a:lnTo>
                    <a:pt x="1436" y="16522"/>
                  </a:lnTo>
                  <a:lnTo>
                    <a:pt x="1631" y="16254"/>
                  </a:lnTo>
                  <a:lnTo>
                    <a:pt x="1777" y="16059"/>
                  </a:lnTo>
                  <a:lnTo>
                    <a:pt x="1947" y="15889"/>
                  </a:lnTo>
                  <a:lnTo>
                    <a:pt x="2117" y="15719"/>
                  </a:lnTo>
                  <a:lnTo>
                    <a:pt x="2287" y="15548"/>
                  </a:lnTo>
                  <a:close/>
                  <a:moveTo>
                    <a:pt x="7689" y="2336"/>
                  </a:moveTo>
                  <a:lnTo>
                    <a:pt x="7203" y="2360"/>
                  </a:lnTo>
                  <a:lnTo>
                    <a:pt x="6716" y="2409"/>
                  </a:lnTo>
                  <a:lnTo>
                    <a:pt x="6205" y="2482"/>
                  </a:lnTo>
                  <a:lnTo>
                    <a:pt x="5718" y="2604"/>
                  </a:lnTo>
                  <a:lnTo>
                    <a:pt x="5256" y="2725"/>
                  </a:lnTo>
                  <a:lnTo>
                    <a:pt x="4794" y="2896"/>
                  </a:lnTo>
                  <a:lnTo>
                    <a:pt x="4404" y="3066"/>
                  </a:lnTo>
                  <a:lnTo>
                    <a:pt x="4015" y="3261"/>
                  </a:lnTo>
                  <a:lnTo>
                    <a:pt x="3626" y="3480"/>
                  </a:lnTo>
                  <a:lnTo>
                    <a:pt x="3261" y="3723"/>
                  </a:lnTo>
                  <a:lnTo>
                    <a:pt x="2896" y="3966"/>
                  </a:lnTo>
                  <a:lnTo>
                    <a:pt x="2555" y="4258"/>
                  </a:lnTo>
                  <a:lnTo>
                    <a:pt x="2214" y="4526"/>
                  </a:lnTo>
                  <a:lnTo>
                    <a:pt x="1923" y="4842"/>
                  </a:lnTo>
                  <a:lnTo>
                    <a:pt x="1655" y="5134"/>
                  </a:lnTo>
                  <a:lnTo>
                    <a:pt x="1412" y="5451"/>
                  </a:lnTo>
                  <a:lnTo>
                    <a:pt x="1217" y="5791"/>
                  </a:lnTo>
                  <a:lnTo>
                    <a:pt x="1071" y="6156"/>
                  </a:lnTo>
                  <a:lnTo>
                    <a:pt x="657" y="7105"/>
                  </a:lnTo>
                  <a:lnTo>
                    <a:pt x="463" y="7592"/>
                  </a:lnTo>
                  <a:lnTo>
                    <a:pt x="292" y="8078"/>
                  </a:lnTo>
                  <a:lnTo>
                    <a:pt x="171" y="8565"/>
                  </a:lnTo>
                  <a:lnTo>
                    <a:pt x="73" y="9052"/>
                  </a:lnTo>
                  <a:lnTo>
                    <a:pt x="25" y="9563"/>
                  </a:lnTo>
                  <a:lnTo>
                    <a:pt x="0" y="10074"/>
                  </a:lnTo>
                  <a:lnTo>
                    <a:pt x="25" y="10585"/>
                  </a:lnTo>
                  <a:lnTo>
                    <a:pt x="49" y="11096"/>
                  </a:lnTo>
                  <a:lnTo>
                    <a:pt x="122" y="11607"/>
                  </a:lnTo>
                  <a:lnTo>
                    <a:pt x="195" y="12093"/>
                  </a:lnTo>
                  <a:lnTo>
                    <a:pt x="268" y="12531"/>
                  </a:lnTo>
                  <a:lnTo>
                    <a:pt x="414" y="12945"/>
                  </a:lnTo>
                  <a:lnTo>
                    <a:pt x="584" y="13359"/>
                  </a:lnTo>
                  <a:lnTo>
                    <a:pt x="779" y="13723"/>
                  </a:lnTo>
                  <a:lnTo>
                    <a:pt x="1022" y="14088"/>
                  </a:lnTo>
                  <a:lnTo>
                    <a:pt x="1290" y="14453"/>
                  </a:lnTo>
                  <a:lnTo>
                    <a:pt x="1558" y="14794"/>
                  </a:lnTo>
                  <a:lnTo>
                    <a:pt x="1850" y="15135"/>
                  </a:lnTo>
                  <a:lnTo>
                    <a:pt x="1995" y="15281"/>
                  </a:lnTo>
                  <a:lnTo>
                    <a:pt x="1850" y="15378"/>
                  </a:lnTo>
                  <a:lnTo>
                    <a:pt x="1704" y="15500"/>
                  </a:lnTo>
                  <a:lnTo>
                    <a:pt x="1582" y="15621"/>
                  </a:lnTo>
                  <a:lnTo>
                    <a:pt x="1460" y="15767"/>
                  </a:lnTo>
                  <a:lnTo>
                    <a:pt x="1217" y="16084"/>
                  </a:lnTo>
                  <a:lnTo>
                    <a:pt x="1047" y="16351"/>
                  </a:lnTo>
                  <a:lnTo>
                    <a:pt x="925" y="16546"/>
                  </a:lnTo>
                  <a:lnTo>
                    <a:pt x="828" y="16741"/>
                  </a:lnTo>
                  <a:lnTo>
                    <a:pt x="730" y="16960"/>
                  </a:lnTo>
                  <a:lnTo>
                    <a:pt x="682" y="17179"/>
                  </a:lnTo>
                  <a:lnTo>
                    <a:pt x="633" y="17398"/>
                  </a:lnTo>
                  <a:lnTo>
                    <a:pt x="657" y="17617"/>
                  </a:lnTo>
                  <a:lnTo>
                    <a:pt x="706" y="17836"/>
                  </a:lnTo>
                  <a:lnTo>
                    <a:pt x="828" y="18055"/>
                  </a:lnTo>
                  <a:lnTo>
                    <a:pt x="901" y="18152"/>
                  </a:lnTo>
                  <a:lnTo>
                    <a:pt x="974" y="18225"/>
                  </a:lnTo>
                  <a:lnTo>
                    <a:pt x="1144" y="18322"/>
                  </a:lnTo>
                  <a:lnTo>
                    <a:pt x="1339" y="18395"/>
                  </a:lnTo>
                  <a:lnTo>
                    <a:pt x="1558" y="18420"/>
                  </a:lnTo>
                  <a:lnTo>
                    <a:pt x="1777" y="18420"/>
                  </a:lnTo>
                  <a:lnTo>
                    <a:pt x="1995" y="18371"/>
                  </a:lnTo>
                  <a:lnTo>
                    <a:pt x="2190" y="18322"/>
                  </a:lnTo>
                  <a:lnTo>
                    <a:pt x="2385" y="18249"/>
                  </a:lnTo>
                  <a:lnTo>
                    <a:pt x="2604" y="18128"/>
                  </a:lnTo>
                  <a:lnTo>
                    <a:pt x="2823" y="18006"/>
                  </a:lnTo>
                  <a:lnTo>
                    <a:pt x="3042" y="17836"/>
                  </a:lnTo>
                  <a:lnTo>
                    <a:pt x="3236" y="17665"/>
                  </a:lnTo>
                  <a:lnTo>
                    <a:pt x="3431" y="17471"/>
                  </a:lnTo>
                  <a:lnTo>
                    <a:pt x="3601" y="17276"/>
                  </a:lnTo>
                  <a:lnTo>
                    <a:pt x="3893" y="16838"/>
                  </a:lnTo>
                  <a:lnTo>
                    <a:pt x="4258" y="17081"/>
                  </a:lnTo>
                  <a:lnTo>
                    <a:pt x="4648" y="17276"/>
                  </a:lnTo>
                  <a:lnTo>
                    <a:pt x="4867" y="17398"/>
                  </a:lnTo>
                  <a:lnTo>
                    <a:pt x="5110" y="17495"/>
                  </a:lnTo>
                  <a:lnTo>
                    <a:pt x="5353" y="17568"/>
                  </a:lnTo>
                  <a:lnTo>
                    <a:pt x="5597" y="17641"/>
                  </a:lnTo>
                  <a:lnTo>
                    <a:pt x="6083" y="17738"/>
                  </a:lnTo>
                  <a:lnTo>
                    <a:pt x="6594" y="17811"/>
                  </a:lnTo>
                  <a:lnTo>
                    <a:pt x="7057" y="17884"/>
                  </a:lnTo>
                  <a:lnTo>
                    <a:pt x="7519" y="17909"/>
                  </a:lnTo>
                  <a:lnTo>
                    <a:pt x="8006" y="17909"/>
                  </a:lnTo>
                  <a:lnTo>
                    <a:pt x="8492" y="17860"/>
                  </a:lnTo>
                  <a:lnTo>
                    <a:pt x="8541" y="17884"/>
                  </a:lnTo>
                  <a:lnTo>
                    <a:pt x="8590" y="17860"/>
                  </a:lnTo>
                  <a:lnTo>
                    <a:pt x="8736" y="17811"/>
                  </a:lnTo>
                  <a:lnTo>
                    <a:pt x="8906" y="17787"/>
                  </a:lnTo>
                  <a:lnTo>
                    <a:pt x="9222" y="17738"/>
                  </a:lnTo>
                  <a:lnTo>
                    <a:pt x="9514" y="17690"/>
                  </a:lnTo>
                  <a:lnTo>
                    <a:pt x="9782" y="17592"/>
                  </a:lnTo>
                  <a:lnTo>
                    <a:pt x="10317" y="17398"/>
                  </a:lnTo>
                  <a:lnTo>
                    <a:pt x="11120" y="17130"/>
                  </a:lnTo>
                  <a:lnTo>
                    <a:pt x="11509" y="16984"/>
                  </a:lnTo>
                  <a:lnTo>
                    <a:pt x="11899" y="16789"/>
                  </a:lnTo>
                  <a:lnTo>
                    <a:pt x="11899" y="16814"/>
                  </a:lnTo>
                  <a:lnTo>
                    <a:pt x="11996" y="17033"/>
                  </a:lnTo>
                  <a:lnTo>
                    <a:pt x="12118" y="17227"/>
                  </a:lnTo>
                  <a:lnTo>
                    <a:pt x="12288" y="17446"/>
                  </a:lnTo>
                  <a:lnTo>
                    <a:pt x="12483" y="17641"/>
                  </a:lnTo>
                  <a:lnTo>
                    <a:pt x="12702" y="17811"/>
                  </a:lnTo>
                  <a:lnTo>
                    <a:pt x="12921" y="17957"/>
                  </a:lnTo>
                  <a:lnTo>
                    <a:pt x="13115" y="18079"/>
                  </a:lnTo>
                  <a:lnTo>
                    <a:pt x="13334" y="18176"/>
                  </a:lnTo>
                  <a:lnTo>
                    <a:pt x="13529" y="18249"/>
                  </a:lnTo>
                  <a:lnTo>
                    <a:pt x="13748" y="18298"/>
                  </a:lnTo>
                  <a:lnTo>
                    <a:pt x="13991" y="18347"/>
                  </a:lnTo>
                  <a:lnTo>
                    <a:pt x="14259" y="18347"/>
                  </a:lnTo>
                  <a:lnTo>
                    <a:pt x="14478" y="18322"/>
                  </a:lnTo>
                  <a:lnTo>
                    <a:pt x="14721" y="18249"/>
                  </a:lnTo>
                  <a:lnTo>
                    <a:pt x="14819" y="18176"/>
                  </a:lnTo>
                  <a:lnTo>
                    <a:pt x="14892" y="18103"/>
                  </a:lnTo>
                  <a:lnTo>
                    <a:pt x="14989" y="18030"/>
                  </a:lnTo>
                  <a:lnTo>
                    <a:pt x="15038" y="17933"/>
                  </a:lnTo>
                  <a:lnTo>
                    <a:pt x="15135" y="17763"/>
                  </a:lnTo>
                  <a:lnTo>
                    <a:pt x="15159" y="17568"/>
                  </a:lnTo>
                  <a:lnTo>
                    <a:pt x="15184" y="17373"/>
                  </a:lnTo>
                  <a:lnTo>
                    <a:pt x="15159" y="17203"/>
                  </a:lnTo>
                  <a:lnTo>
                    <a:pt x="15111" y="17008"/>
                  </a:lnTo>
                  <a:lnTo>
                    <a:pt x="15062" y="16838"/>
                  </a:lnTo>
                  <a:lnTo>
                    <a:pt x="14965" y="16643"/>
                  </a:lnTo>
                  <a:lnTo>
                    <a:pt x="14867" y="16473"/>
                  </a:lnTo>
                  <a:lnTo>
                    <a:pt x="14600" y="16132"/>
                  </a:lnTo>
                  <a:lnTo>
                    <a:pt x="14308" y="15792"/>
                  </a:lnTo>
                  <a:lnTo>
                    <a:pt x="13991" y="15524"/>
                  </a:lnTo>
                  <a:lnTo>
                    <a:pt x="13675" y="15281"/>
                  </a:lnTo>
                  <a:lnTo>
                    <a:pt x="13967" y="14916"/>
                  </a:lnTo>
                  <a:lnTo>
                    <a:pt x="14235" y="14551"/>
                  </a:lnTo>
                  <a:lnTo>
                    <a:pt x="14478" y="14137"/>
                  </a:lnTo>
                  <a:lnTo>
                    <a:pt x="14673" y="13748"/>
                  </a:lnTo>
                  <a:lnTo>
                    <a:pt x="14916" y="13237"/>
                  </a:lnTo>
                  <a:lnTo>
                    <a:pt x="15111" y="12677"/>
                  </a:lnTo>
                  <a:lnTo>
                    <a:pt x="15257" y="12118"/>
                  </a:lnTo>
                  <a:lnTo>
                    <a:pt x="15378" y="11534"/>
                  </a:lnTo>
                  <a:lnTo>
                    <a:pt x="15476" y="10950"/>
                  </a:lnTo>
                  <a:lnTo>
                    <a:pt x="15524" y="10366"/>
                  </a:lnTo>
                  <a:lnTo>
                    <a:pt x="15549" y="9782"/>
                  </a:lnTo>
                  <a:lnTo>
                    <a:pt x="15549" y="9222"/>
                  </a:lnTo>
                  <a:lnTo>
                    <a:pt x="15524" y="8979"/>
                  </a:lnTo>
                  <a:lnTo>
                    <a:pt x="15476" y="8735"/>
                  </a:lnTo>
                  <a:lnTo>
                    <a:pt x="15354" y="8249"/>
                  </a:lnTo>
                  <a:lnTo>
                    <a:pt x="15208" y="7786"/>
                  </a:lnTo>
                  <a:lnTo>
                    <a:pt x="15038" y="7348"/>
                  </a:lnTo>
                  <a:lnTo>
                    <a:pt x="14867" y="6910"/>
                  </a:lnTo>
                  <a:lnTo>
                    <a:pt x="14794" y="6691"/>
                  </a:lnTo>
                  <a:lnTo>
                    <a:pt x="14697" y="6472"/>
                  </a:lnTo>
                  <a:lnTo>
                    <a:pt x="14575" y="6278"/>
                  </a:lnTo>
                  <a:lnTo>
                    <a:pt x="14429" y="6107"/>
                  </a:lnTo>
                  <a:lnTo>
                    <a:pt x="14381" y="6107"/>
                  </a:lnTo>
                  <a:lnTo>
                    <a:pt x="13991" y="6034"/>
                  </a:lnTo>
                  <a:lnTo>
                    <a:pt x="13578" y="5961"/>
                  </a:lnTo>
                  <a:lnTo>
                    <a:pt x="13042" y="6521"/>
                  </a:lnTo>
                  <a:lnTo>
                    <a:pt x="12458" y="7105"/>
                  </a:lnTo>
                  <a:lnTo>
                    <a:pt x="12580" y="7202"/>
                  </a:lnTo>
                  <a:lnTo>
                    <a:pt x="12702" y="7324"/>
                  </a:lnTo>
                  <a:lnTo>
                    <a:pt x="12799" y="7470"/>
                  </a:lnTo>
                  <a:lnTo>
                    <a:pt x="12872" y="7616"/>
                  </a:lnTo>
                  <a:lnTo>
                    <a:pt x="13018" y="7957"/>
                  </a:lnTo>
                  <a:lnTo>
                    <a:pt x="13140" y="8249"/>
                  </a:lnTo>
                  <a:lnTo>
                    <a:pt x="13213" y="8468"/>
                  </a:lnTo>
                  <a:lnTo>
                    <a:pt x="13286" y="8687"/>
                  </a:lnTo>
                  <a:lnTo>
                    <a:pt x="13383" y="9173"/>
                  </a:lnTo>
                  <a:lnTo>
                    <a:pt x="13407" y="9684"/>
                  </a:lnTo>
                  <a:lnTo>
                    <a:pt x="13407" y="10147"/>
                  </a:lnTo>
                  <a:lnTo>
                    <a:pt x="13383" y="10585"/>
                  </a:lnTo>
                  <a:lnTo>
                    <a:pt x="13310" y="11023"/>
                  </a:lnTo>
                  <a:lnTo>
                    <a:pt x="13188" y="11436"/>
                  </a:lnTo>
                  <a:lnTo>
                    <a:pt x="13042" y="11850"/>
                  </a:lnTo>
                  <a:lnTo>
                    <a:pt x="12872" y="12264"/>
                  </a:lnTo>
                  <a:lnTo>
                    <a:pt x="12677" y="12653"/>
                  </a:lnTo>
                  <a:lnTo>
                    <a:pt x="12458" y="13018"/>
                  </a:lnTo>
                  <a:lnTo>
                    <a:pt x="12239" y="13383"/>
                  </a:lnTo>
                  <a:lnTo>
                    <a:pt x="11923" y="13748"/>
                  </a:lnTo>
                  <a:lnTo>
                    <a:pt x="11582" y="14088"/>
                  </a:lnTo>
                  <a:lnTo>
                    <a:pt x="11217" y="14380"/>
                  </a:lnTo>
                  <a:lnTo>
                    <a:pt x="10828" y="14648"/>
                  </a:lnTo>
                  <a:lnTo>
                    <a:pt x="10414" y="14867"/>
                  </a:lnTo>
                  <a:lnTo>
                    <a:pt x="9976" y="15062"/>
                  </a:lnTo>
                  <a:lnTo>
                    <a:pt x="9539" y="15256"/>
                  </a:lnTo>
                  <a:lnTo>
                    <a:pt x="9101" y="15427"/>
                  </a:lnTo>
                  <a:lnTo>
                    <a:pt x="8809" y="15524"/>
                  </a:lnTo>
                  <a:lnTo>
                    <a:pt x="8517" y="15597"/>
                  </a:lnTo>
                  <a:lnTo>
                    <a:pt x="8225" y="15646"/>
                  </a:lnTo>
                  <a:lnTo>
                    <a:pt x="7957" y="15670"/>
                  </a:lnTo>
                  <a:lnTo>
                    <a:pt x="7397" y="15670"/>
                  </a:lnTo>
                  <a:lnTo>
                    <a:pt x="7130" y="15646"/>
                  </a:lnTo>
                  <a:lnTo>
                    <a:pt x="6862" y="15597"/>
                  </a:lnTo>
                  <a:lnTo>
                    <a:pt x="6594" y="15548"/>
                  </a:lnTo>
                  <a:lnTo>
                    <a:pt x="6327" y="15475"/>
                  </a:lnTo>
                  <a:lnTo>
                    <a:pt x="5816" y="15281"/>
                  </a:lnTo>
                  <a:lnTo>
                    <a:pt x="5280" y="15062"/>
                  </a:lnTo>
                  <a:lnTo>
                    <a:pt x="4769" y="14770"/>
                  </a:lnTo>
                  <a:lnTo>
                    <a:pt x="4015" y="14307"/>
                  </a:lnTo>
                  <a:lnTo>
                    <a:pt x="3918" y="14259"/>
                  </a:lnTo>
                  <a:lnTo>
                    <a:pt x="3820" y="14161"/>
                  </a:lnTo>
                  <a:lnTo>
                    <a:pt x="3674" y="13991"/>
                  </a:lnTo>
                  <a:lnTo>
                    <a:pt x="3382" y="13602"/>
                  </a:lnTo>
                  <a:lnTo>
                    <a:pt x="3066" y="13164"/>
                  </a:lnTo>
                  <a:lnTo>
                    <a:pt x="2774" y="12726"/>
                  </a:lnTo>
                  <a:lnTo>
                    <a:pt x="2652" y="12483"/>
                  </a:lnTo>
                  <a:lnTo>
                    <a:pt x="2555" y="12239"/>
                  </a:lnTo>
                  <a:lnTo>
                    <a:pt x="2458" y="11972"/>
                  </a:lnTo>
                  <a:lnTo>
                    <a:pt x="2360" y="11728"/>
                  </a:lnTo>
                  <a:lnTo>
                    <a:pt x="2263" y="11242"/>
                  </a:lnTo>
                  <a:lnTo>
                    <a:pt x="2214" y="10731"/>
                  </a:lnTo>
                  <a:lnTo>
                    <a:pt x="2214" y="10220"/>
                  </a:lnTo>
                  <a:lnTo>
                    <a:pt x="2239" y="9684"/>
                  </a:lnTo>
                  <a:lnTo>
                    <a:pt x="2336" y="9149"/>
                  </a:lnTo>
                  <a:lnTo>
                    <a:pt x="2433" y="8662"/>
                  </a:lnTo>
                  <a:lnTo>
                    <a:pt x="2604" y="8151"/>
                  </a:lnTo>
                  <a:lnTo>
                    <a:pt x="2774" y="7713"/>
                  </a:lnTo>
                  <a:lnTo>
                    <a:pt x="2969" y="7324"/>
                  </a:lnTo>
                  <a:lnTo>
                    <a:pt x="3188" y="6959"/>
                  </a:lnTo>
                  <a:lnTo>
                    <a:pt x="3431" y="6618"/>
                  </a:lnTo>
                  <a:lnTo>
                    <a:pt x="3699" y="6302"/>
                  </a:lnTo>
                  <a:lnTo>
                    <a:pt x="4015" y="6010"/>
                  </a:lnTo>
                  <a:lnTo>
                    <a:pt x="4331" y="5742"/>
                  </a:lnTo>
                  <a:lnTo>
                    <a:pt x="4648" y="5499"/>
                  </a:lnTo>
                  <a:lnTo>
                    <a:pt x="5013" y="5280"/>
                  </a:lnTo>
                  <a:lnTo>
                    <a:pt x="5378" y="5086"/>
                  </a:lnTo>
                  <a:lnTo>
                    <a:pt x="5767" y="4915"/>
                  </a:lnTo>
                  <a:lnTo>
                    <a:pt x="6156" y="4794"/>
                  </a:lnTo>
                  <a:lnTo>
                    <a:pt x="6570" y="4672"/>
                  </a:lnTo>
                  <a:lnTo>
                    <a:pt x="6984" y="4599"/>
                  </a:lnTo>
                  <a:lnTo>
                    <a:pt x="7397" y="4550"/>
                  </a:lnTo>
                  <a:lnTo>
                    <a:pt x="7811" y="4526"/>
                  </a:lnTo>
                  <a:lnTo>
                    <a:pt x="8225" y="4526"/>
                  </a:lnTo>
                  <a:lnTo>
                    <a:pt x="8614" y="4575"/>
                  </a:lnTo>
                  <a:lnTo>
                    <a:pt x="8979" y="4623"/>
                  </a:lnTo>
                  <a:lnTo>
                    <a:pt x="9344" y="4696"/>
                  </a:lnTo>
                  <a:lnTo>
                    <a:pt x="9685" y="4794"/>
                  </a:lnTo>
                  <a:lnTo>
                    <a:pt x="10049" y="4940"/>
                  </a:lnTo>
                  <a:lnTo>
                    <a:pt x="10390" y="5086"/>
                  </a:lnTo>
                  <a:lnTo>
                    <a:pt x="10706" y="5280"/>
                  </a:lnTo>
                  <a:lnTo>
                    <a:pt x="10998" y="5499"/>
                  </a:lnTo>
                  <a:lnTo>
                    <a:pt x="11363" y="5134"/>
                  </a:lnTo>
                  <a:lnTo>
                    <a:pt x="11704" y="4745"/>
                  </a:lnTo>
                  <a:lnTo>
                    <a:pt x="11874" y="4575"/>
                  </a:lnTo>
                  <a:lnTo>
                    <a:pt x="11801" y="4258"/>
                  </a:lnTo>
                  <a:lnTo>
                    <a:pt x="11777" y="3942"/>
                  </a:lnTo>
                  <a:lnTo>
                    <a:pt x="11728" y="3650"/>
                  </a:lnTo>
                  <a:lnTo>
                    <a:pt x="11680" y="3382"/>
                  </a:lnTo>
                  <a:lnTo>
                    <a:pt x="11169" y="3042"/>
                  </a:lnTo>
                  <a:lnTo>
                    <a:pt x="10925" y="2871"/>
                  </a:lnTo>
                  <a:lnTo>
                    <a:pt x="10633" y="2750"/>
                  </a:lnTo>
                  <a:lnTo>
                    <a:pt x="10147" y="2579"/>
                  </a:lnTo>
                  <a:lnTo>
                    <a:pt x="9685" y="2458"/>
                  </a:lnTo>
                  <a:lnTo>
                    <a:pt x="9174" y="2385"/>
                  </a:lnTo>
                  <a:lnTo>
                    <a:pt x="8687" y="23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" name="Title 7">
            <a:extLst>
              <a:ext uri="{FF2B5EF4-FFF2-40B4-BE49-F238E27FC236}">
                <a16:creationId xmlns:a16="http://schemas.microsoft.com/office/drawing/2014/main" id="{B1358E4A-5487-4686-B622-44933BC8C642}"/>
              </a:ext>
            </a:extLst>
          </p:cNvPr>
          <p:cNvSpPr txBox="1">
            <a:spLocks/>
          </p:cNvSpPr>
          <p:nvPr/>
        </p:nvSpPr>
        <p:spPr>
          <a:xfrm>
            <a:off x="717632" y="1133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3000" b="0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algn="l"/>
            <a:r>
              <a:rPr lang="bg-BG" sz="3200" b="1" dirty="0"/>
              <a:t>Задача 6</a:t>
            </a:r>
            <a:r>
              <a:rPr lang="en-US" sz="3200" b="1" dirty="0"/>
              <a:t> -</a:t>
            </a:r>
            <a:r>
              <a:rPr lang="bg-BG" sz="3200" b="1" dirty="0"/>
              <a:t> математически модел </a:t>
            </a:r>
            <a:endParaRPr lang="en-US" sz="3200" b="1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83792BE-367E-493F-8E20-4FF99D137C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/>
              <p:nvPr/>
            </p:nvSpPr>
            <p:spPr>
              <a:xfrm>
                <a:off x="1118647" y="1890553"/>
                <a:ext cx="5797992" cy="2686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𝑿</m:t>
                      </m:r>
                      <m:r>
                        <a:rPr lang="en-US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: 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</m:ctrlPr>
                            </m:eqArrPr>
                            <m:e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𝟑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𝟓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𝟒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𝟔𝟎</m:t>
                              </m:r>
                            </m:e>
                            <m:e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𝟐</m:t>
                              </m:r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𝟏𝟒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𝟏𝟖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𝟑𝟎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𝟒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𝟎𝟎</m:t>
                              </m:r>
                            </m:e>
                            <m:e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𝟏𝟎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𝟏𝟒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𝟖</m:t>
                                  </m:r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𝟏𝟔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𝟏𝟑𝟎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≥</m:t>
                              </m:r>
                              <m:r>
                                <a:rPr lang="bg-BG" sz="20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𝟖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bg-BG" sz="2000" b="1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𝟑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bg-BG" sz="2000" b="1" i="1" smtClean="0">
                                          <a:solidFill>
                                            <a:srgbClr val="505670"/>
                                          </a:solidFill>
                                          <a:latin typeface="Cambria Math" panose="02040503050406030204" pitchFamily="18" charset="0"/>
                                          <a:ea typeface="Varela Round"/>
                                          <a:cs typeface="Varela Round"/>
                                          <a:sym typeface="Varela Round"/>
                                        </a:rPr>
                                        <m:t>𝟒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≥</m:t>
                              </m:r>
                              <m:f>
                                <m:fPr>
                                  <m:ctrlP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bg-BG" sz="20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 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𝒋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𝟐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𝟑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0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0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647" y="1890553"/>
                <a:ext cx="5797992" cy="2686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02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978" y="838200"/>
            <a:ext cx="7367781" cy="5441950"/>
          </a:xfrm>
        </p:spPr>
        <p:txBody>
          <a:bodyPr>
            <a:normAutofit/>
          </a:bodyPr>
          <a:lstStyle/>
          <a:p>
            <a:r>
              <a:rPr lang="ru-RU" sz="2000" dirty="0"/>
              <a:t>Във фирма за производство на канута работят 120 служители, </a:t>
            </a:r>
            <a:r>
              <a:rPr lang="ru-RU" sz="2000" dirty="0" err="1"/>
              <a:t>като</a:t>
            </a:r>
            <a:r>
              <a:rPr lang="ru-RU" sz="2000" dirty="0"/>
              <a:t> всеки от тях </a:t>
            </a:r>
            <a:r>
              <a:rPr lang="ru-RU" sz="2000" dirty="0" err="1"/>
              <a:t>работи</a:t>
            </a:r>
            <a:r>
              <a:rPr lang="ru-RU" sz="2000" dirty="0"/>
              <a:t> по 30 часа седмично. Половината от тях работят в дърводелския отдел, 20 души  в отдела за пластмаси, а останалите - в отдела за комплектуване. Компанията произвежда обикновени канута с нетна печалба от единица продукция 7 EUR и луксозни канута с нетна печалба 10 EUR. За едно обикновено кану са необходими 4,5 часа в дърводелския отдел и по два часа във всеки от другите два отдела. </a:t>
            </a:r>
            <a:r>
              <a:rPr lang="ru-RU" sz="2000" dirty="0" err="1"/>
              <a:t>Часовете</a:t>
            </a:r>
            <a:r>
              <a:rPr lang="ru-RU" sz="2000" dirty="0"/>
              <a:t>, необходими за производство на луксозно кану са 5, 1 и 4 часа </a:t>
            </a:r>
            <a:r>
              <a:rPr lang="ru-RU" sz="2000" dirty="0" err="1"/>
              <a:t>съответно</a:t>
            </a:r>
            <a:r>
              <a:rPr lang="ru-RU" sz="2000" dirty="0"/>
              <a:t> в дърводелския отдел, отдела за пластмаси и отдела за комплектуване. Маркетинговите изчисления показват, че не по-малко от 1/3 и не повече от 2/3 от общия брой канута трябва да бъдат луксозни. Как компанията ще максимизира общата си нетна печалба?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F7666C5-1B1B-4B10-A547-34DA5792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7</a:t>
            </a:r>
            <a:endParaRPr lang="en-US" sz="3600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C27DF383-526E-4940-9C88-F24185B415F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5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7 - решение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/>
              <p:nvPr/>
            </p:nvSpPr>
            <p:spPr>
              <a:xfrm>
                <a:off x="1009006" y="936269"/>
                <a:ext cx="7125987" cy="123825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sz="1800" dirty="0"/>
              </a:p>
              <a:p>
                <a:r>
                  <a:rPr lang="bg-BG" sz="20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Неизвестни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 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брой обикновени канута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505670"/>
                            </a:solidFill>
                            <a:latin typeface="Cambria Math" panose="02040503050406030204" pitchFamily="18" charset="0"/>
                            <a:cs typeface="Varela Round"/>
                            <a:sym typeface="Varela Round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-</a:t>
                </a:r>
                <a:r>
                  <a:rPr lang="bg-BG" sz="20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 брой луксозни канута</a:t>
                </a:r>
              </a:p>
              <a:p>
                <a:pPr algn="ctr"/>
                <a:endParaRPr lang="en-US" sz="1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9A3C27-3B87-4489-B3B7-8A77E3F43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006" y="936269"/>
                <a:ext cx="7125987" cy="1238257"/>
              </a:xfrm>
              <a:prstGeom prst="rect">
                <a:avLst/>
              </a:prstGeom>
              <a:blipFill>
                <a:blip r:embed="rId2"/>
                <a:stretch>
                  <a:fillRect l="-768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/>
              <p:nvPr/>
            </p:nvSpPr>
            <p:spPr>
              <a:xfrm>
                <a:off x="990062" y="2534479"/>
                <a:ext cx="7125987" cy="1540564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bg-BG" sz="1800" b="1" u="sng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Целева функция: </a:t>
                </a:r>
              </a:p>
              <a:p>
                <a:r>
                  <a:rPr lang="bg-BG" sz="18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</a:rPr>
                  <a:t>Основната цел е да се максимизира нетната печалба на фирмата.</a:t>
                </a:r>
                <a:endParaRPr lang="en-US" sz="18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  <a:p>
                <a:endParaRPr lang="bg-BG" sz="1600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𝐳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</a:rPr>
                            <m:t>𝒙</m:t>
                          </m:r>
                        </m:e>
                      </m:d>
                      <m:r>
                        <a:rPr lang="en-US" sz="2000" b="1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=</m:t>
                      </m:r>
                      <m:r>
                        <a:rPr lang="bg-BG" sz="2000" b="1" i="0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</a:rPr>
                        <m:t>𝟕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𝟏</m:t>
                          </m:r>
                        </m:sub>
                      </m:sSub>
                      <m:r>
                        <a:rPr lang="bg-BG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+</m:t>
                      </m:r>
                      <m:r>
                        <a:rPr lang="bg-BG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cs typeface="Varela Round"/>
                          <a:sym typeface="Varela Round"/>
                        </a:rPr>
                        <m:t>𝟏𝟎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cs typeface="Varela Round"/>
                              <a:sym typeface="Varela Round"/>
                            </a:rPr>
                            <m:t>𝟐</m:t>
                          </m:r>
                        </m:sub>
                      </m:sSub>
                      <m:r>
                        <a:rPr lang="bg-BG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→</m:t>
                      </m:r>
                      <m:r>
                        <a:rPr lang="en-US" sz="20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arela Round"/>
                          <a:sym typeface="Varela Round"/>
                        </a:rPr>
                        <m:t>𝒎𝒂𝒙</m:t>
                      </m:r>
                    </m:oMath>
                  </m:oMathPara>
                </a14:m>
                <a:endPara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03E697-D443-4B42-BCF3-5052E5F7B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62" y="2534479"/>
                <a:ext cx="7125987" cy="1540564"/>
              </a:xfrm>
              <a:prstGeom prst="rect">
                <a:avLst/>
              </a:prstGeom>
              <a:blipFill>
                <a:blip r:embed="rId3"/>
                <a:stretch>
                  <a:fillRect l="-512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556B33B-C01C-41EF-867D-FA645C002B4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F19B35-ABBC-48A1-BCE7-031B2AAFD1BD}"/>
              </a:ext>
            </a:extLst>
          </p:cNvPr>
          <p:cNvSpPr/>
          <p:nvPr/>
        </p:nvSpPr>
        <p:spPr>
          <a:xfrm>
            <a:off x="1009006" y="4411490"/>
            <a:ext cx="7125987" cy="123825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g-BG" sz="18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Ограничения:</a:t>
            </a:r>
          </a:p>
          <a:p>
            <a:r>
              <a:rPr lang="bg-BG" sz="18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Ограниченията са от гледна точка на</a:t>
            </a:r>
            <a:r>
              <a:rPr lang="en-US" sz="18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 </a:t>
            </a:r>
            <a:r>
              <a:rPr lang="bg-BG" sz="18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производствен процес и прогнози за продажби.</a:t>
            </a:r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344424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ADA9F-6EC1-48D2-AC55-1426A6D0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Задача</a:t>
            </a:r>
            <a:r>
              <a:rPr lang="bg-BG" sz="3600" dirty="0"/>
              <a:t> 7 - решение</a:t>
            </a:r>
            <a:endParaRPr lang="en-US" sz="3600" dirty="0"/>
          </a:p>
        </p:txBody>
      </p:sp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556B33B-C01C-41EF-867D-FA645C002B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F19B35-ABBC-48A1-BCE7-031B2AAFD1BD}"/>
              </a:ext>
            </a:extLst>
          </p:cNvPr>
          <p:cNvSpPr/>
          <p:nvPr/>
        </p:nvSpPr>
        <p:spPr>
          <a:xfrm>
            <a:off x="1009006" y="1260785"/>
            <a:ext cx="7125987" cy="123825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g-BG" sz="1800" b="1" u="sng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Ограничения:</a:t>
            </a:r>
          </a:p>
          <a:p>
            <a:r>
              <a:rPr lang="bg-BG" sz="18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Ограниченията са от гледна точка на</a:t>
            </a:r>
            <a:r>
              <a:rPr lang="en-US" sz="18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 </a:t>
            </a:r>
            <a:r>
              <a:rPr lang="bg-BG" sz="1800" b="1" dirty="0">
                <a:solidFill>
                  <a:srgbClr val="505670"/>
                </a:solidFill>
                <a:latin typeface="Varela Round"/>
                <a:ea typeface="Varela Round"/>
                <a:cs typeface="Varela Round"/>
              </a:rPr>
              <a:t>производствен процес и прогнози за продажби.</a:t>
            </a:r>
            <a:endParaRPr lang="bg-BG" sz="1600" b="1" dirty="0">
              <a:solidFill>
                <a:srgbClr val="505670"/>
              </a:solidFill>
              <a:latin typeface="Varela Round"/>
              <a:ea typeface="Varela Round"/>
              <a:cs typeface="Varela Round"/>
            </a:endParaRPr>
          </a:p>
        </p:txBody>
      </p:sp>
      <p:graphicFrame>
        <p:nvGraphicFramePr>
          <p:cNvPr id="9" name="Shape 220">
            <a:extLst>
              <a:ext uri="{FF2B5EF4-FFF2-40B4-BE49-F238E27FC236}">
                <a16:creationId xmlns:a16="http://schemas.microsoft.com/office/drawing/2014/main" id="{3F86D8D6-B261-4A5D-B400-49EB22EE39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9606436"/>
              </p:ext>
            </p:extLst>
          </p:nvPr>
        </p:nvGraphicFramePr>
        <p:xfrm>
          <a:off x="1229793" y="3966679"/>
          <a:ext cx="6373642" cy="1766949"/>
        </p:xfrm>
        <a:graphic>
          <a:graphicData uri="http://schemas.openxmlformats.org/drawingml/2006/table">
            <a:tbl>
              <a:tblPr>
                <a:noFill/>
                <a:tableStyleId>{DE05D1AB-BAE4-4E3A-A547-ADA6829F2946}</a:tableStyleId>
              </a:tblPr>
              <a:tblGrid>
                <a:gridCol w="2800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 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Обикновено кану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Луксозно кану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Лимит часове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9CB8">
                        <a:alpha val="153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Дърводелски отдел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4.5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5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1800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Отдел за пластмаси 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600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Times New Roman"/>
                          <a:ea typeface="Times New Roman"/>
                          <a:cs typeface="Varela Round"/>
                          <a:sym typeface="Varela Round"/>
                        </a:rPr>
                        <a:t>Отдел за комплектуване 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2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4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600" b="0" i="0" u="none" strike="noStrike" cap="none" dirty="0">
                          <a:solidFill>
                            <a:srgbClr val="505670"/>
                          </a:solidFill>
                          <a:latin typeface="Varela Round"/>
                          <a:ea typeface="Times New Roman"/>
                          <a:cs typeface="Varela Round"/>
                          <a:sym typeface="Varela Round"/>
                        </a:rPr>
                        <a:t>1200</a:t>
                      </a:r>
                      <a:endParaRPr lang="en-US" sz="1600" b="0" i="0" u="none" strike="noStrike" cap="none" dirty="0">
                        <a:solidFill>
                          <a:srgbClr val="505670"/>
                        </a:solidFill>
                        <a:latin typeface="Varela Round"/>
                        <a:ea typeface="Times New Roman"/>
                        <a:cs typeface="Varela Round"/>
                        <a:sym typeface="Varela Round"/>
                      </a:endParaRPr>
                    </a:p>
                  </a:txBody>
                  <a:tcPr marL="56678" marR="56678" marT="0" marB="0">
                    <a:lnL w="9525" cap="flat" cmpd="sng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9CB8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9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3666F4-941C-43A0-9D48-C2C4ED3406F5}"/>
                  </a:ext>
                </a:extLst>
              </p:cNvPr>
              <p:cNvSpPr txBox="1"/>
              <p:nvPr/>
            </p:nvSpPr>
            <p:spPr>
              <a:xfrm>
                <a:off x="1431235" y="2819521"/>
                <a:ext cx="457200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bg-BG" sz="1400" b="1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cs typeface="Varela Round"/>
                        <a:sym typeface="Varela Round"/>
                      </a:rPr>
                      <m:t>𝟔𝟎</m:t>
                    </m:r>
                    <m:r>
                      <a:rPr lang="bg-BG" sz="1400" b="1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cs typeface="Varela Round"/>
                        <a:sym typeface="Varela Round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- </a:t>
                </a:r>
                <a:r>
                  <a:rPr lang="bg-BG" sz="14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брой служители </a:t>
                </a:r>
                <a:r>
                  <a:rPr lang="bg-BG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в дърводелски отдел</a:t>
                </a:r>
              </a:p>
              <a:p>
                <a:r>
                  <a:rPr lang="bg-BG" sz="1400" b="1" dirty="0">
                    <a:solidFill>
                      <a:srgbClr val="505670"/>
                    </a:solidFill>
                    <a:cs typeface="Varela Round"/>
                    <a:sym typeface="Varela Round"/>
                  </a:rPr>
                  <a:t>2</a:t>
                </a:r>
                <a14:m>
                  <m:oMath xmlns:m="http://schemas.openxmlformats.org/officeDocument/2006/math">
                    <m:r>
                      <a:rPr lang="bg-BG" sz="1400" b="1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cs typeface="Varela Round"/>
                        <a:sym typeface="Varela Round"/>
                      </a:rPr>
                      <m:t>𝟎</m:t>
                    </m:r>
                    <m:r>
                      <a:rPr lang="bg-BG" sz="1400" b="1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cs typeface="Varela Round"/>
                        <a:sym typeface="Varela Round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- </a:t>
                </a:r>
                <a:r>
                  <a:rPr lang="bg-BG" sz="14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брой служители </a:t>
                </a:r>
                <a:r>
                  <a:rPr lang="bg-BG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в отдел за пластмаси </a:t>
                </a:r>
              </a:p>
              <a:p>
                <a:r>
                  <a:rPr lang="bg-BG" sz="1400" b="1" dirty="0">
                    <a:solidFill>
                      <a:srgbClr val="505670"/>
                    </a:solidFill>
                    <a:cs typeface="Varela Round"/>
                    <a:sym typeface="Varela Round"/>
                  </a:rPr>
                  <a:t>4</a:t>
                </a:r>
                <a14:m>
                  <m:oMath xmlns:m="http://schemas.openxmlformats.org/officeDocument/2006/math">
                    <m:r>
                      <a:rPr lang="bg-BG" sz="1400" b="1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cs typeface="Varela Round"/>
                        <a:sym typeface="Varela Round"/>
                      </a:rPr>
                      <m:t>𝟎</m:t>
                    </m:r>
                    <m:r>
                      <a:rPr lang="bg-BG" sz="1400" b="1" i="1" smtClean="0">
                        <a:solidFill>
                          <a:srgbClr val="505670"/>
                        </a:solidFill>
                        <a:latin typeface="Cambria Math" panose="02040503050406030204" pitchFamily="18" charset="0"/>
                        <a:cs typeface="Varela Round"/>
                        <a:sym typeface="Varela Round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- </a:t>
                </a:r>
                <a:r>
                  <a:rPr lang="bg-BG" sz="1400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брой служители </a:t>
                </a:r>
                <a:r>
                  <a:rPr lang="bg-BG" b="1" dirty="0">
                    <a:solidFill>
                      <a:srgbClr val="505670"/>
                    </a:solidFill>
                    <a:latin typeface="Varela Round"/>
                    <a:ea typeface="Varela Round"/>
                    <a:cs typeface="Varela Round"/>
                    <a:sym typeface="Varela Round"/>
                  </a:rPr>
                  <a:t>в отдел за комплектуване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3666F4-941C-43A0-9D48-C2C4ED340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235" y="2819521"/>
                <a:ext cx="4572000" cy="738664"/>
              </a:xfrm>
              <a:prstGeom prst="rect">
                <a:avLst/>
              </a:prstGeom>
              <a:blipFill>
                <a:blip r:embed="rId3"/>
                <a:stretch>
                  <a:fillRect l="-400" t="-3306" b="-743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6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𝐳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800" b="1">
                          <a:latin typeface="Cambria Math" panose="02040503050406030204" pitchFamily="18" charset="0"/>
                        </a:rPr>
                        <m:t>𝟕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bg-BG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2800" b="1" i="1"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bg-BG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𝒎𝒂𝒙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6247" y="986493"/>
                <a:ext cx="6582633" cy="37928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053F4E6-5000-4F54-A983-EA35B653740D}"/>
              </a:ext>
            </a:extLst>
          </p:cNvPr>
          <p:cNvGrpSpPr/>
          <p:nvPr/>
        </p:nvGrpSpPr>
        <p:grpSpPr>
          <a:xfrm>
            <a:off x="1282988" y="5618491"/>
            <a:ext cx="4011466" cy="577850"/>
            <a:chOff x="4572000" y="5624511"/>
            <a:chExt cx="4011466" cy="577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76782C-36E0-494B-A1B9-9A07FF92AB9F}"/>
                </a:ext>
              </a:extLst>
            </p:cNvPr>
            <p:cNvSpPr/>
            <p:nvPr/>
          </p:nvSpPr>
          <p:spPr>
            <a:xfrm>
              <a:off x="4582966" y="5624511"/>
              <a:ext cx="4000500" cy="5778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bg-BG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Решете задачата в </a:t>
              </a:r>
              <a:r>
                <a:rPr lang="en-US" sz="2000" b="1" dirty="0">
                  <a:solidFill>
                    <a:srgbClr val="50567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Excel.</a:t>
              </a:r>
            </a:p>
          </p:txBody>
        </p:sp>
        <p:sp>
          <p:nvSpPr>
            <p:cNvPr id="15" name="Shape 375">
              <a:extLst>
                <a:ext uri="{FF2B5EF4-FFF2-40B4-BE49-F238E27FC236}">
                  <a16:creationId xmlns:a16="http://schemas.microsoft.com/office/drawing/2014/main" id="{D3FFFDB5-3F64-4721-BDE0-C607DD260E76}"/>
                </a:ext>
              </a:extLst>
            </p:cNvPr>
            <p:cNvSpPr/>
            <p:nvPr/>
          </p:nvSpPr>
          <p:spPr>
            <a:xfrm>
              <a:off x="4572000" y="5671284"/>
              <a:ext cx="387161" cy="402569"/>
            </a:xfrm>
            <a:custGeom>
              <a:avLst/>
              <a:gdLst/>
              <a:ahLst/>
              <a:cxnLst/>
              <a:rect l="0" t="0" r="0" b="0"/>
              <a:pathLst>
                <a:path w="17715" h="18420" extrusionOk="0">
                  <a:moveTo>
                    <a:pt x="14673" y="803"/>
                  </a:moveTo>
                  <a:lnTo>
                    <a:pt x="14746" y="1022"/>
                  </a:lnTo>
                  <a:lnTo>
                    <a:pt x="14794" y="1217"/>
                  </a:lnTo>
                  <a:lnTo>
                    <a:pt x="14843" y="1655"/>
                  </a:lnTo>
                  <a:lnTo>
                    <a:pt x="14892" y="2141"/>
                  </a:lnTo>
                  <a:lnTo>
                    <a:pt x="14916" y="2385"/>
                  </a:lnTo>
                  <a:lnTo>
                    <a:pt x="14940" y="2482"/>
                  </a:lnTo>
                  <a:lnTo>
                    <a:pt x="15013" y="2604"/>
                  </a:lnTo>
                  <a:lnTo>
                    <a:pt x="14770" y="2847"/>
                  </a:lnTo>
                  <a:lnTo>
                    <a:pt x="14697" y="2920"/>
                  </a:lnTo>
                  <a:lnTo>
                    <a:pt x="14648" y="2628"/>
                  </a:lnTo>
                  <a:lnTo>
                    <a:pt x="14600" y="2360"/>
                  </a:lnTo>
                  <a:lnTo>
                    <a:pt x="14527" y="2044"/>
                  </a:lnTo>
                  <a:lnTo>
                    <a:pt x="14405" y="1776"/>
                  </a:lnTo>
                  <a:lnTo>
                    <a:pt x="14308" y="1484"/>
                  </a:lnTo>
                  <a:lnTo>
                    <a:pt x="14210" y="1192"/>
                  </a:lnTo>
                  <a:lnTo>
                    <a:pt x="14673" y="803"/>
                  </a:lnTo>
                  <a:close/>
                  <a:moveTo>
                    <a:pt x="15695" y="2847"/>
                  </a:moveTo>
                  <a:lnTo>
                    <a:pt x="16400" y="2871"/>
                  </a:lnTo>
                  <a:lnTo>
                    <a:pt x="17106" y="2969"/>
                  </a:lnTo>
                  <a:lnTo>
                    <a:pt x="16984" y="3115"/>
                  </a:lnTo>
                  <a:lnTo>
                    <a:pt x="16960" y="3090"/>
                  </a:lnTo>
                  <a:lnTo>
                    <a:pt x="16887" y="3042"/>
                  </a:lnTo>
                  <a:lnTo>
                    <a:pt x="16790" y="2993"/>
                  </a:lnTo>
                  <a:lnTo>
                    <a:pt x="16595" y="2969"/>
                  </a:lnTo>
                  <a:lnTo>
                    <a:pt x="16400" y="2944"/>
                  </a:lnTo>
                  <a:lnTo>
                    <a:pt x="15914" y="2944"/>
                  </a:lnTo>
                  <a:lnTo>
                    <a:pt x="15622" y="2920"/>
                  </a:lnTo>
                  <a:lnTo>
                    <a:pt x="15695" y="2847"/>
                  </a:lnTo>
                  <a:close/>
                  <a:moveTo>
                    <a:pt x="14040" y="1314"/>
                  </a:moveTo>
                  <a:lnTo>
                    <a:pt x="14040" y="1484"/>
                  </a:lnTo>
                  <a:lnTo>
                    <a:pt x="14064" y="1655"/>
                  </a:lnTo>
                  <a:lnTo>
                    <a:pt x="14137" y="2020"/>
                  </a:lnTo>
                  <a:lnTo>
                    <a:pt x="14283" y="2871"/>
                  </a:lnTo>
                  <a:lnTo>
                    <a:pt x="14308" y="3066"/>
                  </a:lnTo>
                  <a:lnTo>
                    <a:pt x="14332" y="3236"/>
                  </a:lnTo>
                  <a:lnTo>
                    <a:pt x="14162" y="3382"/>
                  </a:lnTo>
                  <a:lnTo>
                    <a:pt x="14137" y="3139"/>
                  </a:lnTo>
                  <a:lnTo>
                    <a:pt x="14040" y="2871"/>
                  </a:lnTo>
                  <a:lnTo>
                    <a:pt x="13870" y="2433"/>
                  </a:lnTo>
                  <a:lnTo>
                    <a:pt x="13748" y="2068"/>
                  </a:lnTo>
                  <a:lnTo>
                    <a:pt x="13675" y="1703"/>
                  </a:lnTo>
                  <a:lnTo>
                    <a:pt x="13651" y="1630"/>
                  </a:lnTo>
                  <a:lnTo>
                    <a:pt x="13699" y="1582"/>
                  </a:lnTo>
                  <a:lnTo>
                    <a:pt x="14040" y="1314"/>
                  </a:lnTo>
                  <a:close/>
                  <a:moveTo>
                    <a:pt x="13359" y="1898"/>
                  </a:moveTo>
                  <a:lnTo>
                    <a:pt x="13432" y="2239"/>
                  </a:lnTo>
                  <a:lnTo>
                    <a:pt x="13553" y="2677"/>
                  </a:lnTo>
                  <a:lnTo>
                    <a:pt x="13699" y="3090"/>
                  </a:lnTo>
                  <a:lnTo>
                    <a:pt x="13772" y="3358"/>
                  </a:lnTo>
                  <a:lnTo>
                    <a:pt x="13821" y="3480"/>
                  </a:lnTo>
                  <a:lnTo>
                    <a:pt x="13894" y="3601"/>
                  </a:lnTo>
                  <a:lnTo>
                    <a:pt x="13724" y="3723"/>
                  </a:lnTo>
                  <a:lnTo>
                    <a:pt x="13699" y="3577"/>
                  </a:lnTo>
                  <a:lnTo>
                    <a:pt x="13675" y="3407"/>
                  </a:lnTo>
                  <a:lnTo>
                    <a:pt x="13578" y="3090"/>
                  </a:lnTo>
                  <a:lnTo>
                    <a:pt x="13529" y="2798"/>
                  </a:lnTo>
                  <a:lnTo>
                    <a:pt x="13456" y="2531"/>
                  </a:lnTo>
                  <a:lnTo>
                    <a:pt x="13383" y="2239"/>
                  </a:lnTo>
                  <a:lnTo>
                    <a:pt x="13237" y="1995"/>
                  </a:lnTo>
                  <a:lnTo>
                    <a:pt x="13359" y="1898"/>
                  </a:lnTo>
                  <a:close/>
                  <a:moveTo>
                    <a:pt x="15378" y="3188"/>
                  </a:moveTo>
                  <a:lnTo>
                    <a:pt x="15500" y="3236"/>
                  </a:lnTo>
                  <a:lnTo>
                    <a:pt x="15646" y="3261"/>
                  </a:lnTo>
                  <a:lnTo>
                    <a:pt x="15914" y="3285"/>
                  </a:lnTo>
                  <a:lnTo>
                    <a:pt x="16790" y="3358"/>
                  </a:lnTo>
                  <a:lnTo>
                    <a:pt x="16473" y="3723"/>
                  </a:lnTo>
                  <a:lnTo>
                    <a:pt x="16449" y="3650"/>
                  </a:lnTo>
                  <a:lnTo>
                    <a:pt x="16425" y="3601"/>
                  </a:lnTo>
                  <a:lnTo>
                    <a:pt x="16376" y="3553"/>
                  </a:lnTo>
                  <a:lnTo>
                    <a:pt x="16303" y="3528"/>
                  </a:lnTo>
                  <a:lnTo>
                    <a:pt x="16084" y="3455"/>
                  </a:lnTo>
                  <a:lnTo>
                    <a:pt x="15816" y="3431"/>
                  </a:lnTo>
                  <a:lnTo>
                    <a:pt x="15573" y="3431"/>
                  </a:lnTo>
                  <a:lnTo>
                    <a:pt x="15330" y="3455"/>
                  </a:lnTo>
                  <a:lnTo>
                    <a:pt x="15086" y="3455"/>
                  </a:lnTo>
                  <a:lnTo>
                    <a:pt x="15135" y="3431"/>
                  </a:lnTo>
                  <a:lnTo>
                    <a:pt x="15378" y="3188"/>
                  </a:lnTo>
                  <a:close/>
                  <a:moveTo>
                    <a:pt x="13067" y="2166"/>
                  </a:moveTo>
                  <a:lnTo>
                    <a:pt x="13115" y="2628"/>
                  </a:lnTo>
                  <a:lnTo>
                    <a:pt x="13164" y="3042"/>
                  </a:lnTo>
                  <a:lnTo>
                    <a:pt x="13188" y="3285"/>
                  </a:lnTo>
                  <a:lnTo>
                    <a:pt x="13213" y="3553"/>
                  </a:lnTo>
                  <a:lnTo>
                    <a:pt x="13261" y="3699"/>
                  </a:lnTo>
                  <a:lnTo>
                    <a:pt x="13286" y="3820"/>
                  </a:lnTo>
                  <a:lnTo>
                    <a:pt x="13359" y="3942"/>
                  </a:lnTo>
                  <a:lnTo>
                    <a:pt x="13432" y="4015"/>
                  </a:lnTo>
                  <a:lnTo>
                    <a:pt x="13213" y="4234"/>
                  </a:lnTo>
                  <a:lnTo>
                    <a:pt x="13140" y="3845"/>
                  </a:lnTo>
                  <a:lnTo>
                    <a:pt x="13042" y="3480"/>
                  </a:lnTo>
                  <a:lnTo>
                    <a:pt x="12994" y="3236"/>
                  </a:lnTo>
                  <a:lnTo>
                    <a:pt x="12921" y="2969"/>
                  </a:lnTo>
                  <a:lnTo>
                    <a:pt x="12823" y="2701"/>
                  </a:lnTo>
                  <a:lnTo>
                    <a:pt x="12702" y="2482"/>
                  </a:lnTo>
                  <a:lnTo>
                    <a:pt x="12872" y="2336"/>
                  </a:lnTo>
                  <a:lnTo>
                    <a:pt x="13067" y="2166"/>
                  </a:lnTo>
                  <a:close/>
                  <a:moveTo>
                    <a:pt x="14648" y="3796"/>
                  </a:moveTo>
                  <a:lnTo>
                    <a:pt x="14819" y="3869"/>
                  </a:lnTo>
                  <a:lnTo>
                    <a:pt x="15013" y="3893"/>
                  </a:lnTo>
                  <a:lnTo>
                    <a:pt x="15232" y="3918"/>
                  </a:lnTo>
                  <a:lnTo>
                    <a:pt x="16035" y="3918"/>
                  </a:lnTo>
                  <a:lnTo>
                    <a:pt x="16181" y="3966"/>
                  </a:lnTo>
                  <a:lnTo>
                    <a:pt x="16230" y="3966"/>
                  </a:lnTo>
                  <a:lnTo>
                    <a:pt x="16011" y="4185"/>
                  </a:lnTo>
                  <a:lnTo>
                    <a:pt x="15938" y="4258"/>
                  </a:lnTo>
                  <a:lnTo>
                    <a:pt x="15816" y="4210"/>
                  </a:lnTo>
                  <a:lnTo>
                    <a:pt x="15695" y="4161"/>
                  </a:lnTo>
                  <a:lnTo>
                    <a:pt x="15403" y="4137"/>
                  </a:lnTo>
                  <a:lnTo>
                    <a:pt x="14916" y="4137"/>
                  </a:lnTo>
                  <a:lnTo>
                    <a:pt x="14600" y="4112"/>
                  </a:lnTo>
                  <a:lnTo>
                    <a:pt x="14259" y="4112"/>
                  </a:lnTo>
                  <a:lnTo>
                    <a:pt x="14648" y="3796"/>
                  </a:lnTo>
                  <a:close/>
                  <a:moveTo>
                    <a:pt x="13943" y="4404"/>
                  </a:moveTo>
                  <a:lnTo>
                    <a:pt x="14283" y="4453"/>
                  </a:lnTo>
                  <a:lnTo>
                    <a:pt x="14648" y="4502"/>
                  </a:lnTo>
                  <a:lnTo>
                    <a:pt x="15354" y="4550"/>
                  </a:lnTo>
                  <a:lnTo>
                    <a:pt x="15524" y="4575"/>
                  </a:lnTo>
                  <a:lnTo>
                    <a:pt x="15330" y="4745"/>
                  </a:lnTo>
                  <a:lnTo>
                    <a:pt x="15184" y="4915"/>
                  </a:lnTo>
                  <a:lnTo>
                    <a:pt x="14697" y="4818"/>
                  </a:lnTo>
                  <a:lnTo>
                    <a:pt x="14186" y="4745"/>
                  </a:lnTo>
                  <a:lnTo>
                    <a:pt x="13699" y="4672"/>
                  </a:lnTo>
                  <a:lnTo>
                    <a:pt x="13797" y="4550"/>
                  </a:lnTo>
                  <a:lnTo>
                    <a:pt x="13943" y="4404"/>
                  </a:lnTo>
                  <a:close/>
                  <a:moveTo>
                    <a:pt x="14721" y="0"/>
                  </a:moveTo>
                  <a:lnTo>
                    <a:pt x="14673" y="24"/>
                  </a:lnTo>
                  <a:lnTo>
                    <a:pt x="14600" y="49"/>
                  </a:lnTo>
                  <a:lnTo>
                    <a:pt x="14551" y="97"/>
                  </a:lnTo>
                  <a:lnTo>
                    <a:pt x="14235" y="389"/>
                  </a:lnTo>
                  <a:lnTo>
                    <a:pt x="13894" y="681"/>
                  </a:lnTo>
                  <a:lnTo>
                    <a:pt x="13213" y="1217"/>
                  </a:lnTo>
                  <a:lnTo>
                    <a:pt x="12921" y="1460"/>
                  </a:lnTo>
                  <a:lnTo>
                    <a:pt x="12775" y="1606"/>
                  </a:lnTo>
                  <a:lnTo>
                    <a:pt x="12629" y="1752"/>
                  </a:lnTo>
                  <a:lnTo>
                    <a:pt x="12507" y="1922"/>
                  </a:lnTo>
                  <a:lnTo>
                    <a:pt x="12385" y="2093"/>
                  </a:lnTo>
                  <a:lnTo>
                    <a:pt x="12337" y="2263"/>
                  </a:lnTo>
                  <a:lnTo>
                    <a:pt x="12312" y="2458"/>
                  </a:lnTo>
                  <a:lnTo>
                    <a:pt x="12337" y="2506"/>
                  </a:lnTo>
                  <a:lnTo>
                    <a:pt x="12312" y="2531"/>
                  </a:lnTo>
                  <a:lnTo>
                    <a:pt x="12337" y="2774"/>
                  </a:lnTo>
                  <a:lnTo>
                    <a:pt x="12385" y="3017"/>
                  </a:lnTo>
                  <a:lnTo>
                    <a:pt x="12507" y="3504"/>
                  </a:lnTo>
                  <a:lnTo>
                    <a:pt x="12531" y="3796"/>
                  </a:lnTo>
                  <a:lnTo>
                    <a:pt x="12580" y="4137"/>
                  </a:lnTo>
                  <a:lnTo>
                    <a:pt x="12629" y="4453"/>
                  </a:lnTo>
                  <a:lnTo>
                    <a:pt x="12677" y="4599"/>
                  </a:lnTo>
                  <a:lnTo>
                    <a:pt x="12750" y="4745"/>
                  </a:lnTo>
                  <a:lnTo>
                    <a:pt x="12288" y="5256"/>
                  </a:lnTo>
                  <a:lnTo>
                    <a:pt x="11972" y="5621"/>
                  </a:lnTo>
                  <a:lnTo>
                    <a:pt x="11631" y="5961"/>
                  </a:lnTo>
                  <a:lnTo>
                    <a:pt x="10925" y="6643"/>
                  </a:lnTo>
                  <a:lnTo>
                    <a:pt x="10220" y="7300"/>
                  </a:lnTo>
                  <a:lnTo>
                    <a:pt x="9490" y="7981"/>
                  </a:lnTo>
                  <a:lnTo>
                    <a:pt x="9125" y="8370"/>
                  </a:lnTo>
                  <a:lnTo>
                    <a:pt x="8760" y="8760"/>
                  </a:lnTo>
                  <a:lnTo>
                    <a:pt x="8371" y="9149"/>
                  </a:lnTo>
                  <a:lnTo>
                    <a:pt x="8006" y="9538"/>
                  </a:lnTo>
                  <a:lnTo>
                    <a:pt x="7884" y="9490"/>
                  </a:lnTo>
                  <a:lnTo>
                    <a:pt x="7665" y="9490"/>
                  </a:lnTo>
                  <a:lnTo>
                    <a:pt x="7568" y="9514"/>
                  </a:lnTo>
                  <a:lnTo>
                    <a:pt x="7422" y="9538"/>
                  </a:lnTo>
                  <a:lnTo>
                    <a:pt x="7276" y="9587"/>
                  </a:lnTo>
                  <a:lnTo>
                    <a:pt x="7154" y="9684"/>
                  </a:lnTo>
                  <a:lnTo>
                    <a:pt x="7057" y="9830"/>
                  </a:lnTo>
                  <a:lnTo>
                    <a:pt x="6984" y="9976"/>
                  </a:lnTo>
                  <a:lnTo>
                    <a:pt x="6935" y="10147"/>
                  </a:lnTo>
                  <a:lnTo>
                    <a:pt x="6959" y="10317"/>
                  </a:lnTo>
                  <a:lnTo>
                    <a:pt x="7008" y="10487"/>
                  </a:lnTo>
                  <a:lnTo>
                    <a:pt x="7105" y="10633"/>
                  </a:lnTo>
                  <a:lnTo>
                    <a:pt x="7251" y="10755"/>
                  </a:lnTo>
                  <a:lnTo>
                    <a:pt x="7397" y="10828"/>
                  </a:lnTo>
                  <a:lnTo>
                    <a:pt x="7568" y="10877"/>
                  </a:lnTo>
                  <a:lnTo>
                    <a:pt x="7738" y="10901"/>
                  </a:lnTo>
                  <a:lnTo>
                    <a:pt x="7884" y="10877"/>
                  </a:lnTo>
                  <a:lnTo>
                    <a:pt x="8006" y="10804"/>
                  </a:lnTo>
                  <a:lnTo>
                    <a:pt x="8127" y="10731"/>
                  </a:lnTo>
                  <a:lnTo>
                    <a:pt x="8225" y="10633"/>
                  </a:lnTo>
                  <a:lnTo>
                    <a:pt x="8298" y="10512"/>
                  </a:lnTo>
                  <a:lnTo>
                    <a:pt x="8346" y="10390"/>
                  </a:lnTo>
                  <a:lnTo>
                    <a:pt x="8371" y="10244"/>
                  </a:lnTo>
                  <a:lnTo>
                    <a:pt x="8371" y="10098"/>
                  </a:lnTo>
                  <a:lnTo>
                    <a:pt x="8371" y="10049"/>
                  </a:lnTo>
                  <a:lnTo>
                    <a:pt x="8711" y="9733"/>
                  </a:lnTo>
                  <a:lnTo>
                    <a:pt x="9003" y="9392"/>
                  </a:lnTo>
                  <a:lnTo>
                    <a:pt x="9295" y="9052"/>
                  </a:lnTo>
                  <a:lnTo>
                    <a:pt x="9587" y="8760"/>
                  </a:lnTo>
                  <a:lnTo>
                    <a:pt x="10317" y="8054"/>
                  </a:lnTo>
                  <a:lnTo>
                    <a:pt x="11047" y="7373"/>
                  </a:lnTo>
                  <a:lnTo>
                    <a:pt x="11777" y="6691"/>
                  </a:lnTo>
                  <a:lnTo>
                    <a:pt x="12507" y="5986"/>
                  </a:lnTo>
                  <a:lnTo>
                    <a:pt x="12896" y="5548"/>
                  </a:lnTo>
                  <a:lnTo>
                    <a:pt x="13310" y="5086"/>
                  </a:lnTo>
                  <a:lnTo>
                    <a:pt x="13529" y="5159"/>
                  </a:lnTo>
                  <a:lnTo>
                    <a:pt x="13748" y="5207"/>
                  </a:lnTo>
                  <a:lnTo>
                    <a:pt x="14186" y="5280"/>
                  </a:lnTo>
                  <a:lnTo>
                    <a:pt x="14648" y="5353"/>
                  </a:lnTo>
                  <a:lnTo>
                    <a:pt x="15086" y="5426"/>
                  </a:lnTo>
                  <a:lnTo>
                    <a:pt x="15184" y="5426"/>
                  </a:lnTo>
                  <a:lnTo>
                    <a:pt x="15281" y="5402"/>
                  </a:lnTo>
                  <a:lnTo>
                    <a:pt x="15354" y="5353"/>
                  </a:lnTo>
                  <a:lnTo>
                    <a:pt x="15403" y="5280"/>
                  </a:lnTo>
                  <a:lnTo>
                    <a:pt x="15524" y="5207"/>
                  </a:lnTo>
                  <a:lnTo>
                    <a:pt x="15670" y="5134"/>
                  </a:lnTo>
                  <a:lnTo>
                    <a:pt x="15938" y="4940"/>
                  </a:lnTo>
                  <a:lnTo>
                    <a:pt x="16352" y="4526"/>
                  </a:lnTo>
                  <a:lnTo>
                    <a:pt x="16692" y="4210"/>
                  </a:lnTo>
                  <a:lnTo>
                    <a:pt x="17009" y="3869"/>
                  </a:lnTo>
                  <a:lnTo>
                    <a:pt x="17325" y="3504"/>
                  </a:lnTo>
                  <a:lnTo>
                    <a:pt x="17617" y="3115"/>
                  </a:lnTo>
                  <a:lnTo>
                    <a:pt x="17641" y="3066"/>
                  </a:lnTo>
                  <a:lnTo>
                    <a:pt x="17666" y="3017"/>
                  </a:lnTo>
                  <a:lnTo>
                    <a:pt x="17641" y="2896"/>
                  </a:lnTo>
                  <a:lnTo>
                    <a:pt x="17690" y="2774"/>
                  </a:lnTo>
                  <a:lnTo>
                    <a:pt x="17714" y="2701"/>
                  </a:lnTo>
                  <a:lnTo>
                    <a:pt x="17690" y="2652"/>
                  </a:lnTo>
                  <a:lnTo>
                    <a:pt x="17690" y="2579"/>
                  </a:lnTo>
                  <a:lnTo>
                    <a:pt x="17641" y="2531"/>
                  </a:lnTo>
                  <a:lnTo>
                    <a:pt x="17593" y="2506"/>
                  </a:lnTo>
                  <a:lnTo>
                    <a:pt x="17495" y="2482"/>
                  </a:lnTo>
                  <a:lnTo>
                    <a:pt x="16838" y="2360"/>
                  </a:lnTo>
                  <a:lnTo>
                    <a:pt x="16473" y="2312"/>
                  </a:lnTo>
                  <a:lnTo>
                    <a:pt x="16108" y="2287"/>
                  </a:lnTo>
                  <a:lnTo>
                    <a:pt x="16303" y="2068"/>
                  </a:lnTo>
                  <a:lnTo>
                    <a:pt x="16522" y="1801"/>
                  </a:lnTo>
                  <a:lnTo>
                    <a:pt x="16790" y="1582"/>
                  </a:lnTo>
                  <a:lnTo>
                    <a:pt x="17033" y="1338"/>
                  </a:lnTo>
                  <a:lnTo>
                    <a:pt x="17276" y="1095"/>
                  </a:lnTo>
                  <a:lnTo>
                    <a:pt x="17325" y="1022"/>
                  </a:lnTo>
                  <a:lnTo>
                    <a:pt x="17374" y="949"/>
                  </a:lnTo>
                  <a:lnTo>
                    <a:pt x="17374" y="876"/>
                  </a:lnTo>
                  <a:lnTo>
                    <a:pt x="17374" y="803"/>
                  </a:lnTo>
                  <a:lnTo>
                    <a:pt x="17325" y="681"/>
                  </a:lnTo>
                  <a:lnTo>
                    <a:pt x="17252" y="560"/>
                  </a:lnTo>
                  <a:lnTo>
                    <a:pt x="17155" y="487"/>
                  </a:lnTo>
                  <a:lnTo>
                    <a:pt x="17009" y="438"/>
                  </a:lnTo>
                  <a:lnTo>
                    <a:pt x="16960" y="462"/>
                  </a:lnTo>
                  <a:lnTo>
                    <a:pt x="16887" y="462"/>
                  </a:lnTo>
                  <a:lnTo>
                    <a:pt x="16838" y="511"/>
                  </a:lnTo>
                  <a:lnTo>
                    <a:pt x="16765" y="560"/>
                  </a:lnTo>
                  <a:lnTo>
                    <a:pt x="16571" y="803"/>
                  </a:lnTo>
                  <a:lnTo>
                    <a:pt x="16352" y="1022"/>
                  </a:lnTo>
                  <a:lnTo>
                    <a:pt x="16133" y="1241"/>
                  </a:lnTo>
                  <a:lnTo>
                    <a:pt x="15914" y="1460"/>
                  </a:lnTo>
                  <a:lnTo>
                    <a:pt x="15500" y="1971"/>
                  </a:lnTo>
                  <a:lnTo>
                    <a:pt x="15427" y="1436"/>
                  </a:lnTo>
                  <a:lnTo>
                    <a:pt x="15354" y="1095"/>
                  </a:lnTo>
                  <a:lnTo>
                    <a:pt x="15281" y="779"/>
                  </a:lnTo>
                  <a:lnTo>
                    <a:pt x="15184" y="462"/>
                  </a:lnTo>
                  <a:lnTo>
                    <a:pt x="15111" y="292"/>
                  </a:lnTo>
                  <a:lnTo>
                    <a:pt x="15013" y="146"/>
                  </a:lnTo>
                  <a:lnTo>
                    <a:pt x="14965" y="97"/>
                  </a:lnTo>
                  <a:lnTo>
                    <a:pt x="14916" y="49"/>
                  </a:lnTo>
                  <a:lnTo>
                    <a:pt x="14794" y="24"/>
                  </a:lnTo>
                  <a:lnTo>
                    <a:pt x="14721" y="0"/>
                  </a:lnTo>
                  <a:close/>
                  <a:moveTo>
                    <a:pt x="7543" y="6691"/>
                  </a:moveTo>
                  <a:lnTo>
                    <a:pt x="7203" y="6716"/>
                  </a:lnTo>
                  <a:lnTo>
                    <a:pt x="6886" y="6789"/>
                  </a:lnTo>
                  <a:lnTo>
                    <a:pt x="6570" y="6862"/>
                  </a:lnTo>
                  <a:lnTo>
                    <a:pt x="6254" y="6983"/>
                  </a:lnTo>
                  <a:lnTo>
                    <a:pt x="5962" y="7105"/>
                  </a:lnTo>
                  <a:lnTo>
                    <a:pt x="5670" y="7275"/>
                  </a:lnTo>
                  <a:lnTo>
                    <a:pt x="5402" y="7470"/>
                  </a:lnTo>
                  <a:lnTo>
                    <a:pt x="5159" y="7713"/>
                  </a:lnTo>
                  <a:lnTo>
                    <a:pt x="4940" y="7957"/>
                  </a:lnTo>
                  <a:lnTo>
                    <a:pt x="4745" y="8249"/>
                  </a:lnTo>
                  <a:lnTo>
                    <a:pt x="4599" y="8565"/>
                  </a:lnTo>
                  <a:lnTo>
                    <a:pt x="4477" y="8857"/>
                  </a:lnTo>
                  <a:lnTo>
                    <a:pt x="4380" y="9149"/>
                  </a:lnTo>
                  <a:lnTo>
                    <a:pt x="4307" y="9441"/>
                  </a:lnTo>
                  <a:lnTo>
                    <a:pt x="4258" y="9733"/>
                  </a:lnTo>
                  <a:lnTo>
                    <a:pt x="4234" y="10025"/>
                  </a:lnTo>
                  <a:lnTo>
                    <a:pt x="4234" y="10317"/>
                  </a:lnTo>
                  <a:lnTo>
                    <a:pt x="4258" y="10609"/>
                  </a:lnTo>
                  <a:lnTo>
                    <a:pt x="4307" y="10901"/>
                  </a:lnTo>
                  <a:lnTo>
                    <a:pt x="4356" y="11193"/>
                  </a:lnTo>
                  <a:lnTo>
                    <a:pt x="4453" y="11461"/>
                  </a:lnTo>
                  <a:lnTo>
                    <a:pt x="4550" y="11728"/>
                  </a:lnTo>
                  <a:lnTo>
                    <a:pt x="4696" y="11996"/>
                  </a:lnTo>
                  <a:lnTo>
                    <a:pt x="4842" y="12239"/>
                  </a:lnTo>
                  <a:lnTo>
                    <a:pt x="5013" y="12458"/>
                  </a:lnTo>
                  <a:lnTo>
                    <a:pt x="5207" y="12677"/>
                  </a:lnTo>
                  <a:lnTo>
                    <a:pt x="5426" y="12872"/>
                  </a:lnTo>
                  <a:lnTo>
                    <a:pt x="5670" y="13067"/>
                  </a:lnTo>
                  <a:lnTo>
                    <a:pt x="5913" y="13213"/>
                  </a:lnTo>
                  <a:lnTo>
                    <a:pt x="6181" y="13334"/>
                  </a:lnTo>
                  <a:lnTo>
                    <a:pt x="6473" y="13456"/>
                  </a:lnTo>
                  <a:lnTo>
                    <a:pt x="6740" y="13529"/>
                  </a:lnTo>
                  <a:lnTo>
                    <a:pt x="7032" y="13602"/>
                  </a:lnTo>
                  <a:lnTo>
                    <a:pt x="7324" y="13650"/>
                  </a:lnTo>
                  <a:lnTo>
                    <a:pt x="7933" y="13650"/>
                  </a:lnTo>
                  <a:lnTo>
                    <a:pt x="8225" y="13626"/>
                  </a:lnTo>
                  <a:lnTo>
                    <a:pt x="8541" y="13577"/>
                  </a:lnTo>
                  <a:lnTo>
                    <a:pt x="8833" y="13505"/>
                  </a:lnTo>
                  <a:lnTo>
                    <a:pt x="9125" y="13407"/>
                  </a:lnTo>
                  <a:lnTo>
                    <a:pt x="9393" y="13310"/>
                  </a:lnTo>
                  <a:lnTo>
                    <a:pt x="9660" y="13164"/>
                  </a:lnTo>
                  <a:lnTo>
                    <a:pt x="9903" y="12994"/>
                  </a:lnTo>
                  <a:lnTo>
                    <a:pt x="10147" y="12823"/>
                  </a:lnTo>
                  <a:lnTo>
                    <a:pt x="10390" y="12604"/>
                  </a:lnTo>
                  <a:lnTo>
                    <a:pt x="10585" y="12361"/>
                  </a:lnTo>
                  <a:lnTo>
                    <a:pt x="10779" y="12118"/>
                  </a:lnTo>
                  <a:lnTo>
                    <a:pt x="10925" y="11826"/>
                  </a:lnTo>
                  <a:lnTo>
                    <a:pt x="11071" y="11558"/>
                  </a:lnTo>
                  <a:lnTo>
                    <a:pt x="11193" y="11242"/>
                  </a:lnTo>
                  <a:lnTo>
                    <a:pt x="11266" y="10950"/>
                  </a:lnTo>
                  <a:lnTo>
                    <a:pt x="11339" y="10633"/>
                  </a:lnTo>
                  <a:lnTo>
                    <a:pt x="11388" y="10317"/>
                  </a:lnTo>
                  <a:lnTo>
                    <a:pt x="11388" y="9976"/>
                  </a:lnTo>
                  <a:lnTo>
                    <a:pt x="11363" y="9660"/>
                  </a:lnTo>
                  <a:lnTo>
                    <a:pt x="11315" y="9368"/>
                  </a:lnTo>
                  <a:lnTo>
                    <a:pt x="11242" y="9052"/>
                  </a:lnTo>
                  <a:lnTo>
                    <a:pt x="11120" y="8760"/>
                  </a:lnTo>
                  <a:lnTo>
                    <a:pt x="10974" y="8492"/>
                  </a:lnTo>
                  <a:lnTo>
                    <a:pt x="10147" y="9295"/>
                  </a:lnTo>
                  <a:lnTo>
                    <a:pt x="9733" y="9733"/>
                  </a:lnTo>
                  <a:lnTo>
                    <a:pt x="9636" y="9855"/>
                  </a:lnTo>
                  <a:lnTo>
                    <a:pt x="9636" y="9879"/>
                  </a:lnTo>
                  <a:lnTo>
                    <a:pt x="9636" y="10244"/>
                  </a:lnTo>
                  <a:lnTo>
                    <a:pt x="9587" y="10609"/>
                  </a:lnTo>
                  <a:lnTo>
                    <a:pt x="9539" y="10779"/>
                  </a:lnTo>
                  <a:lnTo>
                    <a:pt x="9466" y="10950"/>
                  </a:lnTo>
                  <a:lnTo>
                    <a:pt x="9393" y="11096"/>
                  </a:lnTo>
                  <a:lnTo>
                    <a:pt x="9295" y="11242"/>
                  </a:lnTo>
                  <a:lnTo>
                    <a:pt x="9149" y="11363"/>
                  </a:lnTo>
                  <a:lnTo>
                    <a:pt x="9003" y="11485"/>
                  </a:lnTo>
                  <a:lnTo>
                    <a:pt x="8882" y="11582"/>
                  </a:lnTo>
                  <a:lnTo>
                    <a:pt x="8736" y="11655"/>
                  </a:lnTo>
                  <a:lnTo>
                    <a:pt x="8590" y="11704"/>
                  </a:lnTo>
                  <a:lnTo>
                    <a:pt x="8444" y="11728"/>
                  </a:lnTo>
                  <a:lnTo>
                    <a:pt x="8127" y="11777"/>
                  </a:lnTo>
                  <a:lnTo>
                    <a:pt x="7811" y="11777"/>
                  </a:lnTo>
                  <a:lnTo>
                    <a:pt x="7470" y="11728"/>
                  </a:lnTo>
                  <a:lnTo>
                    <a:pt x="7178" y="11631"/>
                  </a:lnTo>
                  <a:lnTo>
                    <a:pt x="6886" y="11509"/>
                  </a:lnTo>
                  <a:lnTo>
                    <a:pt x="6643" y="11339"/>
                  </a:lnTo>
                  <a:lnTo>
                    <a:pt x="6521" y="11217"/>
                  </a:lnTo>
                  <a:lnTo>
                    <a:pt x="6400" y="11096"/>
                  </a:lnTo>
                  <a:lnTo>
                    <a:pt x="6327" y="10974"/>
                  </a:lnTo>
                  <a:lnTo>
                    <a:pt x="6254" y="10852"/>
                  </a:lnTo>
                  <a:lnTo>
                    <a:pt x="6132" y="10560"/>
                  </a:lnTo>
                  <a:lnTo>
                    <a:pt x="6059" y="10244"/>
                  </a:lnTo>
                  <a:lnTo>
                    <a:pt x="6059" y="9928"/>
                  </a:lnTo>
                  <a:lnTo>
                    <a:pt x="6083" y="9636"/>
                  </a:lnTo>
                  <a:lnTo>
                    <a:pt x="6181" y="9319"/>
                  </a:lnTo>
                  <a:lnTo>
                    <a:pt x="6302" y="9052"/>
                  </a:lnTo>
                  <a:lnTo>
                    <a:pt x="6400" y="8906"/>
                  </a:lnTo>
                  <a:lnTo>
                    <a:pt x="6497" y="8808"/>
                  </a:lnTo>
                  <a:lnTo>
                    <a:pt x="6594" y="8687"/>
                  </a:lnTo>
                  <a:lnTo>
                    <a:pt x="6716" y="8614"/>
                  </a:lnTo>
                  <a:lnTo>
                    <a:pt x="6984" y="8468"/>
                  </a:lnTo>
                  <a:lnTo>
                    <a:pt x="7276" y="8370"/>
                  </a:lnTo>
                  <a:lnTo>
                    <a:pt x="7495" y="8322"/>
                  </a:lnTo>
                  <a:lnTo>
                    <a:pt x="7689" y="8322"/>
                  </a:lnTo>
                  <a:lnTo>
                    <a:pt x="8054" y="8370"/>
                  </a:lnTo>
                  <a:lnTo>
                    <a:pt x="8200" y="8200"/>
                  </a:lnTo>
                  <a:lnTo>
                    <a:pt x="8565" y="7811"/>
                  </a:lnTo>
                  <a:lnTo>
                    <a:pt x="8955" y="7421"/>
                  </a:lnTo>
                  <a:lnTo>
                    <a:pt x="9344" y="7032"/>
                  </a:lnTo>
                  <a:lnTo>
                    <a:pt x="9295" y="6983"/>
                  </a:lnTo>
                  <a:lnTo>
                    <a:pt x="9247" y="6959"/>
                  </a:lnTo>
                  <a:lnTo>
                    <a:pt x="8906" y="6862"/>
                  </a:lnTo>
                  <a:lnTo>
                    <a:pt x="8565" y="6764"/>
                  </a:lnTo>
                  <a:lnTo>
                    <a:pt x="8225" y="6716"/>
                  </a:lnTo>
                  <a:lnTo>
                    <a:pt x="7884" y="6691"/>
                  </a:lnTo>
                  <a:close/>
                  <a:moveTo>
                    <a:pt x="13407" y="15621"/>
                  </a:moveTo>
                  <a:lnTo>
                    <a:pt x="13505" y="15694"/>
                  </a:lnTo>
                  <a:lnTo>
                    <a:pt x="13310" y="15865"/>
                  </a:lnTo>
                  <a:lnTo>
                    <a:pt x="13213" y="15962"/>
                  </a:lnTo>
                  <a:lnTo>
                    <a:pt x="13115" y="16059"/>
                  </a:lnTo>
                  <a:lnTo>
                    <a:pt x="12969" y="16278"/>
                  </a:lnTo>
                  <a:lnTo>
                    <a:pt x="12969" y="16303"/>
                  </a:lnTo>
                  <a:lnTo>
                    <a:pt x="12969" y="16351"/>
                  </a:lnTo>
                  <a:lnTo>
                    <a:pt x="12994" y="16400"/>
                  </a:lnTo>
                  <a:lnTo>
                    <a:pt x="13067" y="16424"/>
                  </a:lnTo>
                  <a:lnTo>
                    <a:pt x="13115" y="16424"/>
                  </a:lnTo>
                  <a:lnTo>
                    <a:pt x="13140" y="16400"/>
                  </a:lnTo>
                  <a:lnTo>
                    <a:pt x="13237" y="16327"/>
                  </a:lnTo>
                  <a:lnTo>
                    <a:pt x="13334" y="16254"/>
                  </a:lnTo>
                  <a:lnTo>
                    <a:pt x="13553" y="16132"/>
                  </a:lnTo>
                  <a:lnTo>
                    <a:pt x="13699" y="16035"/>
                  </a:lnTo>
                  <a:lnTo>
                    <a:pt x="13845" y="15938"/>
                  </a:lnTo>
                  <a:lnTo>
                    <a:pt x="13918" y="15986"/>
                  </a:lnTo>
                  <a:lnTo>
                    <a:pt x="13772" y="16132"/>
                  </a:lnTo>
                  <a:lnTo>
                    <a:pt x="13651" y="16254"/>
                  </a:lnTo>
                  <a:lnTo>
                    <a:pt x="13553" y="16351"/>
                  </a:lnTo>
                  <a:lnTo>
                    <a:pt x="13456" y="16497"/>
                  </a:lnTo>
                  <a:lnTo>
                    <a:pt x="13407" y="16570"/>
                  </a:lnTo>
                  <a:lnTo>
                    <a:pt x="13383" y="16643"/>
                  </a:lnTo>
                  <a:lnTo>
                    <a:pt x="13383" y="16692"/>
                  </a:lnTo>
                  <a:lnTo>
                    <a:pt x="13432" y="16741"/>
                  </a:lnTo>
                  <a:lnTo>
                    <a:pt x="13553" y="16741"/>
                  </a:lnTo>
                  <a:lnTo>
                    <a:pt x="13675" y="16668"/>
                  </a:lnTo>
                  <a:lnTo>
                    <a:pt x="13870" y="16497"/>
                  </a:lnTo>
                  <a:lnTo>
                    <a:pt x="14137" y="16278"/>
                  </a:lnTo>
                  <a:lnTo>
                    <a:pt x="14186" y="16230"/>
                  </a:lnTo>
                  <a:lnTo>
                    <a:pt x="14283" y="16351"/>
                  </a:lnTo>
                  <a:lnTo>
                    <a:pt x="13967" y="16643"/>
                  </a:lnTo>
                  <a:lnTo>
                    <a:pt x="13821" y="16862"/>
                  </a:lnTo>
                  <a:lnTo>
                    <a:pt x="13675" y="17057"/>
                  </a:lnTo>
                  <a:lnTo>
                    <a:pt x="13675" y="17106"/>
                  </a:lnTo>
                  <a:lnTo>
                    <a:pt x="13724" y="17106"/>
                  </a:lnTo>
                  <a:lnTo>
                    <a:pt x="13967" y="16984"/>
                  </a:lnTo>
                  <a:lnTo>
                    <a:pt x="14210" y="16887"/>
                  </a:lnTo>
                  <a:lnTo>
                    <a:pt x="14381" y="16789"/>
                  </a:lnTo>
                  <a:lnTo>
                    <a:pt x="14527" y="16668"/>
                  </a:lnTo>
                  <a:lnTo>
                    <a:pt x="14600" y="16765"/>
                  </a:lnTo>
                  <a:lnTo>
                    <a:pt x="14575" y="16789"/>
                  </a:lnTo>
                  <a:lnTo>
                    <a:pt x="14259" y="17033"/>
                  </a:lnTo>
                  <a:lnTo>
                    <a:pt x="14113" y="17154"/>
                  </a:lnTo>
                  <a:lnTo>
                    <a:pt x="13991" y="17300"/>
                  </a:lnTo>
                  <a:lnTo>
                    <a:pt x="13991" y="17349"/>
                  </a:lnTo>
                  <a:lnTo>
                    <a:pt x="14016" y="17349"/>
                  </a:lnTo>
                  <a:lnTo>
                    <a:pt x="14210" y="17300"/>
                  </a:lnTo>
                  <a:lnTo>
                    <a:pt x="14356" y="17252"/>
                  </a:lnTo>
                  <a:lnTo>
                    <a:pt x="14551" y="17154"/>
                  </a:lnTo>
                  <a:lnTo>
                    <a:pt x="14721" y="17057"/>
                  </a:lnTo>
                  <a:lnTo>
                    <a:pt x="14746" y="17203"/>
                  </a:lnTo>
                  <a:lnTo>
                    <a:pt x="14624" y="17252"/>
                  </a:lnTo>
                  <a:lnTo>
                    <a:pt x="14478" y="17300"/>
                  </a:lnTo>
                  <a:lnTo>
                    <a:pt x="14332" y="17373"/>
                  </a:lnTo>
                  <a:lnTo>
                    <a:pt x="14259" y="17422"/>
                  </a:lnTo>
                  <a:lnTo>
                    <a:pt x="14186" y="17471"/>
                  </a:lnTo>
                  <a:lnTo>
                    <a:pt x="14137" y="17544"/>
                  </a:lnTo>
                  <a:lnTo>
                    <a:pt x="14162" y="17641"/>
                  </a:lnTo>
                  <a:lnTo>
                    <a:pt x="14210" y="17690"/>
                  </a:lnTo>
                  <a:lnTo>
                    <a:pt x="14283" y="17714"/>
                  </a:lnTo>
                  <a:lnTo>
                    <a:pt x="14429" y="17714"/>
                  </a:lnTo>
                  <a:lnTo>
                    <a:pt x="14575" y="17665"/>
                  </a:lnTo>
                  <a:lnTo>
                    <a:pt x="14697" y="17617"/>
                  </a:lnTo>
                  <a:lnTo>
                    <a:pt x="14697" y="17641"/>
                  </a:lnTo>
                  <a:lnTo>
                    <a:pt x="14600" y="17738"/>
                  </a:lnTo>
                  <a:lnTo>
                    <a:pt x="14502" y="17811"/>
                  </a:lnTo>
                  <a:lnTo>
                    <a:pt x="14405" y="17860"/>
                  </a:lnTo>
                  <a:lnTo>
                    <a:pt x="14283" y="17884"/>
                  </a:lnTo>
                  <a:lnTo>
                    <a:pt x="14162" y="17909"/>
                  </a:lnTo>
                  <a:lnTo>
                    <a:pt x="14040" y="17884"/>
                  </a:lnTo>
                  <a:lnTo>
                    <a:pt x="13772" y="17836"/>
                  </a:lnTo>
                  <a:lnTo>
                    <a:pt x="13529" y="17738"/>
                  </a:lnTo>
                  <a:lnTo>
                    <a:pt x="13261" y="17592"/>
                  </a:lnTo>
                  <a:lnTo>
                    <a:pt x="13067" y="17471"/>
                  </a:lnTo>
                  <a:lnTo>
                    <a:pt x="12896" y="17349"/>
                  </a:lnTo>
                  <a:lnTo>
                    <a:pt x="12726" y="17179"/>
                  </a:lnTo>
                  <a:lnTo>
                    <a:pt x="12556" y="16984"/>
                  </a:lnTo>
                  <a:lnTo>
                    <a:pt x="12337" y="16765"/>
                  </a:lnTo>
                  <a:lnTo>
                    <a:pt x="12239" y="16692"/>
                  </a:lnTo>
                  <a:lnTo>
                    <a:pt x="12118" y="16668"/>
                  </a:lnTo>
                  <a:lnTo>
                    <a:pt x="12458" y="16424"/>
                  </a:lnTo>
                  <a:lnTo>
                    <a:pt x="12799" y="16181"/>
                  </a:lnTo>
                  <a:lnTo>
                    <a:pt x="13115" y="15913"/>
                  </a:lnTo>
                  <a:lnTo>
                    <a:pt x="13407" y="15621"/>
                  </a:lnTo>
                  <a:close/>
                  <a:moveTo>
                    <a:pt x="2287" y="15548"/>
                  </a:moveTo>
                  <a:lnTo>
                    <a:pt x="2579" y="15840"/>
                  </a:lnTo>
                  <a:lnTo>
                    <a:pt x="2871" y="16084"/>
                  </a:lnTo>
                  <a:lnTo>
                    <a:pt x="3188" y="16351"/>
                  </a:lnTo>
                  <a:lnTo>
                    <a:pt x="3504" y="16570"/>
                  </a:lnTo>
                  <a:lnTo>
                    <a:pt x="3382" y="16765"/>
                  </a:lnTo>
                  <a:lnTo>
                    <a:pt x="3358" y="16741"/>
                  </a:lnTo>
                  <a:lnTo>
                    <a:pt x="3309" y="16668"/>
                  </a:lnTo>
                  <a:lnTo>
                    <a:pt x="3261" y="16619"/>
                  </a:lnTo>
                  <a:lnTo>
                    <a:pt x="3115" y="16522"/>
                  </a:lnTo>
                  <a:lnTo>
                    <a:pt x="2944" y="16449"/>
                  </a:lnTo>
                  <a:lnTo>
                    <a:pt x="2823" y="16351"/>
                  </a:lnTo>
                  <a:lnTo>
                    <a:pt x="2774" y="16351"/>
                  </a:lnTo>
                  <a:lnTo>
                    <a:pt x="2774" y="16376"/>
                  </a:lnTo>
                  <a:lnTo>
                    <a:pt x="2823" y="16522"/>
                  </a:lnTo>
                  <a:lnTo>
                    <a:pt x="2944" y="16668"/>
                  </a:lnTo>
                  <a:lnTo>
                    <a:pt x="2969" y="16692"/>
                  </a:lnTo>
                  <a:lnTo>
                    <a:pt x="2725" y="16546"/>
                  </a:lnTo>
                  <a:lnTo>
                    <a:pt x="2604" y="16497"/>
                  </a:lnTo>
                  <a:lnTo>
                    <a:pt x="2458" y="16473"/>
                  </a:lnTo>
                  <a:lnTo>
                    <a:pt x="2433" y="16473"/>
                  </a:lnTo>
                  <a:lnTo>
                    <a:pt x="2433" y="16522"/>
                  </a:lnTo>
                  <a:lnTo>
                    <a:pt x="2482" y="16619"/>
                  </a:lnTo>
                  <a:lnTo>
                    <a:pt x="2555" y="16692"/>
                  </a:lnTo>
                  <a:lnTo>
                    <a:pt x="2725" y="16862"/>
                  </a:lnTo>
                  <a:lnTo>
                    <a:pt x="2896" y="17008"/>
                  </a:lnTo>
                  <a:lnTo>
                    <a:pt x="3090" y="17130"/>
                  </a:lnTo>
                  <a:lnTo>
                    <a:pt x="2920" y="17300"/>
                  </a:lnTo>
                  <a:lnTo>
                    <a:pt x="2871" y="17276"/>
                  </a:lnTo>
                  <a:lnTo>
                    <a:pt x="2774" y="17203"/>
                  </a:lnTo>
                  <a:lnTo>
                    <a:pt x="2701" y="17106"/>
                  </a:lnTo>
                  <a:lnTo>
                    <a:pt x="2604" y="17008"/>
                  </a:lnTo>
                  <a:lnTo>
                    <a:pt x="2506" y="16935"/>
                  </a:lnTo>
                  <a:lnTo>
                    <a:pt x="2385" y="16887"/>
                  </a:lnTo>
                  <a:lnTo>
                    <a:pt x="2336" y="16862"/>
                  </a:lnTo>
                  <a:lnTo>
                    <a:pt x="2263" y="16887"/>
                  </a:lnTo>
                  <a:lnTo>
                    <a:pt x="2239" y="16911"/>
                  </a:lnTo>
                  <a:lnTo>
                    <a:pt x="2239" y="16960"/>
                  </a:lnTo>
                  <a:lnTo>
                    <a:pt x="2287" y="17057"/>
                  </a:lnTo>
                  <a:lnTo>
                    <a:pt x="2336" y="17179"/>
                  </a:lnTo>
                  <a:lnTo>
                    <a:pt x="2433" y="17300"/>
                  </a:lnTo>
                  <a:lnTo>
                    <a:pt x="2506" y="17422"/>
                  </a:lnTo>
                  <a:lnTo>
                    <a:pt x="2652" y="17544"/>
                  </a:lnTo>
                  <a:lnTo>
                    <a:pt x="2531" y="17617"/>
                  </a:lnTo>
                  <a:lnTo>
                    <a:pt x="2336" y="17519"/>
                  </a:lnTo>
                  <a:lnTo>
                    <a:pt x="2166" y="17398"/>
                  </a:lnTo>
                  <a:lnTo>
                    <a:pt x="2068" y="17325"/>
                  </a:lnTo>
                  <a:lnTo>
                    <a:pt x="1995" y="17300"/>
                  </a:lnTo>
                  <a:lnTo>
                    <a:pt x="1898" y="17252"/>
                  </a:lnTo>
                  <a:lnTo>
                    <a:pt x="1777" y="17227"/>
                  </a:lnTo>
                  <a:lnTo>
                    <a:pt x="1752" y="17252"/>
                  </a:lnTo>
                  <a:lnTo>
                    <a:pt x="1728" y="17276"/>
                  </a:lnTo>
                  <a:lnTo>
                    <a:pt x="1777" y="17398"/>
                  </a:lnTo>
                  <a:lnTo>
                    <a:pt x="1825" y="17519"/>
                  </a:lnTo>
                  <a:lnTo>
                    <a:pt x="1898" y="17641"/>
                  </a:lnTo>
                  <a:lnTo>
                    <a:pt x="1995" y="17738"/>
                  </a:lnTo>
                  <a:lnTo>
                    <a:pt x="2117" y="17860"/>
                  </a:lnTo>
                  <a:lnTo>
                    <a:pt x="1874" y="17763"/>
                  </a:lnTo>
                  <a:lnTo>
                    <a:pt x="1679" y="17665"/>
                  </a:lnTo>
                  <a:lnTo>
                    <a:pt x="1582" y="17617"/>
                  </a:lnTo>
                  <a:lnTo>
                    <a:pt x="1485" y="17592"/>
                  </a:lnTo>
                  <a:lnTo>
                    <a:pt x="1436" y="17592"/>
                  </a:lnTo>
                  <a:lnTo>
                    <a:pt x="1363" y="17641"/>
                  </a:lnTo>
                  <a:lnTo>
                    <a:pt x="1339" y="17690"/>
                  </a:lnTo>
                  <a:lnTo>
                    <a:pt x="1339" y="17738"/>
                  </a:lnTo>
                  <a:lnTo>
                    <a:pt x="1412" y="17860"/>
                  </a:lnTo>
                  <a:lnTo>
                    <a:pt x="1509" y="17957"/>
                  </a:lnTo>
                  <a:lnTo>
                    <a:pt x="1363" y="17909"/>
                  </a:lnTo>
                  <a:lnTo>
                    <a:pt x="1266" y="17836"/>
                  </a:lnTo>
                  <a:lnTo>
                    <a:pt x="1168" y="17738"/>
                  </a:lnTo>
                  <a:lnTo>
                    <a:pt x="1095" y="17592"/>
                  </a:lnTo>
                  <a:lnTo>
                    <a:pt x="1071" y="17422"/>
                  </a:lnTo>
                  <a:lnTo>
                    <a:pt x="1095" y="17227"/>
                  </a:lnTo>
                  <a:lnTo>
                    <a:pt x="1144" y="17057"/>
                  </a:lnTo>
                  <a:lnTo>
                    <a:pt x="1217" y="16887"/>
                  </a:lnTo>
                  <a:lnTo>
                    <a:pt x="1436" y="16522"/>
                  </a:lnTo>
                  <a:lnTo>
                    <a:pt x="1631" y="16254"/>
                  </a:lnTo>
                  <a:lnTo>
                    <a:pt x="1777" y="16059"/>
                  </a:lnTo>
                  <a:lnTo>
                    <a:pt x="1947" y="15889"/>
                  </a:lnTo>
                  <a:lnTo>
                    <a:pt x="2117" y="15719"/>
                  </a:lnTo>
                  <a:lnTo>
                    <a:pt x="2287" y="15548"/>
                  </a:lnTo>
                  <a:close/>
                  <a:moveTo>
                    <a:pt x="7689" y="2336"/>
                  </a:moveTo>
                  <a:lnTo>
                    <a:pt x="7203" y="2360"/>
                  </a:lnTo>
                  <a:lnTo>
                    <a:pt x="6716" y="2409"/>
                  </a:lnTo>
                  <a:lnTo>
                    <a:pt x="6205" y="2482"/>
                  </a:lnTo>
                  <a:lnTo>
                    <a:pt x="5718" y="2604"/>
                  </a:lnTo>
                  <a:lnTo>
                    <a:pt x="5256" y="2725"/>
                  </a:lnTo>
                  <a:lnTo>
                    <a:pt x="4794" y="2896"/>
                  </a:lnTo>
                  <a:lnTo>
                    <a:pt x="4404" y="3066"/>
                  </a:lnTo>
                  <a:lnTo>
                    <a:pt x="4015" y="3261"/>
                  </a:lnTo>
                  <a:lnTo>
                    <a:pt x="3626" y="3480"/>
                  </a:lnTo>
                  <a:lnTo>
                    <a:pt x="3261" y="3723"/>
                  </a:lnTo>
                  <a:lnTo>
                    <a:pt x="2896" y="3966"/>
                  </a:lnTo>
                  <a:lnTo>
                    <a:pt x="2555" y="4258"/>
                  </a:lnTo>
                  <a:lnTo>
                    <a:pt x="2214" y="4526"/>
                  </a:lnTo>
                  <a:lnTo>
                    <a:pt x="1923" y="4842"/>
                  </a:lnTo>
                  <a:lnTo>
                    <a:pt x="1655" y="5134"/>
                  </a:lnTo>
                  <a:lnTo>
                    <a:pt x="1412" y="5451"/>
                  </a:lnTo>
                  <a:lnTo>
                    <a:pt x="1217" y="5791"/>
                  </a:lnTo>
                  <a:lnTo>
                    <a:pt x="1071" y="6156"/>
                  </a:lnTo>
                  <a:lnTo>
                    <a:pt x="657" y="7105"/>
                  </a:lnTo>
                  <a:lnTo>
                    <a:pt x="463" y="7592"/>
                  </a:lnTo>
                  <a:lnTo>
                    <a:pt x="292" y="8078"/>
                  </a:lnTo>
                  <a:lnTo>
                    <a:pt x="171" y="8565"/>
                  </a:lnTo>
                  <a:lnTo>
                    <a:pt x="73" y="9052"/>
                  </a:lnTo>
                  <a:lnTo>
                    <a:pt x="25" y="9563"/>
                  </a:lnTo>
                  <a:lnTo>
                    <a:pt x="0" y="10074"/>
                  </a:lnTo>
                  <a:lnTo>
                    <a:pt x="25" y="10585"/>
                  </a:lnTo>
                  <a:lnTo>
                    <a:pt x="49" y="11096"/>
                  </a:lnTo>
                  <a:lnTo>
                    <a:pt x="122" y="11607"/>
                  </a:lnTo>
                  <a:lnTo>
                    <a:pt x="195" y="12093"/>
                  </a:lnTo>
                  <a:lnTo>
                    <a:pt x="268" y="12531"/>
                  </a:lnTo>
                  <a:lnTo>
                    <a:pt x="414" y="12945"/>
                  </a:lnTo>
                  <a:lnTo>
                    <a:pt x="584" y="13359"/>
                  </a:lnTo>
                  <a:lnTo>
                    <a:pt x="779" y="13723"/>
                  </a:lnTo>
                  <a:lnTo>
                    <a:pt x="1022" y="14088"/>
                  </a:lnTo>
                  <a:lnTo>
                    <a:pt x="1290" y="14453"/>
                  </a:lnTo>
                  <a:lnTo>
                    <a:pt x="1558" y="14794"/>
                  </a:lnTo>
                  <a:lnTo>
                    <a:pt x="1850" y="15135"/>
                  </a:lnTo>
                  <a:lnTo>
                    <a:pt x="1995" y="15281"/>
                  </a:lnTo>
                  <a:lnTo>
                    <a:pt x="1850" y="15378"/>
                  </a:lnTo>
                  <a:lnTo>
                    <a:pt x="1704" y="15500"/>
                  </a:lnTo>
                  <a:lnTo>
                    <a:pt x="1582" y="15621"/>
                  </a:lnTo>
                  <a:lnTo>
                    <a:pt x="1460" y="15767"/>
                  </a:lnTo>
                  <a:lnTo>
                    <a:pt x="1217" y="16084"/>
                  </a:lnTo>
                  <a:lnTo>
                    <a:pt x="1047" y="16351"/>
                  </a:lnTo>
                  <a:lnTo>
                    <a:pt x="925" y="16546"/>
                  </a:lnTo>
                  <a:lnTo>
                    <a:pt x="828" y="16741"/>
                  </a:lnTo>
                  <a:lnTo>
                    <a:pt x="730" y="16960"/>
                  </a:lnTo>
                  <a:lnTo>
                    <a:pt x="682" y="17179"/>
                  </a:lnTo>
                  <a:lnTo>
                    <a:pt x="633" y="17398"/>
                  </a:lnTo>
                  <a:lnTo>
                    <a:pt x="657" y="17617"/>
                  </a:lnTo>
                  <a:lnTo>
                    <a:pt x="706" y="17836"/>
                  </a:lnTo>
                  <a:lnTo>
                    <a:pt x="828" y="18055"/>
                  </a:lnTo>
                  <a:lnTo>
                    <a:pt x="901" y="18152"/>
                  </a:lnTo>
                  <a:lnTo>
                    <a:pt x="974" y="18225"/>
                  </a:lnTo>
                  <a:lnTo>
                    <a:pt x="1144" y="18322"/>
                  </a:lnTo>
                  <a:lnTo>
                    <a:pt x="1339" y="18395"/>
                  </a:lnTo>
                  <a:lnTo>
                    <a:pt x="1558" y="18420"/>
                  </a:lnTo>
                  <a:lnTo>
                    <a:pt x="1777" y="18420"/>
                  </a:lnTo>
                  <a:lnTo>
                    <a:pt x="1995" y="18371"/>
                  </a:lnTo>
                  <a:lnTo>
                    <a:pt x="2190" y="18322"/>
                  </a:lnTo>
                  <a:lnTo>
                    <a:pt x="2385" y="18249"/>
                  </a:lnTo>
                  <a:lnTo>
                    <a:pt x="2604" y="18128"/>
                  </a:lnTo>
                  <a:lnTo>
                    <a:pt x="2823" y="18006"/>
                  </a:lnTo>
                  <a:lnTo>
                    <a:pt x="3042" y="17836"/>
                  </a:lnTo>
                  <a:lnTo>
                    <a:pt x="3236" y="17665"/>
                  </a:lnTo>
                  <a:lnTo>
                    <a:pt x="3431" y="17471"/>
                  </a:lnTo>
                  <a:lnTo>
                    <a:pt x="3601" y="17276"/>
                  </a:lnTo>
                  <a:lnTo>
                    <a:pt x="3893" y="16838"/>
                  </a:lnTo>
                  <a:lnTo>
                    <a:pt x="4258" y="17081"/>
                  </a:lnTo>
                  <a:lnTo>
                    <a:pt x="4648" y="17276"/>
                  </a:lnTo>
                  <a:lnTo>
                    <a:pt x="4867" y="17398"/>
                  </a:lnTo>
                  <a:lnTo>
                    <a:pt x="5110" y="17495"/>
                  </a:lnTo>
                  <a:lnTo>
                    <a:pt x="5353" y="17568"/>
                  </a:lnTo>
                  <a:lnTo>
                    <a:pt x="5597" y="17641"/>
                  </a:lnTo>
                  <a:lnTo>
                    <a:pt x="6083" y="17738"/>
                  </a:lnTo>
                  <a:lnTo>
                    <a:pt x="6594" y="17811"/>
                  </a:lnTo>
                  <a:lnTo>
                    <a:pt x="7057" y="17884"/>
                  </a:lnTo>
                  <a:lnTo>
                    <a:pt x="7519" y="17909"/>
                  </a:lnTo>
                  <a:lnTo>
                    <a:pt x="8006" y="17909"/>
                  </a:lnTo>
                  <a:lnTo>
                    <a:pt x="8492" y="17860"/>
                  </a:lnTo>
                  <a:lnTo>
                    <a:pt x="8541" y="17884"/>
                  </a:lnTo>
                  <a:lnTo>
                    <a:pt x="8590" y="17860"/>
                  </a:lnTo>
                  <a:lnTo>
                    <a:pt x="8736" y="17811"/>
                  </a:lnTo>
                  <a:lnTo>
                    <a:pt x="8906" y="17787"/>
                  </a:lnTo>
                  <a:lnTo>
                    <a:pt x="9222" y="17738"/>
                  </a:lnTo>
                  <a:lnTo>
                    <a:pt x="9514" y="17690"/>
                  </a:lnTo>
                  <a:lnTo>
                    <a:pt x="9782" y="17592"/>
                  </a:lnTo>
                  <a:lnTo>
                    <a:pt x="10317" y="17398"/>
                  </a:lnTo>
                  <a:lnTo>
                    <a:pt x="11120" y="17130"/>
                  </a:lnTo>
                  <a:lnTo>
                    <a:pt x="11509" y="16984"/>
                  </a:lnTo>
                  <a:lnTo>
                    <a:pt x="11899" y="16789"/>
                  </a:lnTo>
                  <a:lnTo>
                    <a:pt x="11899" y="16814"/>
                  </a:lnTo>
                  <a:lnTo>
                    <a:pt x="11996" y="17033"/>
                  </a:lnTo>
                  <a:lnTo>
                    <a:pt x="12118" y="17227"/>
                  </a:lnTo>
                  <a:lnTo>
                    <a:pt x="12288" y="17446"/>
                  </a:lnTo>
                  <a:lnTo>
                    <a:pt x="12483" y="17641"/>
                  </a:lnTo>
                  <a:lnTo>
                    <a:pt x="12702" y="17811"/>
                  </a:lnTo>
                  <a:lnTo>
                    <a:pt x="12921" y="17957"/>
                  </a:lnTo>
                  <a:lnTo>
                    <a:pt x="13115" y="18079"/>
                  </a:lnTo>
                  <a:lnTo>
                    <a:pt x="13334" y="18176"/>
                  </a:lnTo>
                  <a:lnTo>
                    <a:pt x="13529" y="18249"/>
                  </a:lnTo>
                  <a:lnTo>
                    <a:pt x="13748" y="18298"/>
                  </a:lnTo>
                  <a:lnTo>
                    <a:pt x="13991" y="18347"/>
                  </a:lnTo>
                  <a:lnTo>
                    <a:pt x="14259" y="18347"/>
                  </a:lnTo>
                  <a:lnTo>
                    <a:pt x="14478" y="18322"/>
                  </a:lnTo>
                  <a:lnTo>
                    <a:pt x="14721" y="18249"/>
                  </a:lnTo>
                  <a:lnTo>
                    <a:pt x="14819" y="18176"/>
                  </a:lnTo>
                  <a:lnTo>
                    <a:pt x="14892" y="18103"/>
                  </a:lnTo>
                  <a:lnTo>
                    <a:pt x="14989" y="18030"/>
                  </a:lnTo>
                  <a:lnTo>
                    <a:pt x="15038" y="17933"/>
                  </a:lnTo>
                  <a:lnTo>
                    <a:pt x="15135" y="17763"/>
                  </a:lnTo>
                  <a:lnTo>
                    <a:pt x="15159" y="17568"/>
                  </a:lnTo>
                  <a:lnTo>
                    <a:pt x="15184" y="17373"/>
                  </a:lnTo>
                  <a:lnTo>
                    <a:pt x="15159" y="17203"/>
                  </a:lnTo>
                  <a:lnTo>
                    <a:pt x="15111" y="17008"/>
                  </a:lnTo>
                  <a:lnTo>
                    <a:pt x="15062" y="16838"/>
                  </a:lnTo>
                  <a:lnTo>
                    <a:pt x="14965" y="16643"/>
                  </a:lnTo>
                  <a:lnTo>
                    <a:pt x="14867" y="16473"/>
                  </a:lnTo>
                  <a:lnTo>
                    <a:pt x="14600" y="16132"/>
                  </a:lnTo>
                  <a:lnTo>
                    <a:pt x="14308" y="15792"/>
                  </a:lnTo>
                  <a:lnTo>
                    <a:pt x="13991" y="15524"/>
                  </a:lnTo>
                  <a:lnTo>
                    <a:pt x="13675" y="15281"/>
                  </a:lnTo>
                  <a:lnTo>
                    <a:pt x="13967" y="14916"/>
                  </a:lnTo>
                  <a:lnTo>
                    <a:pt x="14235" y="14551"/>
                  </a:lnTo>
                  <a:lnTo>
                    <a:pt x="14478" y="14137"/>
                  </a:lnTo>
                  <a:lnTo>
                    <a:pt x="14673" y="13748"/>
                  </a:lnTo>
                  <a:lnTo>
                    <a:pt x="14916" y="13237"/>
                  </a:lnTo>
                  <a:lnTo>
                    <a:pt x="15111" y="12677"/>
                  </a:lnTo>
                  <a:lnTo>
                    <a:pt x="15257" y="12118"/>
                  </a:lnTo>
                  <a:lnTo>
                    <a:pt x="15378" y="11534"/>
                  </a:lnTo>
                  <a:lnTo>
                    <a:pt x="15476" y="10950"/>
                  </a:lnTo>
                  <a:lnTo>
                    <a:pt x="15524" y="10366"/>
                  </a:lnTo>
                  <a:lnTo>
                    <a:pt x="15549" y="9782"/>
                  </a:lnTo>
                  <a:lnTo>
                    <a:pt x="15549" y="9222"/>
                  </a:lnTo>
                  <a:lnTo>
                    <a:pt x="15524" y="8979"/>
                  </a:lnTo>
                  <a:lnTo>
                    <a:pt x="15476" y="8735"/>
                  </a:lnTo>
                  <a:lnTo>
                    <a:pt x="15354" y="8249"/>
                  </a:lnTo>
                  <a:lnTo>
                    <a:pt x="15208" y="7786"/>
                  </a:lnTo>
                  <a:lnTo>
                    <a:pt x="15038" y="7348"/>
                  </a:lnTo>
                  <a:lnTo>
                    <a:pt x="14867" y="6910"/>
                  </a:lnTo>
                  <a:lnTo>
                    <a:pt x="14794" y="6691"/>
                  </a:lnTo>
                  <a:lnTo>
                    <a:pt x="14697" y="6472"/>
                  </a:lnTo>
                  <a:lnTo>
                    <a:pt x="14575" y="6278"/>
                  </a:lnTo>
                  <a:lnTo>
                    <a:pt x="14429" y="6107"/>
                  </a:lnTo>
                  <a:lnTo>
                    <a:pt x="14381" y="6107"/>
                  </a:lnTo>
                  <a:lnTo>
                    <a:pt x="13991" y="6034"/>
                  </a:lnTo>
                  <a:lnTo>
                    <a:pt x="13578" y="5961"/>
                  </a:lnTo>
                  <a:lnTo>
                    <a:pt x="13042" y="6521"/>
                  </a:lnTo>
                  <a:lnTo>
                    <a:pt x="12458" y="7105"/>
                  </a:lnTo>
                  <a:lnTo>
                    <a:pt x="12580" y="7202"/>
                  </a:lnTo>
                  <a:lnTo>
                    <a:pt x="12702" y="7324"/>
                  </a:lnTo>
                  <a:lnTo>
                    <a:pt x="12799" y="7470"/>
                  </a:lnTo>
                  <a:lnTo>
                    <a:pt x="12872" y="7616"/>
                  </a:lnTo>
                  <a:lnTo>
                    <a:pt x="13018" y="7957"/>
                  </a:lnTo>
                  <a:lnTo>
                    <a:pt x="13140" y="8249"/>
                  </a:lnTo>
                  <a:lnTo>
                    <a:pt x="13213" y="8468"/>
                  </a:lnTo>
                  <a:lnTo>
                    <a:pt x="13286" y="8687"/>
                  </a:lnTo>
                  <a:lnTo>
                    <a:pt x="13383" y="9173"/>
                  </a:lnTo>
                  <a:lnTo>
                    <a:pt x="13407" y="9684"/>
                  </a:lnTo>
                  <a:lnTo>
                    <a:pt x="13407" y="10147"/>
                  </a:lnTo>
                  <a:lnTo>
                    <a:pt x="13383" y="10585"/>
                  </a:lnTo>
                  <a:lnTo>
                    <a:pt x="13310" y="11023"/>
                  </a:lnTo>
                  <a:lnTo>
                    <a:pt x="13188" y="11436"/>
                  </a:lnTo>
                  <a:lnTo>
                    <a:pt x="13042" y="11850"/>
                  </a:lnTo>
                  <a:lnTo>
                    <a:pt x="12872" y="12264"/>
                  </a:lnTo>
                  <a:lnTo>
                    <a:pt x="12677" y="12653"/>
                  </a:lnTo>
                  <a:lnTo>
                    <a:pt x="12458" y="13018"/>
                  </a:lnTo>
                  <a:lnTo>
                    <a:pt x="12239" y="13383"/>
                  </a:lnTo>
                  <a:lnTo>
                    <a:pt x="11923" y="13748"/>
                  </a:lnTo>
                  <a:lnTo>
                    <a:pt x="11582" y="14088"/>
                  </a:lnTo>
                  <a:lnTo>
                    <a:pt x="11217" y="14380"/>
                  </a:lnTo>
                  <a:lnTo>
                    <a:pt x="10828" y="14648"/>
                  </a:lnTo>
                  <a:lnTo>
                    <a:pt x="10414" y="14867"/>
                  </a:lnTo>
                  <a:lnTo>
                    <a:pt x="9976" y="15062"/>
                  </a:lnTo>
                  <a:lnTo>
                    <a:pt x="9539" y="15256"/>
                  </a:lnTo>
                  <a:lnTo>
                    <a:pt x="9101" y="15427"/>
                  </a:lnTo>
                  <a:lnTo>
                    <a:pt x="8809" y="15524"/>
                  </a:lnTo>
                  <a:lnTo>
                    <a:pt x="8517" y="15597"/>
                  </a:lnTo>
                  <a:lnTo>
                    <a:pt x="8225" y="15646"/>
                  </a:lnTo>
                  <a:lnTo>
                    <a:pt x="7957" y="15670"/>
                  </a:lnTo>
                  <a:lnTo>
                    <a:pt x="7397" y="15670"/>
                  </a:lnTo>
                  <a:lnTo>
                    <a:pt x="7130" y="15646"/>
                  </a:lnTo>
                  <a:lnTo>
                    <a:pt x="6862" y="15597"/>
                  </a:lnTo>
                  <a:lnTo>
                    <a:pt x="6594" y="15548"/>
                  </a:lnTo>
                  <a:lnTo>
                    <a:pt x="6327" y="15475"/>
                  </a:lnTo>
                  <a:lnTo>
                    <a:pt x="5816" y="15281"/>
                  </a:lnTo>
                  <a:lnTo>
                    <a:pt x="5280" y="15062"/>
                  </a:lnTo>
                  <a:lnTo>
                    <a:pt x="4769" y="14770"/>
                  </a:lnTo>
                  <a:lnTo>
                    <a:pt x="4015" y="14307"/>
                  </a:lnTo>
                  <a:lnTo>
                    <a:pt x="3918" y="14259"/>
                  </a:lnTo>
                  <a:lnTo>
                    <a:pt x="3820" y="14161"/>
                  </a:lnTo>
                  <a:lnTo>
                    <a:pt x="3674" y="13991"/>
                  </a:lnTo>
                  <a:lnTo>
                    <a:pt x="3382" y="13602"/>
                  </a:lnTo>
                  <a:lnTo>
                    <a:pt x="3066" y="13164"/>
                  </a:lnTo>
                  <a:lnTo>
                    <a:pt x="2774" y="12726"/>
                  </a:lnTo>
                  <a:lnTo>
                    <a:pt x="2652" y="12483"/>
                  </a:lnTo>
                  <a:lnTo>
                    <a:pt x="2555" y="12239"/>
                  </a:lnTo>
                  <a:lnTo>
                    <a:pt x="2458" y="11972"/>
                  </a:lnTo>
                  <a:lnTo>
                    <a:pt x="2360" y="11728"/>
                  </a:lnTo>
                  <a:lnTo>
                    <a:pt x="2263" y="11242"/>
                  </a:lnTo>
                  <a:lnTo>
                    <a:pt x="2214" y="10731"/>
                  </a:lnTo>
                  <a:lnTo>
                    <a:pt x="2214" y="10220"/>
                  </a:lnTo>
                  <a:lnTo>
                    <a:pt x="2239" y="9684"/>
                  </a:lnTo>
                  <a:lnTo>
                    <a:pt x="2336" y="9149"/>
                  </a:lnTo>
                  <a:lnTo>
                    <a:pt x="2433" y="8662"/>
                  </a:lnTo>
                  <a:lnTo>
                    <a:pt x="2604" y="8151"/>
                  </a:lnTo>
                  <a:lnTo>
                    <a:pt x="2774" y="7713"/>
                  </a:lnTo>
                  <a:lnTo>
                    <a:pt x="2969" y="7324"/>
                  </a:lnTo>
                  <a:lnTo>
                    <a:pt x="3188" y="6959"/>
                  </a:lnTo>
                  <a:lnTo>
                    <a:pt x="3431" y="6618"/>
                  </a:lnTo>
                  <a:lnTo>
                    <a:pt x="3699" y="6302"/>
                  </a:lnTo>
                  <a:lnTo>
                    <a:pt x="4015" y="6010"/>
                  </a:lnTo>
                  <a:lnTo>
                    <a:pt x="4331" y="5742"/>
                  </a:lnTo>
                  <a:lnTo>
                    <a:pt x="4648" y="5499"/>
                  </a:lnTo>
                  <a:lnTo>
                    <a:pt x="5013" y="5280"/>
                  </a:lnTo>
                  <a:lnTo>
                    <a:pt x="5378" y="5086"/>
                  </a:lnTo>
                  <a:lnTo>
                    <a:pt x="5767" y="4915"/>
                  </a:lnTo>
                  <a:lnTo>
                    <a:pt x="6156" y="4794"/>
                  </a:lnTo>
                  <a:lnTo>
                    <a:pt x="6570" y="4672"/>
                  </a:lnTo>
                  <a:lnTo>
                    <a:pt x="6984" y="4599"/>
                  </a:lnTo>
                  <a:lnTo>
                    <a:pt x="7397" y="4550"/>
                  </a:lnTo>
                  <a:lnTo>
                    <a:pt x="7811" y="4526"/>
                  </a:lnTo>
                  <a:lnTo>
                    <a:pt x="8225" y="4526"/>
                  </a:lnTo>
                  <a:lnTo>
                    <a:pt x="8614" y="4575"/>
                  </a:lnTo>
                  <a:lnTo>
                    <a:pt x="8979" y="4623"/>
                  </a:lnTo>
                  <a:lnTo>
                    <a:pt x="9344" y="4696"/>
                  </a:lnTo>
                  <a:lnTo>
                    <a:pt x="9685" y="4794"/>
                  </a:lnTo>
                  <a:lnTo>
                    <a:pt x="10049" y="4940"/>
                  </a:lnTo>
                  <a:lnTo>
                    <a:pt x="10390" y="5086"/>
                  </a:lnTo>
                  <a:lnTo>
                    <a:pt x="10706" y="5280"/>
                  </a:lnTo>
                  <a:lnTo>
                    <a:pt x="10998" y="5499"/>
                  </a:lnTo>
                  <a:lnTo>
                    <a:pt x="11363" y="5134"/>
                  </a:lnTo>
                  <a:lnTo>
                    <a:pt x="11704" y="4745"/>
                  </a:lnTo>
                  <a:lnTo>
                    <a:pt x="11874" y="4575"/>
                  </a:lnTo>
                  <a:lnTo>
                    <a:pt x="11801" y="4258"/>
                  </a:lnTo>
                  <a:lnTo>
                    <a:pt x="11777" y="3942"/>
                  </a:lnTo>
                  <a:lnTo>
                    <a:pt x="11728" y="3650"/>
                  </a:lnTo>
                  <a:lnTo>
                    <a:pt x="11680" y="3382"/>
                  </a:lnTo>
                  <a:lnTo>
                    <a:pt x="11169" y="3042"/>
                  </a:lnTo>
                  <a:lnTo>
                    <a:pt x="10925" y="2871"/>
                  </a:lnTo>
                  <a:lnTo>
                    <a:pt x="10633" y="2750"/>
                  </a:lnTo>
                  <a:lnTo>
                    <a:pt x="10147" y="2579"/>
                  </a:lnTo>
                  <a:lnTo>
                    <a:pt x="9685" y="2458"/>
                  </a:lnTo>
                  <a:lnTo>
                    <a:pt x="9174" y="2385"/>
                  </a:lnTo>
                  <a:lnTo>
                    <a:pt x="8687" y="23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" name="Title 7">
            <a:extLst>
              <a:ext uri="{FF2B5EF4-FFF2-40B4-BE49-F238E27FC236}">
                <a16:creationId xmlns:a16="http://schemas.microsoft.com/office/drawing/2014/main" id="{B1358E4A-5487-4686-B622-44933BC8C642}"/>
              </a:ext>
            </a:extLst>
          </p:cNvPr>
          <p:cNvSpPr txBox="1">
            <a:spLocks/>
          </p:cNvSpPr>
          <p:nvPr/>
        </p:nvSpPr>
        <p:spPr>
          <a:xfrm>
            <a:off x="717632" y="1133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670"/>
              </a:buClr>
              <a:buSzPct val="100000"/>
              <a:buFont typeface="Shadows Into Light"/>
              <a:buNone/>
              <a:defRPr sz="3000" b="0" i="0" u="none" strike="noStrike" cap="none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algn="l"/>
            <a:r>
              <a:rPr lang="bg-BG" sz="3200" b="1" dirty="0"/>
              <a:t>Задача </a:t>
            </a:r>
            <a:r>
              <a:rPr lang="en-US" sz="3200" b="1" dirty="0"/>
              <a:t>7</a:t>
            </a:r>
            <a:r>
              <a:rPr lang="bg-BG" sz="3200" b="1" dirty="0"/>
              <a:t> </a:t>
            </a:r>
            <a:r>
              <a:rPr lang="en-US" sz="3200" b="1" dirty="0"/>
              <a:t>-</a:t>
            </a:r>
            <a:r>
              <a:rPr lang="bg-BG" sz="3200" b="1" dirty="0"/>
              <a:t> математически модел </a:t>
            </a:r>
            <a:endParaRPr lang="en-US" sz="3200" b="1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83792BE-367E-493F-8E20-4FF99D137C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/>
              <p:nvPr/>
            </p:nvSpPr>
            <p:spPr>
              <a:xfrm>
                <a:off x="1118647" y="1890553"/>
                <a:ext cx="5797992" cy="368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𝑿</m:t>
                      </m:r>
                      <m:r>
                        <a:rPr lang="en-US" sz="2800" b="1" i="1" smtClean="0">
                          <a:solidFill>
                            <a:srgbClr val="505670"/>
                          </a:solidFill>
                          <a:latin typeface="Cambria Math" panose="02040503050406030204" pitchFamily="18" charset="0"/>
                          <a:ea typeface="Varela Round"/>
                          <a:cs typeface="Varela Round"/>
                          <a:sym typeface="Varela Round"/>
                        </a:rPr>
                        <m:t>: 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2800" b="1" i="1">
                              <a:solidFill>
                                <a:srgbClr val="505670"/>
                              </a:solidFill>
                              <a:latin typeface="Cambria Math" panose="02040503050406030204" pitchFamily="18" charset="0"/>
                              <a:ea typeface="Varela Round"/>
                              <a:cs typeface="Varela Round"/>
                              <a:sym typeface="Varela Round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</m:ctrlPr>
                            </m:eqArrPr>
                            <m:e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𝟒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,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𝟓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𝟓</m:t>
                                  </m:r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𝟏𝟖𝟎𝟎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𝟔𝟎𝟎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𝟒</m:t>
                                  </m:r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𝟏𝟐𝟎𝟎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≥</m:t>
                              </m:r>
                              <m:f>
                                <m:fPr>
                                  <m:ctrlP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arela Round"/>
                                      <a:sym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800" b="1" i="1" smtClean="0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bg-BG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arela Round"/>
                                      <a:sym typeface="Varela Round"/>
                                    </a:rPr>
                                  </m:ctrlPr>
                                </m:fPr>
                                <m:num>
                                  <m:r>
                                    <a:rPr lang="bg-BG" sz="2800" b="1" i="1" smtClean="0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bg-BG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arela Round"/>
                                      <a:sym typeface="Varela Round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  <a:sym typeface="Varela Roun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bg-BG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  <a:sym typeface="Varela Round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arela Round"/>
                                  <a:sym typeface="Varela Round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solidFill>
                                        <a:srgbClr val="505670"/>
                                      </a:solidFill>
                                      <a:latin typeface="Cambria Math" panose="02040503050406030204" pitchFamily="18" charset="0"/>
                                      <a:ea typeface="Varela Round"/>
                                      <a:cs typeface="Varela Round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≥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𝟎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 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𝒋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=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𝟏</m:t>
                              </m:r>
                              <m:r>
                                <a:rPr lang="en-US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,</m:t>
                              </m:r>
                              <m:r>
                                <a:rPr lang="bg-BG" sz="2800" b="1" i="1">
                                  <a:solidFill>
                                    <a:srgbClr val="505670"/>
                                  </a:solidFill>
                                  <a:latin typeface="Cambria Math" panose="02040503050406030204" pitchFamily="18" charset="0"/>
                                  <a:ea typeface="Varela Round"/>
                                  <a:cs typeface="Varela Round"/>
                                </a:rPr>
                                <m:t>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sz="2800" b="1" i="1" dirty="0">
                  <a:solidFill>
                    <a:srgbClr val="505670"/>
                  </a:solidFill>
                  <a:latin typeface="Cambria Math" panose="02040503050406030204" pitchFamily="18" charset="0"/>
                  <a:ea typeface="Varela Round"/>
                  <a:cs typeface="Varela Round"/>
                  <a:sym typeface="Varela Round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D79093-F06F-4520-B2F9-9820B05A8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647" y="1890553"/>
                <a:ext cx="5797992" cy="368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86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ctrTitle" idx="4294967295"/>
          </p:nvPr>
        </p:nvSpPr>
        <p:spPr>
          <a:xfrm>
            <a:off x="1669950" y="1332700"/>
            <a:ext cx="5804100" cy="734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4800" dirty="0">
                <a:solidFill>
                  <a:srgbClr val="EA3A68"/>
                </a:solidFill>
              </a:rPr>
              <a:t>Thanks!</a:t>
            </a:r>
          </a:p>
        </p:txBody>
      </p:sp>
      <p:sp>
        <p:nvSpPr>
          <p:cNvPr id="320" name="Shape 320"/>
          <p:cNvSpPr txBox="1">
            <a:spLocks noGrp="1"/>
          </p:cNvSpPr>
          <p:nvPr>
            <p:ph type="subTitle" idx="4294967295"/>
          </p:nvPr>
        </p:nvSpPr>
        <p:spPr>
          <a:xfrm>
            <a:off x="1177800" y="2948587"/>
            <a:ext cx="6788399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 b="1" dirty="0"/>
              <a:t>Any questions?</a:t>
            </a:r>
          </a:p>
        </p:txBody>
      </p:sp>
      <p:sp>
        <p:nvSpPr>
          <p:cNvPr id="321" name="Shape 321"/>
          <p:cNvSpPr txBox="1">
            <a:spLocks noGrp="1"/>
          </p:cNvSpPr>
          <p:nvPr>
            <p:ph type="body" idx="4294967295"/>
          </p:nvPr>
        </p:nvSpPr>
        <p:spPr>
          <a:xfrm>
            <a:off x="1177800" y="4741850"/>
            <a:ext cx="6788399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>
                <a:solidFill>
                  <a:srgbClr val="979CB8"/>
                </a:solidFill>
              </a:rPr>
              <a:t>You can find me at: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979CB8"/>
                </a:solidFill>
              </a:rPr>
              <a:t>g.hristova@feb.uni-sofia.bg</a:t>
            </a:r>
            <a:endParaRPr lang="en" dirty="0">
              <a:solidFill>
                <a:srgbClr val="979CB8"/>
              </a:solidFill>
            </a:endParaRPr>
          </a:p>
        </p:txBody>
      </p:sp>
      <p:sp>
        <p:nvSpPr>
          <p:cNvPr id="322" name="Shape 322"/>
          <p:cNvSpPr/>
          <p:nvPr/>
        </p:nvSpPr>
        <p:spPr>
          <a:xfrm>
            <a:off x="2076850" y="2456225"/>
            <a:ext cx="4748538" cy="1896499"/>
          </a:xfrm>
          <a:custGeom>
            <a:avLst/>
            <a:gdLst/>
            <a:ahLst/>
            <a:cxnLst/>
            <a:rect l="0" t="0" r="0" b="0"/>
            <a:pathLst>
              <a:path w="163180" h="66288" extrusionOk="0">
                <a:moveTo>
                  <a:pt x="90243" y="4462"/>
                </a:moveTo>
                <a:cubicBezTo>
                  <a:pt x="83153" y="411"/>
                  <a:pt x="74073" y="1064"/>
                  <a:pt x="65923" y="1544"/>
                </a:cubicBezTo>
                <a:cubicBezTo>
                  <a:pt x="51317" y="2403"/>
                  <a:pt x="36068" y="4456"/>
                  <a:pt x="23122" y="11271"/>
                </a:cubicBezTo>
                <a:cubicBezTo>
                  <a:pt x="13017" y="16589"/>
                  <a:pt x="6735" y="34519"/>
                  <a:pt x="13070" y="44021"/>
                </a:cubicBezTo>
                <a:cubicBezTo>
                  <a:pt x="21835" y="57167"/>
                  <a:pt x="41794" y="58763"/>
                  <a:pt x="57493" y="60558"/>
                </a:cubicBezTo>
                <a:cubicBezTo>
                  <a:pt x="73278" y="62362"/>
                  <a:pt x="89298" y="61843"/>
                  <a:pt x="105158" y="60882"/>
                </a:cubicBezTo>
                <a:cubicBezTo>
                  <a:pt x="125659" y="59638"/>
                  <a:pt x="157481" y="50275"/>
                  <a:pt x="158336" y="29754"/>
                </a:cubicBezTo>
                <a:cubicBezTo>
                  <a:pt x="158619" y="22933"/>
                  <a:pt x="156399" y="13869"/>
                  <a:pt x="150230" y="10947"/>
                </a:cubicBezTo>
                <a:cubicBezTo>
                  <a:pt x="140016" y="6108"/>
                  <a:pt x="128254" y="5622"/>
                  <a:pt x="117156" y="3489"/>
                </a:cubicBezTo>
                <a:cubicBezTo>
                  <a:pt x="107058" y="1547"/>
                  <a:pt x="96605" y="2637"/>
                  <a:pt x="86352" y="1868"/>
                </a:cubicBezTo>
                <a:cubicBezTo>
                  <a:pt x="69537" y="606"/>
                  <a:pt x="52188" y="-1639"/>
                  <a:pt x="35768" y="2192"/>
                </a:cubicBezTo>
                <a:cubicBezTo>
                  <a:pt x="28377" y="3916"/>
                  <a:pt x="20506" y="5025"/>
                  <a:pt x="14043" y="9002"/>
                </a:cubicBezTo>
                <a:cubicBezTo>
                  <a:pt x="5849" y="14043"/>
                  <a:pt x="-2454" y="25546"/>
                  <a:pt x="748" y="34618"/>
                </a:cubicBezTo>
                <a:cubicBezTo>
                  <a:pt x="8217" y="55774"/>
                  <a:pt x="39445" y="60369"/>
                  <a:pt x="61708" y="63152"/>
                </a:cubicBezTo>
                <a:cubicBezTo>
                  <a:pt x="92043" y="66943"/>
                  <a:pt x="130197" y="71091"/>
                  <a:pt x="152500" y="50182"/>
                </a:cubicBezTo>
                <a:cubicBezTo>
                  <a:pt x="161822" y="41441"/>
                  <a:pt x="168060" y="20138"/>
                  <a:pt x="158012" y="12244"/>
                </a:cubicBezTo>
                <a:cubicBezTo>
                  <a:pt x="155373" y="10170"/>
                  <a:pt x="151539" y="10463"/>
                  <a:pt x="148284" y="9650"/>
                </a:cubicBezTo>
                <a:cubicBezTo>
                  <a:pt x="134410" y="6181"/>
                  <a:pt x="119783" y="6732"/>
                  <a:pt x="105483" y="6732"/>
                </a:cubicBezTo>
              </a:path>
            </a:pathLst>
          </a:custGeom>
          <a:noFill/>
          <a:ln w="9525" cap="flat" cmpd="sng">
            <a:solidFill>
              <a:srgbClr val="979CB8"/>
            </a:solidFill>
            <a:prstDash val="solid"/>
            <a:round/>
            <a:headEnd type="none" w="lg" len="lg"/>
            <a:tailEnd type="none" w="lg" len="lg"/>
          </a:ln>
        </p:spPr>
      </p:sp>
      <p:cxnSp>
        <p:nvCxnSpPr>
          <p:cNvPr id="323" name="Shape 323"/>
          <p:cNvCxnSpPr/>
          <p:nvPr/>
        </p:nvCxnSpPr>
        <p:spPr>
          <a:xfrm flipH="1">
            <a:off x="6023074" y="2253575"/>
            <a:ext cx="810600" cy="705300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4" name="Shape 324"/>
          <p:cNvCxnSpPr/>
          <p:nvPr/>
        </p:nvCxnSpPr>
        <p:spPr>
          <a:xfrm>
            <a:off x="3380350" y="2302225"/>
            <a:ext cx="218999" cy="559199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5" name="Shape 325"/>
          <p:cNvCxnSpPr/>
          <p:nvPr/>
        </p:nvCxnSpPr>
        <p:spPr>
          <a:xfrm rot="10800000" flipH="1">
            <a:off x="2350850" y="3858550"/>
            <a:ext cx="826799" cy="648599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6" name="Shape 326"/>
          <p:cNvCxnSpPr/>
          <p:nvPr/>
        </p:nvCxnSpPr>
        <p:spPr>
          <a:xfrm rot="10800000">
            <a:off x="5406799" y="3850499"/>
            <a:ext cx="178500" cy="713400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327" name="Shape 327"/>
          <p:cNvCxnSpPr/>
          <p:nvPr/>
        </p:nvCxnSpPr>
        <p:spPr>
          <a:xfrm rot="10800000">
            <a:off x="5707049" y="3793624"/>
            <a:ext cx="186300" cy="170400"/>
          </a:xfrm>
          <a:prstGeom prst="straightConnector1">
            <a:avLst/>
          </a:prstGeom>
          <a:noFill/>
          <a:ln w="9525" cap="flat" cmpd="sng">
            <a:solidFill>
              <a:srgbClr val="979CB8"/>
            </a:solidFill>
            <a:prstDash val="dash"/>
            <a:round/>
            <a:headEnd type="none" w="lg" len="lg"/>
            <a:tailEnd type="triangle" w="lg" len="lg"/>
          </a:ln>
        </p:spPr>
      </p:cxn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F2B7C200-92C4-442B-973C-CF3AFECE58A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incul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5722</TotalTime>
  <Words>1883</Words>
  <Application>Microsoft Office PowerPoint</Application>
  <PresentationFormat>On-screen Show (4:3)</PresentationFormat>
  <Paragraphs>350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Varela Round</vt:lpstr>
      <vt:lpstr>Shadows Into Light</vt:lpstr>
      <vt:lpstr>Cambria Math</vt:lpstr>
      <vt:lpstr>Arial</vt:lpstr>
      <vt:lpstr>Times New Roman</vt:lpstr>
      <vt:lpstr>Trinculo template</vt:lpstr>
      <vt:lpstr>Тема 1: Съставяне на математически модели</vt:lpstr>
      <vt:lpstr>Съставяне на математическия модел - процес</vt:lpstr>
      <vt:lpstr>Задача 1</vt:lpstr>
      <vt:lpstr>Задача 1 - решение</vt:lpstr>
      <vt:lpstr>PowerPoint Presentation</vt:lpstr>
      <vt:lpstr>Задача 2</vt:lpstr>
      <vt:lpstr>Задача 2 - решение</vt:lpstr>
      <vt:lpstr>PowerPoint Presentation</vt:lpstr>
      <vt:lpstr>Задача 3</vt:lpstr>
      <vt:lpstr>Задача 3 - решение</vt:lpstr>
      <vt:lpstr>Задача 3 - решение</vt:lpstr>
      <vt:lpstr>PowerPoint Presentation</vt:lpstr>
      <vt:lpstr>Задача 4</vt:lpstr>
      <vt:lpstr>Задача 4 - решение</vt:lpstr>
      <vt:lpstr>PowerPoint Presentation</vt:lpstr>
      <vt:lpstr>Задача 5</vt:lpstr>
      <vt:lpstr>Задача 5 - решение</vt:lpstr>
      <vt:lpstr>PowerPoint Presentation</vt:lpstr>
      <vt:lpstr>Задача 6</vt:lpstr>
      <vt:lpstr>Задача 6 - решение</vt:lpstr>
      <vt:lpstr>PowerPoint Presentation</vt:lpstr>
      <vt:lpstr>Задача 7</vt:lpstr>
      <vt:lpstr>Задача 7 - решение</vt:lpstr>
      <vt:lpstr>Задача 7 - решение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Съставяне на математически модели</dc:title>
  <cp:lastModifiedBy>Gloria Hristova</cp:lastModifiedBy>
  <cp:revision>193</cp:revision>
  <dcterms:modified xsi:type="dcterms:W3CDTF">2023-03-10T07:49:40Z</dcterms:modified>
</cp:coreProperties>
</file>
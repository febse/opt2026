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3"/>
  </p:notesMasterIdLst>
  <p:sldIdLst>
    <p:sldId id="297" r:id="rId2"/>
  </p:sldIdLst>
  <p:sldSz cx="9144000" cy="6858000" type="screen4x3"/>
  <p:notesSz cx="6858000" cy="9144000"/>
  <p:embeddedFontLst>
    <p:embeddedFont>
      <p:font typeface="Shadows Into Light" panose="020B0604020202020204" charset="0"/>
      <p:regular r:id="rId4"/>
    </p:embeddedFont>
    <p:embeddedFont>
      <p:font typeface="Varela Round" panose="020B0604020202020204" charset="-79"/>
      <p:regular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05D1AB-BAE4-4E3A-A547-ADA6829F2946}">
  <a:tblStyle styleId="{DE05D1AB-BAE4-4E3A-A547-ADA6829F2946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47" autoAdjust="0"/>
    <p:restoredTop sz="89698" autoAdjust="0"/>
  </p:normalViewPr>
  <p:slideViewPr>
    <p:cSldViewPr snapToGrid="0">
      <p:cViewPr varScale="1">
        <p:scale>
          <a:sx n="77" d="100"/>
          <a:sy n="77" d="100"/>
        </p:scale>
        <p:origin x="1219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gree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1630650" y="2655750"/>
            <a:ext cx="5882699" cy="15465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magenta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ctrTitle"/>
          </p:nvPr>
        </p:nvSpPr>
        <p:spPr>
          <a:xfrm>
            <a:off x="1630650" y="2655750"/>
            <a:ext cx="5882699" cy="15465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>
            <a:spLocks noGrp="1"/>
          </p:cNvSpPr>
          <p:nvPr>
            <p:ph type="ctrTitle"/>
          </p:nvPr>
        </p:nvSpPr>
        <p:spPr>
          <a:xfrm>
            <a:off x="1630650" y="2655750"/>
            <a:ext cx="5882699" cy="15465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206F-8797-4F90-8BB4-9DEC549C5BF7}" type="datetime1">
              <a:rPr lang="en-US" smtClean="0"/>
              <a:t>3/21/2023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BF74-65C3-454B-9F89-FB41B1F2A4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42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E90C6-07B3-48BA-8D30-5496F346EBD6}" type="datetime1">
              <a:rPr lang="en-US" smtClean="0"/>
              <a:t>3/21/2023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BBF74-65C3-454B-9F89-FB41B1F2A4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14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824550" y="689775"/>
            <a:ext cx="7547699" cy="910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lvl="1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2pPr>
            <a:lvl3pPr lvl="2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3pPr>
            <a:lvl4pPr lvl="3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4pPr>
            <a:lvl5pPr lvl="4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5pPr>
            <a:lvl6pPr lvl="5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6pPr>
            <a:lvl7pPr lvl="6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7pPr>
            <a:lvl8pPr lvl="7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8pPr>
            <a:lvl9pPr lvl="8" algn="ctr">
              <a:spcBef>
                <a:spcPts val="0"/>
              </a:spcBef>
              <a:buClr>
                <a:srgbClr val="505670"/>
              </a:buClr>
              <a:buSzPct val="100000"/>
              <a:buFont typeface="Shadows Into Light"/>
              <a:buNone/>
              <a:defRPr sz="3000">
                <a:solidFill>
                  <a:srgbClr val="505670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070325" y="1918650"/>
            <a:ext cx="7056299" cy="4082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505670"/>
              </a:buClr>
              <a:buSzPct val="100000"/>
              <a:buFont typeface="Varela Round"/>
              <a:buChar char="▧"/>
              <a:defRPr sz="24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480"/>
              </a:spcBef>
              <a:buClr>
                <a:srgbClr val="505670"/>
              </a:buClr>
              <a:buSzPct val="100000"/>
              <a:buFont typeface="Varela Round"/>
              <a:defRPr sz="20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lvl="2">
              <a:spcBef>
                <a:spcPts val="480"/>
              </a:spcBef>
              <a:buClr>
                <a:srgbClr val="505670"/>
              </a:buClr>
              <a:buSzPct val="100000"/>
              <a:buFont typeface="Varela Round"/>
              <a:defRPr sz="20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lvl="3">
              <a:spcBef>
                <a:spcPts val="360"/>
              </a:spcBef>
              <a:buClr>
                <a:srgbClr val="505670"/>
              </a:buClr>
              <a:buSzPct val="100000"/>
              <a:buFont typeface="Varela Round"/>
              <a:defRPr sz="16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lvl="4">
              <a:spcBef>
                <a:spcPts val="360"/>
              </a:spcBef>
              <a:buClr>
                <a:srgbClr val="505670"/>
              </a:buClr>
              <a:buSzPct val="100000"/>
              <a:buFont typeface="Varela Round"/>
              <a:defRPr sz="16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lvl="5">
              <a:spcBef>
                <a:spcPts val="360"/>
              </a:spcBef>
              <a:buClr>
                <a:srgbClr val="505670"/>
              </a:buClr>
              <a:buSzPct val="100000"/>
              <a:buFont typeface="Varela Round"/>
              <a:defRPr sz="16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lvl="6">
              <a:spcBef>
                <a:spcPts val="360"/>
              </a:spcBef>
              <a:buClr>
                <a:srgbClr val="505670"/>
              </a:buClr>
              <a:buSzPct val="100000"/>
              <a:buFont typeface="Varela Round"/>
              <a:defRPr sz="16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lvl="7">
              <a:spcBef>
                <a:spcPts val="360"/>
              </a:spcBef>
              <a:buClr>
                <a:srgbClr val="505670"/>
              </a:buClr>
              <a:buSzPct val="100000"/>
              <a:buFont typeface="Varela Round"/>
              <a:defRPr sz="16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lvl="8">
              <a:spcBef>
                <a:spcPts val="360"/>
              </a:spcBef>
              <a:buClr>
                <a:srgbClr val="505670"/>
              </a:buClr>
              <a:buSzPct val="100000"/>
              <a:buFont typeface="Varela Round"/>
              <a:defRPr sz="1600">
                <a:solidFill>
                  <a:srgbClr val="505670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82" r:id="rId4"/>
    <p:sldLayoutId id="214748368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000" y="868523"/>
            <a:ext cx="7666652" cy="5211763"/>
          </a:xfrm>
        </p:spPr>
        <p:txBody>
          <a:bodyPr>
            <a:noAutofit/>
          </a:bodyPr>
          <a:lstStyle/>
          <a:p>
            <a:r>
              <a:rPr lang="bg-BG" sz="1500" dirty="0"/>
              <a:t>Управител на ресторант установява, че през изминалия сезон е реализирана печалба, значително по-малка от очакваната. Една от основните причини е неефективно управление на наетия персонал. При планиране на дейността за следващия период управителят се обръща към фирмата за консултантски услуги, в която работите. Той ви предоставя следната информация: ресторантът наема сервитьори с различно ниво на опит, като заплащането на сервитьори с опит над 1 година е 10</a:t>
            </a:r>
            <a:r>
              <a:rPr lang="en-US" sz="1500" dirty="0"/>
              <a:t>$</a:t>
            </a:r>
            <a:r>
              <a:rPr lang="bg-BG" sz="1500" dirty="0"/>
              <a:t>/час, съответно за опис от 6 месеца до 1 година е 6$/час, а за опит под 6 месеца е 2.5$/час. Салонът е организиран в три секции – в първата секция са разположени маси за малки компании (до 4 човека), във втората секция – маси за средни по големина компании (до 8 човека), а в третата секция масите са за големи компании (над 8 човека). След анализ на данни от предходни сезони вие установявате, че на час средно са били обслужвани по 40 малки, 30 средни и 25 големи маси. През следващия сезон не се очакват промени. Според оценката на двамата помощник-мениджъри, сервитьор с опит над 1 година успява да обслужи една малка маса за сумарно време от 5 минути, една средна маса – за 6 минути, а една голяма маса – за 7.5 минути. Аналогичните данни за сервитьор с опит между 6 месеца и 1 година са 7.5, 10 и 15 минути. Сервитьори с опит по-малък от 6 месеца обслужват само малки и средни маси, като съответното време е 15 минути за малка маса и 30 минути за средна маса. </a:t>
            </a:r>
          </a:p>
          <a:p>
            <a:r>
              <a:rPr lang="bg-BG" sz="1500" dirty="0"/>
              <a:t>Вашата задача е да минимизирате разходите за възнаграждения, изплатени на сервитьорите, при условие, че ресторантът винаги трябва да разполага с достатъчно на брой служители, които да обслужват заетите маси.</a:t>
            </a:r>
            <a:endParaRPr lang="en-US" sz="15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B58ED58-0E1C-4960-BEBE-EC1B7E203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60" y="38985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bg-BG" sz="3600" dirty="0">
                <a:cs typeface="Varela Round" panose="020B0604020202020204" charset="-79"/>
              </a:rPr>
              <a:t>Казус</a:t>
            </a:r>
            <a:endParaRPr lang="en-US" sz="3600" dirty="0"/>
          </a:p>
        </p:txBody>
      </p:sp>
      <p:pic>
        <p:nvPicPr>
          <p:cNvPr id="2" name="Picture 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3F119F8-A952-4347-BF26-D872A497B5A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49" y="5649747"/>
            <a:ext cx="865505" cy="10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316993"/>
      </p:ext>
    </p:extLst>
  </p:cSld>
  <p:clrMapOvr>
    <a:masterClrMapping/>
  </p:clrMapOvr>
</p:sld>
</file>

<file path=ppt/theme/theme1.xml><?xml version="1.0" encoding="utf-8"?>
<a:theme xmlns:a="http://schemas.openxmlformats.org/drawingml/2006/main" name="Trincul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8503</TotalTime>
  <Words>317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Varela Round</vt:lpstr>
      <vt:lpstr>Arial</vt:lpstr>
      <vt:lpstr>Shadows Into Light</vt:lpstr>
      <vt:lpstr>Trinculo template</vt:lpstr>
      <vt:lpstr>Казус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Съставяне на математически модели</dc:title>
  <dc:creator>FEBA</dc:creator>
  <cp:lastModifiedBy>Gloria Hristova</cp:lastModifiedBy>
  <cp:revision>203</cp:revision>
  <dcterms:modified xsi:type="dcterms:W3CDTF">2023-03-22T09:16:00Z</dcterms:modified>
</cp:coreProperties>
</file>